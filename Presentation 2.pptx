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notesMasterIdLst>
    <p:notesMasterId r:id="rId18"/>
  </p:notesMasterIdLst>
  <p:sldIdLst>
    <p:sldId id="256" r:id="rId2"/>
    <p:sldId id="257" r:id="rId3"/>
    <p:sldId id="271" r:id="rId4"/>
    <p:sldId id="272" r:id="rId5"/>
    <p:sldId id="273" r:id="rId6"/>
    <p:sldId id="260" r:id="rId7"/>
    <p:sldId id="274" r:id="rId8"/>
    <p:sldId id="262" r:id="rId9"/>
    <p:sldId id="275" r:id="rId10"/>
    <p:sldId id="265" r:id="rId11"/>
    <p:sldId id="266" r:id="rId12"/>
    <p:sldId id="276" r:id="rId13"/>
    <p:sldId id="267" r:id="rId14"/>
    <p:sldId id="277" r:id="rId15"/>
    <p:sldId id="278"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3D79E98-A313-43B5-A94D-569034D2ED48}">
          <p14:sldIdLst>
            <p14:sldId id="256"/>
            <p14:sldId id="257"/>
            <p14:sldId id="271"/>
            <p14:sldId id="272"/>
            <p14:sldId id="273"/>
            <p14:sldId id="260"/>
            <p14:sldId id="274"/>
            <p14:sldId id="262"/>
            <p14:sldId id="275"/>
            <p14:sldId id="265"/>
            <p14:sldId id="266"/>
            <p14:sldId id="276"/>
            <p14:sldId id="267"/>
            <p14:sldId id="277"/>
            <p14:sldId id="278"/>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F60B6D-CF21-0D57-954B-5CDC285CEE73}" v="60" dt="2026-04-30T20:18:40.296"/>
    <p1510:client id="{B3AE6882-811B-4231-B242-23E9710F87FF}" v="17" dt="2026-05-01T16:55:35.4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3729" autoAdjust="0"/>
  </p:normalViewPr>
  <p:slideViewPr>
    <p:cSldViewPr snapToGrid="0">
      <p:cViewPr>
        <p:scale>
          <a:sx n="46" d="100"/>
          <a:sy n="46" d="100"/>
        </p:scale>
        <p:origin x="2069"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Mahi" userId="9e090592-0176-4fa1-babd-33ca2ddb72f9" providerId="ADAL" clId="{175FE9C2-17E3-47C7-B1FA-65265963A951}"/>
    <pc:docChg chg="custSel modSld">
      <pc:chgData name="Patel, Mahi" userId="9e090592-0176-4fa1-babd-33ca2ddb72f9" providerId="ADAL" clId="{175FE9C2-17E3-47C7-B1FA-65265963A951}" dt="2026-05-01T17:09:25.018" v="3368" actId="20577"/>
      <pc:docMkLst>
        <pc:docMk/>
      </pc:docMkLst>
      <pc:sldChg chg="modSp modNotesTx">
        <pc:chgData name="Patel, Mahi" userId="9e090592-0176-4fa1-babd-33ca2ddb72f9" providerId="ADAL" clId="{175FE9C2-17E3-47C7-B1FA-65265963A951}" dt="2026-05-01T16:55:08.426" v="3367" actId="1076"/>
        <pc:sldMkLst>
          <pc:docMk/>
          <pc:sldMk cId="1644989140" sldId="256"/>
        </pc:sldMkLst>
        <pc:picChg chg="mod">
          <ac:chgData name="Patel, Mahi" userId="9e090592-0176-4fa1-babd-33ca2ddb72f9" providerId="ADAL" clId="{175FE9C2-17E3-47C7-B1FA-65265963A951}" dt="2026-05-01T16:55:08.426" v="3367" actId="1076"/>
          <ac:picMkLst>
            <pc:docMk/>
            <pc:sldMk cId="1644989140" sldId="256"/>
            <ac:picMk id="3074" creationId="{9E7E6F33-0023-239C-3BF8-015286EE9677}"/>
          </ac:picMkLst>
        </pc:picChg>
      </pc:sldChg>
      <pc:sldChg chg="modNotesTx">
        <pc:chgData name="Patel, Mahi" userId="9e090592-0176-4fa1-babd-33ca2ddb72f9" providerId="ADAL" clId="{175FE9C2-17E3-47C7-B1FA-65265963A951}" dt="2026-05-01T15:22:20.271" v="3074" actId="20577"/>
        <pc:sldMkLst>
          <pc:docMk/>
          <pc:sldMk cId="1189950467" sldId="257"/>
        </pc:sldMkLst>
      </pc:sldChg>
      <pc:sldChg chg="modSp mod modNotesTx">
        <pc:chgData name="Patel, Mahi" userId="9e090592-0176-4fa1-babd-33ca2ddb72f9" providerId="ADAL" clId="{175FE9C2-17E3-47C7-B1FA-65265963A951}" dt="2026-05-01T14:31:01.422" v="2525" actId="207"/>
        <pc:sldMkLst>
          <pc:docMk/>
          <pc:sldMk cId="3797426104" sldId="260"/>
        </pc:sldMkLst>
        <pc:spChg chg="mod">
          <ac:chgData name="Patel, Mahi" userId="9e090592-0176-4fa1-babd-33ca2ddb72f9" providerId="ADAL" clId="{175FE9C2-17E3-47C7-B1FA-65265963A951}" dt="2026-05-01T14:31:01.422" v="2525" actId="207"/>
          <ac:spMkLst>
            <pc:docMk/>
            <pc:sldMk cId="3797426104" sldId="260"/>
            <ac:spMk id="3" creationId="{D9BFA52F-4BD3-3FF2-C498-C6BBEB63FF15}"/>
          </ac:spMkLst>
        </pc:spChg>
      </pc:sldChg>
      <pc:sldChg chg="modNotesTx">
        <pc:chgData name="Patel, Mahi" userId="9e090592-0176-4fa1-babd-33ca2ddb72f9" providerId="ADAL" clId="{175FE9C2-17E3-47C7-B1FA-65265963A951}" dt="2026-05-01T14:26:39.053" v="2434" actId="20577"/>
        <pc:sldMkLst>
          <pc:docMk/>
          <pc:sldMk cId="2658482750" sldId="262"/>
        </pc:sldMkLst>
      </pc:sldChg>
      <pc:sldChg chg="modNotesTx">
        <pc:chgData name="Patel, Mahi" userId="9e090592-0176-4fa1-babd-33ca2ddb72f9" providerId="ADAL" clId="{175FE9C2-17E3-47C7-B1FA-65265963A951}" dt="2026-05-01T14:27:43.837" v="2470" actId="20577"/>
        <pc:sldMkLst>
          <pc:docMk/>
          <pc:sldMk cId="3993384937" sldId="265"/>
        </pc:sldMkLst>
      </pc:sldChg>
      <pc:sldChg chg="modNotesTx">
        <pc:chgData name="Patel, Mahi" userId="9e090592-0176-4fa1-babd-33ca2ddb72f9" providerId="ADAL" clId="{175FE9C2-17E3-47C7-B1FA-65265963A951}" dt="2026-05-01T14:28:02.560" v="2481" actId="20577"/>
        <pc:sldMkLst>
          <pc:docMk/>
          <pc:sldMk cId="3869676931" sldId="266"/>
        </pc:sldMkLst>
      </pc:sldChg>
      <pc:sldChg chg="modSp mod modNotesTx">
        <pc:chgData name="Patel, Mahi" userId="9e090592-0176-4fa1-babd-33ca2ddb72f9" providerId="ADAL" clId="{175FE9C2-17E3-47C7-B1FA-65265963A951}" dt="2026-05-01T14:32:16.136" v="2532" actId="1076"/>
        <pc:sldMkLst>
          <pc:docMk/>
          <pc:sldMk cId="882749445" sldId="267"/>
        </pc:sldMkLst>
        <pc:spChg chg="mod">
          <ac:chgData name="Patel, Mahi" userId="9e090592-0176-4fa1-babd-33ca2ddb72f9" providerId="ADAL" clId="{175FE9C2-17E3-47C7-B1FA-65265963A951}" dt="2026-05-01T14:32:05.830" v="2529" actId="1076"/>
          <ac:spMkLst>
            <pc:docMk/>
            <pc:sldMk cId="882749445" sldId="267"/>
            <ac:spMk id="3" creationId="{CB3F5796-C567-9003-B96D-4EA21B16D8E1}"/>
          </ac:spMkLst>
        </pc:spChg>
        <pc:spChg chg="mod">
          <ac:chgData name="Patel, Mahi" userId="9e090592-0176-4fa1-babd-33ca2ddb72f9" providerId="ADAL" clId="{175FE9C2-17E3-47C7-B1FA-65265963A951}" dt="2026-05-01T14:32:10.201" v="2530" actId="1076"/>
          <ac:spMkLst>
            <pc:docMk/>
            <pc:sldMk cId="882749445" sldId="267"/>
            <ac:spMk id="4" creationId="{92841CCB-B681-FDEB-52AE-E1BF70B39302}"/>
          </ac:spMkLst>
        </pc:spChg>
        <pc:picChg chg="mod">
          <ac:chgData name="Patel, Mahi" userId="9e090592-0176-4fa1-babd-33ca2ddb72f9" providerId="ADAL" clId="{175FE9C2-17E3-47C7-B1FA-65265963A951}" dt="2026-05-01T14:32:16.136" v="2532" actId="1076"/>
          <ac:picMkLst>
            <pc:docMk/>
            <pc:sldMk cId="882749445" sldId="267"/>
            <ac:picMk id="8" creationId="{14DE051F-E110-3DB3-F4AF-CC00BDC0A470}"/>
          </ac:picMkLst>
        </pc:picChg>
      </pc:sldChg>
      <pc:sldChg chg="modNotesTx">
        <pc:chgData name="Patel, Mahi" userId="9e090592-0176-4fa1-babd-33ca2ddb72f9" providerId="ADAL" clId="{175FE9C2-17E3-47C7-B1FA-65265963A951}" dt="2026-05-01T15:19:24.547" v="2995" actId="20577"/>
        <pc:sldMkLst>
          <pc:docMk/>
          <pc:sldMk cId="3487327582" sldId="271"/>
        </pc:sldMkLst>
      </pc:sldChg>
      <pc:sldChg chg="modSp mod modNotesTx">
        <pc:chgData name="Patel, Mahi" userId="9e090592-0176-4fa1-babd-33ca2ddb72f9" providerId="ADAL" clId="{175FE9C2-17E3-47C7-B1FA-65265963A951}" dt="2026-05-01T16:03:26.903" v="3365" actId="5793"/>
        <pc:sldMkLst>
          <pc:docMk/>
          <pc:sldMk cId="2282779003" sldId="272"/>
        </pc:sldMkLst>
        <pc:graphicFrameChg chg="modGraphic">
          <ac:chgData name="Patel, Mahi" userId="9e090592-0176-4fa1-babd-33ca2ddb72f9" providerId="ADAL" clId="{175FE9C2-17E3-47C7-B1FA-65265963A951}" dt="2026-05-01T14:30:13.259" v="2524" actId="20577"/>
          <ac:graphicFrameMkLst>
            <pc:docMk/>
            <pc:sldMk cId="2282779003" sldId="272"/>
            <ac:graphicFrameMk id="5" creationId="{D09C915D-715C-05FF-3CFC-43EB14F778BA}"/>
          </ac:graphicFrameMkLst>
        </pc:graphicFrameChg>
      </pc:sldChg>
      <pc:sldChg chg="modNotesTx">
        <pc:chgData name="Patel, Mahi" userId="9e090592-0176-4fa1-babd-33ca2ddb72f9" providerId="ADAL" clId="{175FE9C2-17E3-47C7-B1FA-65265963A951}" dt="2026-05-01T14:20:03.287" v="2393" actId="20577"/>
        <pc:sldMkLst>
          <pc:docMk/>
          <pc:sldMk cId="2207820393" sldId="273"/>
        </pc:sldMkLst>
      </pc:sldChg>
      <pc:sldChg chg="modNotesTx">
        <pc:chgData name="Patel, Mahi" userId="9e090592-0176-4fa1-babd-33ca2ddb72f9" providerId="ADAL" clId="{175FE9C2-17E3-47C7-B1FA-65265963A951}" dt="2026-05-01T17:09:25.018" v="3368" actId="20577"/>
        <pc:sldMkLst>
          <pc:docMk/>
          <pc:sldMk cId="2526664624" sldId="274"/>
        </pc:sldMkLst>
      </pc:sldChg>
      <pc:sldChg chg="modNotesTx">
        <pc:chgData name="Patel, Mahi" userId="9e090592-0176-4fa1-babd-33ca2ddb72f9" providerId="ADAL" clId="{175FE9C2-17E3-47C7-B1FA-65265963A951}" dt="2026-05-01T14:27:14.072" v="2447" actId="20577"/>
        <pc:sldMkLst>
          <pc:docMk/>
          <pc:sldMk cId="3528842223" sldId="275"/>
        </pc:sldMkLst>
      </pc:sldChg>
      <pc:sldChg chg="modNotesTx">
        <pc:chgData name="Patel, Mahi" userId="9e090592-0176-4fa1-babd-33ca2ddb72f9" providerId="ADAL" clId="{175FE9C2-17E3-47C7-B1FA-65265963A951}" dt="2026-05-01T14:28:21.458" v="2492" actId="20577"/>
        <pc:sldMkLst>
          <pc:docMk/>
          <pc:sldMk cId="1051084548" sldId="276"/>
        </pc:sldMkLst>
      </pc:sldChg>
      <pc:sldChg chg="modNotesTx">
        <pc:chgData name="Patel, Mahi" userId="9e090592-0176-4fa1-babd-33ca2ddb72f9" providerId="ADAL" clId="{175FE9C2-17E3-47C7-B1FA-65265963A951}" dt="2026-05-01T14:28:51.169" v="2512" actId="20577"/>
        <pc:sldMkLst>
          <pc:docMk/>
          <pc:sldMk cId="1358158804" sldId="277"/>
        </pc:sldMkLst>
      </pc:sldChg>
      <pc:sldChg chg="modNotesTx">
        <pc:chgData name="Patel, Mahi" userId="9e090592-0176-4fa1-babd-33ca2ddb72f9" providerId="ADAL" clId="{175FE9C2-17E3-47C7-B1FA-65265963A951}" dt="2026-05-01T14:29:11.571" v="2523" actId="20577"/>
        <pc:sldMkLst>
          <pc:docMk/>
          <pc:sldMk cId="3179648118" sldId="27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ata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44358B-341B-41BB-8C2E-80EAB597CA13}"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9EAE365-6799-4BED-98DF-50C66B95A850}">
      <dgm:prSet/>
      <dgm:spPr/>
      <dgm:t>
        <a:bodyPr/>
        <a:lstStyle/>
        <a:p>
          <a:pPr>
            <a:defRPr b="1"/>
          </a:pPr>
          <a:r>
            <a:rPr lang="en-US" b="1"/>
            <a:t>Main Question :</a:t>
          </a:r>
          <a:endParaRPr lang="en-US"/>
        </a:p>
      </dgm:t>
    </dgm:pt>
    <dgm:pt modelId="{F5E5A3F0-17E5-4D3E-906D-CE4494C01144}" type="parTrans" cxnId="{D3B05AF6-92B3-4875-BB6F-02054F911147}">
      <dgm:prSet/>
      <dgm:spPr/>
      <dgm:t>
        <a:bodyPr/>
        <a:lstStyle/>
        <a:p>
          <a:endParaRPr lang="en-US"/>
        </a:p>
      </dgm:t>
    </dgm:pt>
    <dgm:pt modelId="{FA9C342C-10E4-4D1D-9A9F-6C5BECAE151D}" type="sibTrans" cxnId="{D3B05AF6-92B3-4875-BB6F-02054F911147}">
      <dgm:prSet/>
      <dgm:spPr/>
      <dgm:t>
        <a:bodyPr/>
        <a:lstStyle/>
        <a:p>
          <a:endParaRPr lang="en-US"/>
        </a:p>
      </dgm:t>
    </dgm:pt>
    <dgm:pt modelId="{B3CB37A6-87F6-46A2-A1E4-980B94A6A867}">
      <dgm:prSet custT="1"/>
      <dgm:spPr/>
      <dgm:t>
        <a:bodyPr/>
        <a:lstStyle/>
        <a:p>
          <a:r>
            <a:rPr lang="en-US" sz="1600" dirty="0"/>
            <a:t>Which weather variables are the best predictors of Zone 1 power consumption in </a:t>
          </a:r>
          <a:r>
            <a:rPr lang="en-US" sz="1600" dirty="0" err="1"/>
            <a:t>Tetouan</a:t>
          </a:r>
          <a:r>
            <a:rPr lang="en-US" sz="1600" dirty="0"/>
            <a:t> City?</a:t>
          </a:r>
        </a:p>
      </dgm:t>
    </dgm:pt>
    <dgm:pt modelId="{5D63F3E4-86D0-4118-8182-F44928717847}" type="parTrans" cxnId="{C898C8D5-0CD8-4882-989C-09A08DB708B4}">
      <dgm:prSet/>
      <dgm:spPr/>
      <dgm:t>
        <a:bodyPr/>
        <a:lstStyle/>
        <a:p>
          <a:endParaRPr lang="en-US"/>
        </a:p>
      </dgm:t>
    </dgm:pt>
    <dgm:pt modelId="{F1F1FB5A-6B8A-4CE3-B1C9-3DA652302B76}" type="sibTrans" cxnId="{C898C8D5-0CD8-4882-989C-09A08DB708B4}">
      <dgm:prSet/>
      <dgm:spPr/>
      <dgm:t>
        <a:bodyPr/>
        <a:lstStyle/>
        <a:p>
          <a:endParaRPr lang="en-US"/>
        </a:p>
      </dgm:t>
    </dgm:pt>
    <dgm:pt modelId="{AA1FCC76-728B-4B48-B6CA-FE214167F00F}">
      <dgm:prSet/>
      <dgm:spPr/>
      <dgm:t>
        <a:bodyPr/>
        <a:lstStyle/>
        <a:p>
          <a:pPr>
            <a:defRPr b="1"/>
          </a:pPr>
          <a:r>
            <a:rPr lang="en-US" b="1"/>
            <a:t>Predictor Variables Studied : </a:t>
          </a:r>
          <a:endParaRPr lang="en-US"/>
        </a:p>
      </dgm:t>
    </dgm:pt>
    <dgm:pt modelId="{2551BE1F-A68B-4AA4-B9C7-F17B0F18D375}" type="parTrans" cxnId="{AAE96FD8-7607-40FA-AC39-56DC3A494CC5}">
      <dgm:prSet/>
      <dgm:spPr/>
      <dgm:t>
        <a:bodyPr/>
        <a:lstStyle/>
        <a:p>
          <a:endParaRPr lang="en-US"/>
        </a:p>
      </dgm:t>
    </dgm:pt>
    <dgm:pt modelId="{10D8222B-EA19-4D43-B5D4-09551789C861}" type="sibTrans" cxnId="{AAE96FD8-7607-40FA-AC39-56DC3A494CC5}">
      <dgm:prSet/>
      <dgm:spPr/>
      <dgm:t>
        <a:bodyPr/>
        <a:lstStyle/>
        <a:p>
          <a:endParaRPr lang="en-US"/>
        </a:p>
      </dgm:t>
    </dgm:pt>
    <dgm:pt modelId="{38744E3F-AD9D-443C-8799-B07C88B16955}">
      <dgm:prSet custT="1"/>
      <dgm:spPr/>
      <dgm:t>
        <a:bodyPr/>
        <a:lstStyle/>
        <a:p>
          <a:r>
            <a:rPr lang="en-US" sz="1600" b="0" dirty="0"/>
            <a:t>Temperature </a:t>
          </a:r>
        </a:p>
      </dgm:t>
    </dgm:pt>
    <dgm:pt modelId="{3C60053E-186A-43EA-A625-D2E17949C1FD}" type="parTrans" cxnId="{62020078-77F9-4977-91BE-CB7CACA73687}">
      <dgm:prSet/>
      <dgm:spPr/>
      <dgm:t>
        <a:bodyPr/>
        <a:lstStyle/>
        <a:p>
          <a:endParaRPr lang="en-US"/>
        </a:p>
      </dgm:t>
    </dgm:pt>
    <dgm:pt modelId="{06399935-EF72-494A-A6A4-3925B1BDB294}" type="sibTrans" cxnId="{62020078-77F9-4977-91BE-CB7CACA73687}">
      <dgm:prSet/>
      <dgm:spPr/>
      <dgm:t>
        <a:bodyPr/>
        <a:lstStyle/>
        <a:p>
          <a:endParaRPr lang="en-US"/>
        </a:p>
      </dgm:t>
    </dgm:pt>
    <dgm:pt modelId="{C7ED1854-FCD0-4E81-A492-C16616D9BD22}">
      <dgm:prSet custT="1"/>
      <dgm:spPr/>
      <dgm:t>
        <a:bodyPr/>
        <a:lstStyle/>
        <a:p>
          <a:r>
            <a:rPr lang="en-US" sz="1600" b="0"/>
            <a:t>Humidity </a:t>
          </a:r>
        </a:p>
      </dgm:t>
    </dgm:pt>
    <dgm:pt modelId="{0698BE7C-C1AC-4CFF-BF10-2B90CF74816F}" type="parTrans" cxnId="{F9A3871A-89F0-4CB7-B950-88BA8C97179C}">
      <dgm:prSet/>
      <dgm:spPr/>
      <dgm:t>
        <a:bodyPr/>
        <a:lstStyle/>
        <a:p>
          <a:endParaRPr lang="en-US"/>
        </a:p>
      </dgm:t>
    </dgm:pt>
    <dgm:pt modelId="{43E00B08-7891-4924-86D6-4ED596F45AC1}" type="sibTrans" cxnId="{F9A3871A-89F0-4CB7-B950-88BA8C97179C}">
      <dgm:prSet/>
      <dgm:spPr/>
      <dgm:t>
        <a:bodyPr/>
        <a:lstStyle/>
        <a:p>
          <a:endParaRPr lang="en-US"/>
        </a:p>
      </dgm:t>
    </dgm:pt>
    <dgm:pt modelId="{0B230D8C-98D0-43CA-AF88-73055E748EE9}">
      <dgm:prSet custT="1"/>
      <dgm:spPr/>
      <dgm:t>
        <a:bodyPr/>
        <a:lstStyle/>
        <a:p>
          <a:r>
            <a:rPr lang="en-US" sz="1600" b="0" dirty="0"/>
            <a:t>Windspeed </a:t>
          </a:r>
        </a:p>
      </dgm:t>
    </dgm:pt>
    <dgm:pt modelId="{738E788C-57E0-4A5F-B02D-817D0EFCEEF5}" type="parTrans" cxnId="{EF7BC724-EC96-47F1-9051-70B7D1FB17A0}">
      <dgm:prSet/>
      <dgm:spPr/>
      <dgm:t>
        <a:bodyPr/>
        <a:lstStyle/>
        <a:p>
          <a:endParaRPr lang="en-US"/>
        </a:p>
      </dgm:t>
    </dgm:pt>
    <dgm:pt modelId="{10E21680-5804-4AA7-B035-0A50712AFEAE}" type="sibTrans" cxnId="{EF7BC724-EC96-47F1-9051-70B7D1FB17A0}">
      <dgm:prSet/>
      <dgm:spPr/>
      <dgm:t>
        <a:bodyPr/>
        <a:lstStyle/>
        <a:p>
          <a:endParaRPr lang="en-US"/>
        </a:p>
      </dgm:t>
    </dgm:pt>
    <dgm:pt modelId="{EC5D0F46-6ADD-4440-BBB7-5E84CFB9B3BF}">
      <dgm:prSet custT="1"/>
      <dgm:spPr/>
      <dgm:t>
        <a:bodyPr/>
        <a:lstStyle/>
        <a:p>
          <a:r>
            <a:rPr lang="en-US" sz="1600" b="0" dirty="0"/>
            <a:t>General Diffuse Flows</a:t>
          </a:r>
        </a:p>
      </dgm:t>
    </dgm:pt>
    <dgm:pt modelId="{CB573C35-94C1-450F-9D54-A334AED0F7A5}" type="parTrans" cxnId="{F3E2FED3-864B-4EF4-8E41-CBBB4ABA2601}">
      <dgm:prSet/>
      <dgm:spPr/>
      <dgm:t>
        <a:bodyPr/>
        <a:lstStyle/>
        <a:p>
          <a:endParaRPr lang="en-US"/>
        </a:p>
      </dgm:t>
    </dgm:pt>
    <dgm:pt modelId="{C6D14A73-4581-4DA0-B324-BCFFDDA77841}" type="sibTrans" cxnId="{F3E2FED3-864B-4EF4-8E41-CBBB4ABA2601}">
      <dgm:prSet/>
      <dgm:spPr/>
      <dgm:t>
        <a:bodyPr/>
        <a:lstStyle/>
        <a:p>
          <a:endParaRPr lang="en-US"/>
        </a:p>
      </dgm:t>
    </dgm:pt>
    <dgm:pt modelId="{D1A6BF2A-ECF9-4B07-B3C7-ED9E82A8C3AE}">
      <dgm:prSet/>
      <dgm:spPr/>
      <dgm:t>
        <a:bodyPr/>
        <a:lstStyle/>
        <a:p>
          <a:pPr>
            <a:defRPr b="1"/>
          </a:pPr>
          <a:r>
            <a:rPr lang="en-US" b="1"/>
            <a:t>Response Variable : </a:t>
          </a:r>
          <a:endParaRPr lang="en-US"/>
        </a:p>
      </dgm:t>
    </dgm:pt>
    <dgm:pt modelId="{AF582967-E685-4A7A-AC84-F4A8FA1DC6F7}" type="parTrans" cxnId="{0DDCD4F3-60B5-4F82-8F36-C5BA9FACCEAA}">
      <dgm:prSet/>
      <dgm:spPr/>
      <dgm:t>
        <a:bodyPr/>
        <a:lstStyle/>
        <a:p>
          <a:endParaRPr lang="en-US"/>
        </a:p>
      </dgm:t>
    </dgm:pt>
    <dgm:pt modelId="{CD1F3EA6-7CFF-4C1E-B9DA-C48C0D3CE5F1}" type="sibTrans" cxnId="{0DDCD4F3-60B5-4F82-8F36-C5BA9FACCEAA}">
      <dgm:prSet/>
      <dgm:spPr/>
      <dgm:t>
        <a:bodyPr/>
        <a:lstStyle/>
        <a:p>
          <a:endParaRPr lang="en-US"/>
        </a:p>
      </dgm:t>
    </dgm:pt>
    <dgm:pt modelId="{021715B4-AC25-4BED-9545-25EDF808398B}">
      <dgm:prSet custT="1"/>
      <dgm:spPr/>
      <dgm:t>
        <a:bodyPr/>
        <a:lstStyle/>
        <a:p>
          <a:r>
            <a:rPr lang="en-US" sz="1600" dirty="0"/>
            <a:t>Zone 1 Power Consumption</a:t>
          </a:r>
        </a:p>
      </dgm:t>
    </dgm:pt>
    <dgm:pt modelId="{5138A74B-5815-427B-BAE1-1238EA09F8EF}" type="parTrans" cxnId="{B58E023A-ABC8-4970-A07A-8DECCE4C9D10}">
      <dgm:prSet/>
      <dgm:spPr/>
      <dgm:t>
        <a:bodyPr/>
        <a:lstStyle/>
        <a:p>
          <a:endParaRPr lang="en-US"/>
        </a:p>
      </dgm:t>
    </dgm:pt>
    <dgm:pt modelId="{2EDDFB89-9087-4E7F-A96D-6909291E2323}" type="sibTrans" cxnId="{B58E023A-ABC8-4970-A07A-8DECCE4C9D10}">
      <dgm:prSet/>
      <dgm:spPr/>
      <dgm:t>
        <a:bodyPr/>
        <a:lstStyle/>
        <a:p>
          <a:endParaRPr lang="en-US"/>
        </a:p>
      </dgm:t>
    </dgm:pt>
    <dgm:pt modelId="{4C596044-7364-4E46-89B3-BA073A42A3C8}" type="pres">
      <dgm:prSet presAssocID="{7044358B-341B-41BB-8C2E-80EAB597CA13}" presName="root" presStyleCnt="0">
        <dgm:presLayoutVars>
          <dgm:dir/>
          <dgm:resizeHandles val="exact"/>
        </dgm:presLayoutVars>
      </dgm:prSet>
      <dgm:spPr/>
    </dgm:pt>
    <dgm:pt modelId="{AA847834-3890-49DE-9753-95784C47090C}" type="pres">
      <dgm:prSet presAssocID="{69EAE365-6799-4BED-98DF-50C66B95A850}" presName="compNode" presStyleCnt="0"/>
      <dgm:spPr/>
    </dgm:pt>
    <dgm:pt modelId="{B2115865-7F41-403E-8BBC-EEDE1B71A19C}" type="pres">
      <dgm:prSet presAssocID="{69EAE365-6799-4BED-98DF-50C66B95A85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24D41B32-741A-4D75-A0BA-044459C94502}" type="pres">
      <dgm:prSet presAssocID="{69EAE365-6799-4BED-98DF-50C66B95A850}" presName="iconSpace" presStyleCnt="0"/>
      <dgm:spPr/>
    </dgm:pt>
    <dgm:pt modelId="{909E1710-1657-409F-AE0F-87A5C7F753A0}" type="pres">
      <dgm:prSet presAssocID="{69EAE365-6799-4BED-98DF-50C66B95A850}" presName="parTx" presStyleLbl="revTx" presStyleIdx="0" presStyleCnt="6">
        <dgm:presLayoutVars>
          <dgm:chMax val="0"/>
          <dgm:chPref val="0"/>
        </dgm:presLayoutVars>
      </dgm:prSet>
      <dgm:spPr/>
    </dgm:pt>
    <dgm:pt modelId="{0465CCB7-9228-43D1-BA11-904561F9B2AA}" type="pres">
      <dgm:prSet presAssocID="{69EAE365-6799-4BED-98DF-50C66B95A850}" presName="txSpace" presStyleCnt="0"/>
      <dgm:spPr/>
    </dgm:pt>
    <dgm:pt modelId="{A9A60EBB-D1BE-455E-9CB2-89DCA49C4F0D}" type="pres">
      <dgm:prSet presAssocID="{69EAE365-6799-4BED-98DF-50C66B95A850}" presName="desTx" presStyleLbl="revTx" presStyleIdx="1" presStyleCnt="6">
        <dgm:presLayoutVars/>
      </dgm:prSet>
      <dgm:spPr/>
    </dgm:pt>
    <dgm:pt modelId="{0A6A4611-A160-45D0-B07D-F6D8428149CE}" type="pres">
      <dgm:prSet presAssocID="{FA9C342C-10E4-4D1D-9A9F-6C5BECAE151D}" presName="sibTrans" presStyleCnt="0"/>
      <dgm:spPr/>
    </dgm:pt>
    <dgm:pt modelId="{32A48C3E-6DA5-4570-8950-B222A552DB97}" type="pres">
      <dgm:prSet presAssocID="{AA1FCC76-728B-4B48-B6CA-FE214167F00F}" presName="compNode" presStyleCnt="0"/>
      <dgm:spPr/>
    </dgm:pt>
    <dgm:pt modelId="{E0F35509-814E-4879-97B8-F888F1CE1F59}" type="pres">
      <dgm:prSet presAssocID="{AA1FCC76-728B-4B48-B6CA-FE214167F00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rmometer"/>
        </a:ext>
      </dgm:extLst>
    </dgm:pt>
    <dgm:pt modelId="{97B2F3D7-B435-4A94-808F-DB692634B6CB}" type="pres">
      <dgm:prSet presAssocID="{AA1FCC76-728B-4B48-B6CA-FE214167F00F}" presName="iconSpace" presStyleCnt="0"/>
      <dgm:spPr/>
    </dgm:pt>
    <dgm:pt modelId="{A4E25221-8785-4078-8782-691B6588972B}" type="pres">
      <dgm:prSet presAssocID="{AA1FCC76-728B-4B48-B6CA-FE214167F00F}" presName="parTx" presStyleLbl="revTx" presStyleIdx="2" presStyleCnt="6">
        <dgm:presLayoutVars>
          <dgm:chMax val="0"/>
          <dgm:chPref val="0"/>
        </dgm:presLayoutVars>
      </dgm:prSet>
      <dgm:spPr/>
    </dgm:pt>
    <dgm:pt modelId="{D9B57C62-7792-4F26-93D7-93ED1E38F068}" type="pres">
      <dgm:prSet presAssocID="{AA1FCC76-728B-4B48-B6CA-FE214167F00F}" presName="txSpace" presStyleCnt="0"/>
      <dgm:spPr/>
    </dgm:pt>
    <dgm:pt modelId="{1D338E74-89C2-43E4-B43F-6537763F6A62}" type="pres">
      <dgm:prSet presAssocID="{AA1FCC76-728B-4B48-B6CA-FE214167F00F}" presName="desTx" presStyleLbl="revTx" presStyleIdx="3" presStyleCnt="6">
        <dgm:presLayoutVars/>
      </dgm:prSet>
      <dgm:spPr/>
    </dgm:pt>
    <dgm:pt modelId="{0E349E61-D69C-4193-87F6-39A627FB7AFD}" type="pres">
      <dgm:prSet presAssocID="{10D8222B-EA19-4D43-B5D4-09551789C861}" presName="sibTrans" presStyleCnt="0"/>
      <dgm:spPr/>
    </dgm:pt>
    <dgm:pt modelId="{79A4E0CD-7863-41E9-B32E-490058820A58}" type="pres">
      <dgm:prSet presAssocID="{D1A6BF2A-ECF9-4B07-B3C7-ED9E82A8C3AE}" presName="compNode" presStyleCnt="0"/>
      <dgm:spPr/>
    </dgm:pt>
    <dgm:pt modelId="{18EC1E16-5FC1-4548-9584-840D9A9DCA9B}" type="pres">
      <dgm:prSet presAssocID="{D1A6BF2A-ECF9-4B07-B3C7-ED9E82A8C3A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uge"/>
        </a:ext>
      </dgm:extLst>
    </dgm:pt>
    <dgm:pt modelId="{0DB2BBCC-DB2F-4536-BDA6-D511447C5F21}" type="pres">
      <dgm:prSet presAssocID="{D1A6BF2A-ECF9-4B07-B3C7-ED9E82A8C3AE}" presName="iconSpace" presStyleCnt="0"/>
      <dgm:spPr/>
    </dgm:pt>
    <dgm:pt modelId="{DE32BA87-FB8B-4DB6-8535-0603065563E4}" type="pres">
      <dgm:prSet presAssocID="{D1A6BF2A-ECF9-4B07-B3C7-ED9E82A8C3AE}" presName="parTx" presStyleLbl="revTx" presStyleIdx="4" presStyleCnt="6">
        <dgm:presLayoutVars>
          <dgm:chMax val="0"/>
          <dgm:chPref val="0"/>
        </dgm:presLayoutVars>
      </dgm:prSet>
      <dgm:spPr/>
    </dgm:pt>
    <dgm:pt modelId="{C5913AB6-3A0C-4EF4-B281-AEB54933FEBA}" type="pres">
      <dgm:prSet presAssocID="{D1A6BF2A-ECF9-4B07-B3C7-ED9E82A8C3AE}" presName="txSpace" presStyleCnt="0"/>
      <dgm:spPr/>
    </dgm:pt>
    <dgm:pt modelId="{2F7F1CDD-995C-4297-9C09-F318B233A5C3}" type="pres">
      <dgm:prSet presAssocID="{D1A6BF2A-ECF9-4B07-B3C7-ED9E82A8C3AE}" presName="desTx" presStyleLbl="revTx" presStyleIdx="5" presStyleCnt="6">
        <dgm:presLayoutVars/>
      </dgm:prSet>
      <dgm:spPr/>
    </dgm:pt>
  </dgm:ptLst>
  <dgm:cxnLst>
    <dgm:cxn modelId="{E7FC6401-2C47-4296-BA9D-B69B824FC93B}" type="presOf" srcId="{C7ED1854-FCD0-4E81-A492-C16616D9BD22}" destId="{1D338E74-89C2-43E4-B43F-6537763F6A62}" srcOrd="0" destOrd="1" presId="urn:microsoft.com/office/officeart/2018/2/layout/IconLabelDescriptionList"/>
    <dgm:cxn modelId="{F9A3871A-89F0-4CB7-B950-88BA8C97179C}" srcId="{AA1FCC76-728B-4B48-B6CA-FE214167F00F}" destId="{C7ED1854-FCD0-4E81-A492-C16616D9BD22}" srcOrd="1" destOrd="0" parTransId="{0698BE7C-C1AC-4CFF-BF10-2B90CF74816F}" sibTransId="{43E00B08-7891-4924-86D6-4ED596F45AC1}"/>
    <dgm:cxn modelId="{EF7BC724-EC96-47F1-9051-70B7D1FB17A0}" srcId="{AA1FCC76-728B-4B48-B6CA-FE214167F00F}" destId="{0B230D8C-98D0-43CA-AF88-73055E748EE9}" srcOrd="2" destOrd="0" parTransId="{738E788C-57E0-4A5F-B02D-817D0EFCEEF5}" sibTransId="{10E21680-5804-4AA7-B035-0A50712AFEAE}"/>
    <dgm:cxn modelId="{B58E023A-ABC8-4970-A07A-8DECCE4C9D10}" srcId="{D1A6BF2A-ECF9-4B07-B3C7-ED9E82A8C3AE}" destId="{021715B4-AC25-4BED-9545-25EDF808398B}" srcOrd="0" destOrd="0" parTransId="{5138A74B-5815-427B-BAE1-1238EA09F8EF}" sibTransId="{2EDDFB89-9087-4E7F-A96D-6909291E2323}"/>
    <dgm:cxn modelId="{AC42123A-914D-47B8-87BA-16F94036C84A}" type="presOf" srcId="{69EAE365-6799-4BED-98DF-50C66B95A850}" destId="{909E1710-1657-409F-AE0F-87A5C7F753A0}" srcOrd="0" destOrd="0" presId="urn:microsoft.com/office/officeart/2018/2/layout/IconLabelDescriptionList"/>
    <dgm:cxn modelId="{11B30542-1F00-4021-90C6-FB6628FB5BCC}" type="presOf" srcId="{021715B4-AC25-4BED-9545-25EDF808398B}" destId="{2F7F1CDD-995C-4297-9C09-F318B233A5C3}" srcOrd="0" destOrd="0" presId="urn:microsoft.com/office/officeart/2018/2/layout/IconLabelDescriptionList"/>
    <dgm:cxn modelId="{022FE366-E4DC-4641-947C-6894B79282A7}" type="presOf" srcId="{38744E3F-AD9D-443C-8799-B07C88B16955}" destId="{1D338E74-89C2-43E4-B43F-6537763F6A62}" srcOrd="0" destOrd="0" presId="urn:microsoft.com/office/officeart/2018/2/layout/IconLabelDescriptionList"/>
    <dgm:cxn modelId="{62020078-77F9-4977-91BE-CB7CACA73687}" srcId="{AA1FCC76-728B-4B48-B6CA-FE214167F00F}" destId="{38744E3F-AD9D-443C-8799-B07C88B16955}" srcOrd="0" destOrd="0" parTransId="{3C60053E-186A-43EA-A625-D2E17949C1FD}" sibTransId="{06399935-EF72-494A-A6A4-3925B1BDB294}"/>
    <dgm:cxn modelId="{47B51D7A-9044-462B-8A35-7E7064E7A105}" type="presOf" srcId="{7044358B-341B-41BB-8C2E-80EAB597CA13}" destId="{4C596044-7364-4E46-89B3-BA073A42A3C8}" srcOrd="0" destOrd="0" presId="urn:microsoft.com/office/officeart/2018/2/layout/IconLabelDescriptionList"/>
    <dgm:cxn modelId="{04CEC57B-3874-40DC-B9FE-0CD31672C818}" type="presOf" srcId="{0B230D8C-98D0-43CA-AF88-73055E748EE9}" destId="{1D338E74-89C2-43E4-B43F-6537763F6A62}" srcOrd="0" destOrd="2" presId="urn:microsoft.com/office/officeart/2018/2/layout/IconLabelDescriptionList"/>
    <dgm:cxn modelId="{8E3D1092-003C-416E-B714-7C933B08C56A}" type="presOf" srcId="{EC5D0F46-6ADD-4440-BBB7-5E84CFB9B3BF}" destId="{1D338E74-89C2-43E4-B43F-6537763F6A62}" srcOrd="0" destOrd="3" presId="urn:microsoft.com/office/officeart/2018/2/layout/IconLabelDescriptionList"/>
    <dgm:cxn modelId="{5319CDCB-9BF3-4084-98CA-85A39EC3BEED}" type="presOf" srcId="{B3CB37A6-87F6-46A2-A1E4-980B94A6A867}" destId="{A9A60EBB-D1BE-455E-9CB2-89DCA49C4F0D}" srcOrd="0" destOrd="0" presId="urn:microsoft.com/office/officeart/2018/2/layout/IconLabelDescriptionList"/>
    <dgm:cxn modelId="{F3E2FED3-864B-4EF4-8E41-CBBB4ABA2601}" srcId="{AA1FCC76-728B-4B48-B6CA-FE214167F00F}" destId="{EC5D0F46-6ADD-4440-BBB7-5E84CFB9B3BF}" srcOrd="3" destOrd="0" parTransId="{CB573C35-94C1-450F-9D54-A334AED0F7A5}" sibTransId="{C6D14A73-4581-4DA0-B324-BCFFDDA77841}"/>
    <dgm:cxn modelId="{C898C8D5-0CD8-4882-989C-09A08DB708B4}" srcId="{69EAE365-6799-4BED-98DF-50C66B95A850}" destId="{B3CB37A6-87F6-46A2-A1E4-980B94A6A867}" srcOrd="0" destOrd="0" parTransId="{5D63F3E4-86D0-4118-8182-F44928717847}" sibTransId="{F1F1FB5A-6B8A-4CE3-B1C9-3DA652302B76}"/>
    <dgm:cxn modelId="{AAE96FD8-7607-40FA-AC39-56DC3A494CC5}" srcId="{7044358B-341B-41BB-8C2E-80EAB597CA13}" destId="{AA1FCC76-728B-4B48-B6CA-FE214167F00F}" srcOrd="1" destOrd="0" parTransId="{2551BE1F-A68B-4AA4-B9C7-F17B0F18D375}" sibTransId="{10D8222B-EA19-4D43-B5D4-09551789C861}"/>
    <dgm:cxn modelId="{EEBCB8E0-6B40-48B5-B16F-4E15B9EA8853}" type="presOf" srcId="{AA1FCC76-728B-4B48-B6CA-FE214167F00F}" destId="{A4E25221-8785-4078-8782-691B6588972B}" srcOrd="0" destOrd="0" presId="urn:microsoft.com/office/officeart/2018/2/layout/IconLabelDescriptionList"/>
    <dgm:cxn modelId="{0DDCD4F3-60B5-4F82-8F36-C5BA9FACCEAA}" srcId="{7044358B-341B-41BB-8C2E-80EAB597CA13}" destId="{D1A6BF2A-ECF9-4B07-B3C7-ED9E82A8C3AE}" srcOrd="2" destOrd="0" parTransId="{AF582967-E685-4A7A-AC84-F4A8FA1DC6F7}" sibTransId="{CD1F3EA6-7CFF-4C1E-B9DA-C48C0D3CE5F1}"/>
    <dgm:cxn modelId="{D3B05AF6-92B3-4875-BB6F-02054F911147}" srcId="{7044358B-341B-41BB-8C2E-80EAB597CA13}" destId="{69EAE365-6799-4BED-98DF-50C66B95A850}" srcOrd="0" destOrd="0" parTransId="{F5E5A3F0-17E5-4D3E-906D-CE4494C01144}" sibTransId="{FA9C342C-10E4-4D1D-9A9F-6C5BECAE151D}"/>
    <dgm:cxn modelId="{3014A3FB-4F1C-4369-AD9B-87310D50F854}" type="presOf" srcId="{D1A6BF2A-ECF9-4B07-B3C7-ED9E82A8C3AE}" destId="{DE32BA87-FB8B-4DB6-8535-0603065563E4}" srcOrd="0" destOrd="0" presId="urn:microsoft.com/office/officeart/2018/2/layout/IconLabelDescriptionList"/>
    <dgm:cxn modelId="{55B9C824-DD86-4974-95B5-C630537C36D3}" type="presParOf" srcId="{4C596044-7364-4E46-89B3-BA073A42A3C8}" destId="{AA847834-3890-49DE-9753-95784C47090C}" srcOrd="0" destOrd="0" presId="urn:microsoft.com/office/officeart/2018/2/layout/IconLabelDescriptionList"/>
    <dgm:cxn modelId="{0E09A487-2729-4683-90B9-A2865BB3398D}" type="presParOf" srcId="{AA847834-3890-49DE-9753-95784C47090C}" destId="{B2115865-7F41-403E-8BBC-EEDE1B71A19C}" srcOrd="0" destOrd="0" presId="urn:microsoft.com/office/officeart/2018/2/layout/IconLabelDescriptionList"/>
    <dgm:cxn modelId="{7EBE2C25-5393-446A-B0A2-37C63A4D8C56}" type="presParOf" srcId="{AA847834-3890-49DE-9753-95784C47090C}" destId="{24D41B32-741A-4D75-A0BA-044459C94502}" srcOrd="1" destOrd="0" presId="urn:microsoft.com/office/officeart/2018/2/layout/IconLabelDescriptionList"/>
    <dgm:cxn modelId="{E3D52EF2-9053-4AD5-B473-1C6B76A8A2D9}" type="presParOf" srcId="{AA847834-3890-49DE-9753-95784C47090C}" destId="{909E1710-1657-409F-AE0F-87A5C7F753A0}" srcOrd="2" destOrd="0" presId="urn:microsoft.com/office/officeart/2018/2/layout/IconLabelDescriptionList"/>
    <dgm:cxn modelId="{29457EC6-8020-45A5-B578-ABF52892B47A}" type="presParOf" srcId="{AA847834-3890-49DE-9753-95784C47090C}" destId="{0465CCB7-9228-43D1-BA11-904561F9B2AA}" srcOrd="3" destOrd="0" presId="urn:microsoft.com/office/officeart/2018/2/layout/IconLabelDescriptionList"/>
    <dgm:cxn modelId="{23BE09F6-E4C1-4513-95BD-24D4D7097095}" type="presParOf" srcId="{AA847834-3890-49DE-9753-95784C47090C}" destId="{A9A60EBB-D1BE-455E-9CB2-89DCA49C4F0D}" srcOrd="4" destOrd="0" presId="urn:microsoft.com/office/officeart/2018/2/layout/IconLabelDescriptionList"/>
    <dgm:cxn modelId="{930D1FD5-5097-4EAF-8205-2470BA7138DF}" type="presParOf" srcId="{4C596044-7364-4E46-89B3-BA073A42A3C8}" destId="{0A6A4611-A160-45D0-B07D-F6D8428149CE}" srcOrd="1" destOrd="0" presId="urn:microsoft.com/office/officeart/2018/2/layout/IconLabelDescriptionList"/>
    <dgm:cxn modelId="{6672B291-5CA8-4648-BE69-59F8BEED1F3E}" type="presParOf" srcId="{4C596044-7364-4E46-89B3-BA073A42A3C8}" destId="{32A48C3E-6DA5-4570-8950-B222A552DB97}" srcOrd="2" destOrd="0" presId="urn:microsoft.com/office/officeart/2018/2/layout/IconLabelDescriptionList"/>
    <dgm:cxn modelId="{F2D45CA7-71AA-4AE0-9CA6-1696FF1A15DA}" type="presParOf" srcId="{32A48C3E-6DA5-4570-8950-B222A552DB97}" destId="{E0F35509-814E-4879-97B8-F888F1CE1F59}" srcOrd="0" destOrd="0" presId="urn:microsoft.com/office/officeart/2018/2/layout/IconLabelDescriptionList"/>
    <dgm:cxn modelId="{22F6EBC5-61CE-499C-9E85-19A8CE8D00F8}" type="presParOf" srcId="{32A48C3E-6DA5-4570-8950-B222A552DB97}" destId="{97B2F3D7-B435-4A94-808F-DB692634B6CB}" srcOrd="1" destOrd="0" presId="urn:microsoft.com/office/officeart/2018/2/layout/IconLabelDescriptionList"/>
    <dgm:cxn modelId="{D8AD0012-41E1-49CD-8724-9EFAF2443529}" type="presParOf" srcId="{32A48C3E-6DA5-4570-8950-B222A552DB97}" destId="{A4E25221-8785-4078-8782-691B6588972B}" srcOrd="2" destOrd="0" presId="urn:microsoft.com/office/officeart/2018/2/layout/IconLabelDescriptionList"/>
    <dgm:cxn modelId="{347FD8D3-38BD-4CE9-99CE-AC1BF72E1C35}" type="presParOf" srcId="{32A48C3E-6DA5-4570-8950-B222A552DB97}" destId="{D9B57C62-7792-4F26-93D7-93ED1E38F068}" srcOrd="3" destOrd="0" presId="urn:microsoft.com/office/officeart/2018/2/layout/IconLabelDescriptionList"/>
    <dgm:cxn modelId="{EA2E91B4-77AB-4898-8921-E4BEBCE2CA14}" type="presParOf" srcId="{32A48C3E-6DA5-4570-8950-B222A552DB97}" destId="{1D338E74-89C2-43E4-B43F-6537763F6A62}" srcOrd="4" destOrd="0" presId="urn:microsoft.com/office/officeart/2018/2/layout/IconLabelDescriptionList"/>
    <dgm:cxn modelId="{C8313917-535D-44FC-BAAE-5B55F5948350}" type="presParOf" srcId="{4C596044-7364-4E46-89B3-BA073A42A3C8}" destId="{0E349E61-D69C-4193-87F6-39A627FB7AFD}" srcOrd="3" destOrd="0" presId="urn:microsoft.com/office/officeart/2018/2/layout/IconLabelDescriptionList"/>
    <dgm:cxn modelId="{9B274EF4-D840-48E1-9899-41E2349C2F71}" type="presParOf" srcId="{4C596044-7364-4E46-89B3-BA073A42A3C8}" destId="{79A4E0CD-7863-41E9-B32E-490058820A58}" srcOrd="4" destOrd="0" presId="urn:microsoft.com/office/officeart/2018/2/layout/IconLabelDescriptionList"/>
    <dgm:cxn modelId="{1FEA2D8A-D3A3-4EC5-A6C8-23C1A1E8AF52}" type="presParOf" srcId="{79A4E0CD-7863-41E9-B32E-490058820A58}" destId="{18EC1E16-5FC1-4548-9584-840D9A9DCA9B}" srcOrd="0" destOrd="0" presId="urn:microsoft.com/office/officeart/2018/2/layout/IconLabelDescriptionList"/>
    <dgm:cxn modelId="{D10A07BE-480F-4C90-BFD1-0F55C8E378F8}" type="presParOf" srcId="{79A4E0CD-7863-41E9-B32E-490058820A58}" destId="{0DB2BBCC-DB2F-4536-BDA6-D511447C5F21}" srcOrd="1" destOrd="0" presId="urn:microsoft.com/office/officeart/2018/2/layout/IconLabelDescriptionList"/>
    <dgm:cxn modelId="{466AC1B2-EA82-470F-B654-9CA61417BB69}" type="presParOf" srcId="{79A4E0CD-7863-41E9-B32E-490058820A58}" destId="{DE32BA87-FB8B-4DB6-8535-0603065563E4}" srcOrd="2" destOrd="0" presId="urn:microsoft.com/office/officeart/2018/2/layout/IconLabelDescriptionList"/>
    <dgm:cxn modelId="{74C3AA6F-3F07-4608-AA04-E67A00607050}" type="presParOf" srcId="{79A4E0CD-7863-41E9-B32E-490058820A58}" destId="{C5913AB6-3A0C-4EF4-B281-AEB54933FEBA}" srcOrd="3" destOrd="0" presId="urn:microsoft.com/office/officeart/2018/2/layout/IconLabelDescriptionList"/>
    <dgm:cxn modelId="{2F3DAC6B-D29B-4845-8FD6-569E088E3C5C}" type="presParOf" srcId="{79A4E0CD-7863-41E9-B32E-490058820A58}" destId="{2F7F1CDD-995C-4297-9C09-F318B233A5C3}"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A06F6D-1B74-4257-B624-821ABC7BCDAA}" type="doc">
      <dgm:prSet loTypeId="urn:microsoft.com/office/officeart/2016/7/layout/HorizontalActionList" loCatId="List" qsTypeId="urn:microsoft.com/office/officeart/2005/8/quickstyle/simple1" qsCatId="simple" csTypeId="urn:microsoft.com/office/officeart/2005/8/colors/colorful1" csCatId="colorful" phldr="1"/>
      <dgm:spPr/>
      <dgm:t>
        <a:bodyPr/>
        <a:lstStyle/>
        <a:p>
          <a:endParaRPr lang="en-US"/>
        </a:p>
      </dgm:t>
    </dgm:pt>
    <dgm:pt modelId="{148904C8-AC73-4F5B-B278-A2BFED9CA64F}">
      <dgm:prSet/>
      <dgm:spPr/>
      <dgm:t>
        <a:bodyPr/>
        <a:lstStyle/>
        <a:p>
          <a:r>
            <a:rPr lang="en-US" b="1"/>
            <a:t>Dataset Overview</a:t>
          </a:r>
          <a:endParaRPr lang="en-US"/>
        </a:p>
      </dgm:t>
    </dgm:pt>
    <dgm:pt modelId="{5920BFD0-E5C3-4911-B69C-56FFB1B4D942}" type="parTrans" cxnId="{FA39CD44-6941-4E98-8A19-6A3B3FC0BEE7}">
      <dgm:prSet/>
      <dgm:spPr/>
      <dgm:t>
        <a:bodyPr/>
        <a:lstStyle/>
        <a:p>
          <a:endParaRPr lang="en-US"/>
        </a:p>
      </dgm:t>
    </dgm:pt>
    <dgm:pt modelId="{6F505D8F-E00A-48CB-A8A4-B5D869BBA380}" type="sibTrans" cxnId="{FA39CD44-6941-4E98-8A19-6A3B3FC0BEE7}">
      <dgm:prSet/>
      <dgm:spPr/>
      <dgm:t>
        <a:bodyPr/>
        <a:lstStyle/>
        <a:p>
          <a:endParaRPr lang="en-US"/>
        </a:p>
      </dgm:t>
    </dgm:pt>
    <dgm:pt modelId="{EB651F16-83DE-466A-9991-9CFF90EDCA69}">
      <dgm:prSet/>
      <dgm:spPr/>
      <dgm:t>
        <a:bodyPr/>
        <a:lstStyle/>
        <a:p>
          <a:pPr>
            <a:buFont typeface="Arial" panose="020B0604020202020204" pitchFamily="34" charset="0"/>
            <a:buNone/>
          </a:pPr>
          <a:r>
            <a:rPr lang="en-US" dirty="0"/>
            <a:t>Approx. 52,410 observations </a:t>
          </a:r>
        </a:p>
        <a:p>
          <a:pPr>
            <a:buFont typeface="Arial" panose="020B0604020202020204" pitchFamily="34" charset="0"/>
            <a:buNone/>
          </a:pPr>
          <a:endParaRPr lang="en-US" dirty="0"/>
        </a:p>
      </dgm:t>
    </dgm:pt>
    <dgm:pt modelId="{3D8B4FBF-D4F5-444E-AF6C-A0E4F01B4A92}" type="parTrans" cxnId="{D8B7C021-5016-404B-8F66-A5CCCCDAC8F9}">
      <dgm:prSet/>
      <dgm:spPr/>
      <dgm:t>
        <a:bodyPr/>
        <a:lstStyle/>
        <a:p>
          <a:endParaRPr lang="en-US"/>
        </a:p>
      </dgm:t>
    </dgm:pt>
    <dgm:pt modelId="{BA10BA60-B1D5-4361-88D1-46696306961D}" type="sibTrans" cxnId="{D8B7C021-5016-404B-8F66-A5CCCCDAC8F9}">
      <dgm:prSet/>
      <dgm:spPr/>
      <dgm:t>
        <a:bodyPr/>
        <a:lstStyle/>
        <a:p>
          <a:endParaRPr lang="en-US"/>
        </a:p>
      </dgm:t>
    </dgm:pt>
    <dgm:pt modelId="{4379CBBF-C773-4FF4-95FB-D86E62002917}">
      <dgm:prSet/>
      <dgm:spPr/>
      <dgm:t>
        <a:bodyPr/>
        <a:lstStyle/>
        <a:p>
          <a:pPr>
            <a:buNone/>
          </a:pPr>
          <a:r>
            <a:rPr lang="en-US" dirty="0"/>
            <a:t>Data collected every 10 minutes </a:t>
          </a:r>
        </a:p>
        <a:p>
          <a:pPr>
            <a:buNone/>
          </a:pPr>
          <a:endParaRPr lang="en-US" dirty="0"/>
        </a:p>
      </dgm:t>
    </dgm:pt>
    <dgm:pt modelId="{35354F02-1461-434E-83E9-EE30ADB3FE88}" type="parTrans" cxnId="{C111135A-5F9B-4245-89CF-14FBE49B6ED8}">
      <dgm:prSet/>
      <dgm:spPr/>
      <dgm:t>
        <a:bodyPr/>
        <a:lstStyle/>
        <a:p>
          <a:endParaRPr lang="en-US"/>
        </a:p>
      </dgm:t>
    </dgm:pt>
    <dgm:pt modelId="{7229CF5F-2603-41E6-98AC-B7117F28EE5E}" type="sibTrans" cxnId="{C111135A-5F9B-4245-89CF-14FBE49B6ED8}">
      <dgm:prSet/>
      <dgm:spPr/>
      <dgm:t>
        <a:bodyPr/>
        <a:lstStyle/>
        <a:p>
          <a:endParaRPr lang="en-US"/>
        </a:p>
      </dgm:t>
    </dgm:pt>
    <dgm:pt modelId="{5A15D707-7287-4EC0-BB69-354AE1DEF60C}">
      <dgm:prSet/>
      <dgm:spPr/>
      <dgm:t>
        <a:bodyPr/>
        <a:lstStyle/>
        <a:p>
          <a:pPr>
            <a:buNone/>
          </a:pPr>
          <a:r>
            <a:rPr lang="en-US" dirty="0"/>
            <a:t>Dataset includes weather measurements and electricity consumption in </a:t>
          </a:r>
          <a:r>
            <a:rPr lang="en-US" dirty="0" err="1"/>
            <a:t>Tetouan</a:t>
          </a:r>
          <a:r>
            <a:rPr lang="en-US" dirty="0"/>
            <a:t> City </a:t>
          </a:r>
        </a:p>
        <a:p>
          <a:pPr>
            <a:buNone/>
          </a:pPr>
          <a:endParaRPr lang="en-US" dirty="0"/>
        </a:p>
      </dgm:t>
    </dgm:pt>
    <dgm:pt modelId="{FEB09011-F134-4268-A00B-5308351550F8}" type="parTrans" cxnId="{016D8B0D-F5FD-498E-8609-0E527B84BEE8}">
      <dgm:prSet/>
      <dgm:spPr/>
      <dgm:t>
        <a:bodyPr/>
        <a:lstStyle/>
        <a:p>
          <a:endParaRPr lang="en-US"/>
        </a:p>
      </dgm:t>
    </dgm:pt>
    <dgm:pt modelId="{6C485DAA-9DC6-4E09-BC7D-B6E6525CC289}" type="sibTrans" cxnId="{016D8B0D-F5FD-498E-8609-0E527B84BEE8}">
      <dgm:prSet/>
      <dgm:spPr/>
      <dgm:t>
        <a:bodyPr/>
        <a:lstStyle/>
        <a:p>
          <a:endParaRPr lang="en-US"/>
        </a:p>
      </dgm:t>
    </dgm:pt>
    <dgm:pt modelId="{6369C9AE-56CA-441B-B578-5C74A83FF767}">
      <dgm:prSet/>
      <dgm:spPr/>
      <dgm:t>
        <a:bodyPr/>
        <a:lstStyle/>
        <a:p>
          <a:pPr>
            <a:buNone/>
          </a:pPr>
          <a:r>
            <a:rPr lang="en-US"/>
            <a:t>Final cleaned dataset contained 13 variables after preprocessing </a:t>
          </a:r>
        </a:p>
      </dgm:t>
    </dgm:pt>
    <dgm:pt modelId="{15D2407B-25FD-4A75-A3DC-B50E9EEFD47E}" type="parTrans" cxnId="{64CB0A04-725C-4624-9B8F-CCF7194EC9AD}">
      <dgm:prSet/>
      <dgm:spPr/>
      <dgm:t>
        <a:bodyPr/>
        <a:lstStyle/>
        <a:p>
          <a:endParaRPr lang="en-US"/>
        </a:p>
      </dgm:t>
    </dgm:pt>
    <dgm:pt modelId="{28ABA21A-3D77-4F86-BA8A-2FAE5448AE8D}" type="sibTrans" cxnId="{64CB0A04-725C-4624-9B8F-CCF7194EC9AD}">
      <dgm:prSet/>
      <dgm:spPr/>
      <dgm:t>
        <a:bodyPr/>
        <a:lstStyle/>
        <a:p>
          <a:endParaRPr lang="en-US"/>
        </a:p>
      </dgm:t>
    </dgm:pt>
    <dgm:pt modelId="{4CD6804B-043E-4E5F-8852-191DEBEA3D09}">
      <dgm:prSet/>
      <dgm:spPr/>
      <dgm:t>
        <a:bodyPr/>
        <a:lstStyle/>
        <a:p>
          <a:r>
            <a:rPr lang="en-US" b="1"/>
            <a:t>Modeling Setup</a:t>
          </a:r>
          <a:endParaRPr lang="en-US"/>
        </a:p>
      </dgm:t>
    </dgm:pt>
    <dgm:pt modelId="{E6180A79-F0F8-463C-BA2F-E6C0FDBF1670}" type="parTrans" cxnId="{11E092FF-0D37-4F49-9EBB-13BB1272DBA7}">
      <dgm:prSet/>
      <dgm:spPr/>
      <dgm:t>
        <a:bodyPr/>
        <a:lstStyle/>
        <a:p>
          <a:endParaRPr lang="en-US"/>
        </a:p>
      </dgm:t>
    </dgm:pt>
    <dgm:pt modelId="{8F1750D4-9084-42AA-B21F-2865EC659B55}" type="sibTrans" cxnId="{11E092FF-0D37-4F49-9EBB-13BB1272DBA7}">
      <dgm:prSet/>
      <dgm:spPr/>
      <dgm:t>
        <a:bodyPr/>
        <a:lstStyle/>
        <a:p>
          <a:endParaRPr lang="en-US"/>
        </a:p>
      </dgm:t>
    </dgm:pt>
    <dgm:pt modelId="{53ABE832-4A0A-4EFA-9972-5B75D5E88EB4}">
      <dgm:prSet/>
      <dgm:spPr/>
      <dgm:t>
        <a:bodyPr/>
        <a:lstStyle/>
        <a:p>
          <a:r>
            <a:rPr lang="en-US" dirty="0"/>
            <a:t>Response Variable: Zone 1 Power Consumption </a:t>
          </a:r>
        </a:p>
        <a:p>
          <a:endParaRPr lang="en-US" dirty="0"/>
        </a:p>
      </dgm:t>
    </dgm:pt>
    <dgm:pt modelId="{165B6B4E-DB18-4BC4-97DF-491DD1985251}" type="parTrans" cxnId="{BD301D9E-132B-4CE4-96FC-5FC227ED2785}">
      <dgm:prSet/>
      <dgm:spPr/>
      <dgm:t>
        <a:bodyPr/>
        <a:lstStyle/>
        <a:p>
          <a:endParaRPr lang="en-US"/>
        </a:p>
      </dgm:t>
    </dgm:pt>
    <dgm:pt modelId="{3B0118C5-C5F3-473E-9140-6EF7AA6F3644}" type="sibTrans" cxnId="{BD301D9E-132B-4CE4-96FC-5FC227ED2785}">
      <dgm:prSet/>
      <dgm:spPr/>
      <dgm:t>
        <a:bodyPr/>
        <a:lstStyle/>
        <a:p>
          <a:endParaRPr lang="en-US"/>
        </a:p>
      </dgm:t>
    </dgm:pt>
    <dgm:pt modelId="{DE5FBF91-633A-4616-8C1D-7816C0AF711F}">
      <dgm:prSet/>
      <dgm:spPr/>
      <dgm:t>
        <a:bodyPr/>
        <a:lstStyle/>
        <a:p>
          <a:r>
            <a:rPr lang="en-US" dirty="0"/>
            <a:t>Train/Test Split: 80% training, 20% testing </a:t>
          </a:r>
        </a:p>
        <a:p>
          <a:endParaRPr lang="en-US" dirty="0"/>
        </a:p>
      </dgm:t>
    </dgm:pt>
    <dgm:pt modelId="{882A5269-AA28-4B8B-BAA6-F607C597AA86}" type="parTrans" cxnId="{61C2BE8E-C3ED-4EF7-8294-3B520CFED351}">
      <dgm:prSet/>
      <dgm:spPr/>
      <dgm:t>
        <a:bodyPr/>
        <a:lstStyle/>
        <a:p>
          <a:endParaRPr lang="en-US"/>
        </a:p>
      </dgm:t>
    </dgm:pt>
    <dgm:pt modelId="{6FBD3CE0-E345-433F-8B19-19F04FC0C194}" type="sibTrans" cxnId="{61C2BE8E-C3ED-4EF7-8294-3B520CFED351}">
      <dgm:prSet/>
      <dgm:spPr/>
      <dgm:t>
        <a:bodyPr/>
        <a:lstStyle/>
        <a:p>
          <a:endParaRPr lang="en-US"/>
        </a:p>
      </dgm:t>
    </dgm:pt>
    <dgm:pt modelId="{D62F82A4-E9AB-4178-9582-EF1ADCDF109F}">
      <dgm:prSet/>
      <dgm:spPr/>
      <dgm:t>
        <a:bodyPr/>
        <a:lstStyle/>
        <a:p>
          <a:r>
            <a:rPr lang="en-US" dirty="0"/>
            <a:t>Random seed used: </a:t>
          </a:r>
          <a:r>
            <a:rPr lang="en-US" dirty="0" err="1"/>
            <a:t>set.seed</a:t>
          </a:r>
          <a:r>
            <a:rPr lang="en-US" dirty="0"/>
            <a:t>(2026) </a:t>
          </a:r>
        </a:p>
        <a:p>
          <a:endParaRPr lang="en-US" dirty="0"/>
        </a:p>
      </dgm:t>
    </dgm:pt>
    <dgm:pt modelId="{AE43F3ED-B374-49FF-A0D5-81EDDAC82554}" type="parTrans" cxnId="{6494546F-5DD9-4530-9FA9-6B09A5235924}">
      <dgm:prSet/>
      <dgm:spPr/>
      <dgm:t>
        <a:bodyPr/>
        <a:lstStyle/>
        <a:p>
          <a:endParaRPr lang="en-US"/>
        </a:p>
      </dgm:t>
    </dgm:pt>
    <dgm:pt modelId="{0130D6C9-4911-4984-921D-008033EACB5F}" type="sibTrans" cxnId="{6494546F-5DD9-4530-9FA9-6B09A5235924}">
      <dgm:prSet/>
      <dgm:spPr/>
      <dgm:t>
        <a:bodyPr/>
        <a:lstStyle/>
        <a:p>
          <a:endParaRPr lang="en-US"/>
        </a:p>
      </dgm:t>
    </dgm:pt>
    <dgm:pt modelId="{976EBDD0-E701-47F6-81E2-A7C3CC765F46}">
      <dgm:prSet/>
      <dgm:spPr/>
      <dgm:t>
        <a:bodyPr/>
        <a:lstStyle/>
        <a:p>
          <a:r>
            <a:rPr lang="en-US"/>
            <a:t>Goal: Predict Zone 1 power consumption using weather variables </a:t>
          </a:r>
        </a:p>
      </dgm:t>
    </dgm:pt>
    <dgm:pt modelId="{5D6E21EC-3E75-42A8-B7BD-476A884A3333}" type="parTrans" cxnId="{E632F28F-989B-4964-B140-5F8FCD8BA772}">
      <dgm:prSet/>
      <dgm:spPr/>
      <dgm:t>
        <a:bodyPr/>
        <a:lstStyle/>
        <a:p>
          <a:endParaRPr lang="en-US"/>
        </a:p>
      </dgm:t>
    </dgm:pt>
    <dgm:pt modelId="{9F5F873F-1324-4743-8EDF-6A3B87D6B008}" type="sibTrans" cxnId="{E632F28F-989B-4964-B140-5F8FCD8BA772}">
      <dgm:prSet/>
      <dgm:spPr/>
      <dgm:t>
        <a:bodyPr/>
        <a:lstStyle/>
        <a:p>
          <a:endParaRPr lang="en-US"/>
        </a:p>
      </dgm:t>
    </dgm:pt>
    <dgm:pt modelId="{13477819-7D90-41C6-925F-943FAEC6B51E}">
      <dgm:prSet/>
      <dgm:spPr/>
      <dgm:t>
        <a:bodyPr/>
        <a:lstStyle/>
        <a:p>
          <a:r>
            <a:rPr lang="en-US" b="1"/>
            <a:t>Models Used</a:t>
          </a:r>
          <a:endParaRPr lang="en-US"/>
        </a:p>
      </dgm:t>
    </dgm:pt>
    <dgm:pt modelId="{F3BAD68C-4A97-4F09-A03C-5E8A68396609}" type="parTrans" cxnId="{B294D170-9022-4F38-A86E-8999D4F396F9}">
      <dgm:prSet/>
      <dgm:spPr/>
      <dgm:t>
        <a:bodyPr/>
        <a:lstStyle/>
        <a:p>
          <a:endParaRPr lang="en-US"/>
        </a:p>
      </dgm:t>
    </dgm:pt>
    <dgm:pt modelId="{7F7A7C4C-27A8-481A-907C-FD469FB5AFB7}" type="sibTrans" cxnId="{B294D170-9022-4F38-A86E-8999D4F396F9}">
      <dgm:prSet/>
      <dgm:spPr/>
      <dgm:t>
        <a:bodyPr/>
        <a:lstStyle/>
        <a:p>
          <a:endParaRPr lang="en-US"/>
        </a:p>
      </dgm:t>
    </dgm:pt>
    <dgm:pt modelId="{E2660F76-BBB3-4615-BDA6-AC7BC5FAF761}">
      <dgm:prSet/>
      <dgm:spPr/>
      <dgm:t>
        <a:bodyPr/>
        <a:lstStyle/>
        <a:p>
          <a:r>
            <a:rPr lang="en-US" dirty="0"/>
            <a:t>Multiple Linear Regression</a:t>
          </a:r>
        </a:p>
        <a:p>
          <a:r>
            <a:rPr lang="en-US" dirty="0"/>
            <a:t> </a:t>
          </a:r>
        </a:p>
      </dgm:t>
    </dgm:pt>
    <dgm:pt modelId="{52E4B0F5-E439-47BD-BC60-BC77EF71767E}" type="parTrans" cxnId="{5FD24DEF-0855-4600-9812-EC981D0A0C31}">
      <dgm:prSet/>
      <dgm:spPr/>
      <dgm:t>
        <a:bodyPr/>
        <a:lstStyle/>
        <a:p>
          <a:endParaRPr lang="en-US"/>
        </a:p>
      </dgm:t>
    </dgm:pt>
    <dgm:pt modelId="{5A4341B1-7038-4F44-8127-D388F15EE548}" type="sibTrans" cxnId="{5FD24DEF-0855-4600-9812-EC981D0A0C31}">
      <dgm:prSet/>
      <dgm:spPr/>
      <dgm:t>
        <a:bodyPr/>
        <a:lstStyle/>
        <a:p>
          <a:endParaRPr lang="en-US"/>
        </a:p>
      </dgm:t>
    </dgm:pt>
    <dgm:pt modelId="{ADB875BC-B19C-4606-AE38-D00CF690403F}">
      <dgm:prSet/>
      <dgm:spPr/>
      <dgm:t>
        <a:bodyPr/>
        <a:lstStyle/>
        <a:p>
          <a:r>
            <a:rPr lang="en-US" dirty="0"/>
            <a:t>LASSO Regression </a:t>
          </a:r>
        </a:p>
        <a:p>
          <a:endParaRPr lang="en-US" dirty="0"/>
        </a:p>
      </dgm:t>
    </dgm:pt>
    <dgm:pt modelId="{48230CF1-6F30-458C-BCE7-A82CFBF6C600}" type="parTrans" cxnId="{B1045F7C-E1FD-432F-87FC-F151D1D898B2}">
      <dgm:prSet/>
      <dgm:spPr/>
      <dgm:t>
        <a:bodyPr/>
        <a:lstStyle/>
        <a:p>
          <a:endParaRPr lang="en-US"/>
        </a:p>
      </dgm:t>
    </dgm:pt>
    <dgm:pt modelId="{C96DF35D-4C1B-40CD-AAC4-BBC749599443}" type="sibTrans" cxnId="{B1045F7C-E1FD-432F-87FC-F151D1D898B2}">
      <dgm:prSet/>
      <dgm:spPr/>
      <dgm:t>
        <a:bodyPr/>
        <a:lstStyle/>
        <a:p>
          <a:endParaRPr lang="en-US"/>
        </a:p>
      </dgm:t>
    </dgm:pt>
    <dgm:pt modelId="{14B8A020-9F8C-4899-A5DD-BEEF12C1E6AC}">
      <dgm:prSet/>
      <dgm:spPr/>
      <dgm:t>
        <a:bodyPr/>
        <a:lstStyle/>
        <a:p>
          <a:r>
            <a:rPr lang="en-US"/>
            <a:t>Decision Tree Regression</a:t>
          </a:r>
        </a:p>
      </dgm:t>
    </dgm:pt>
    <dgm:pt modelId="{2D832211-8BE4-4292-8C6E-B9154D0EA6E5}" type="parTrans" cxnId="{C462073D-42AF-4BB1-BEC5-7A24AFCC8022}">
      <dgm:prSet/>
      <dgm:spPr/>
      <dgm:t>
        <a:bodyPr/>
        <a:lstStyle/>
        <a:p>
          <a:endParaRPr lang="en-US"/>
        </a:p>
      </dgm:t>
    </dgm:pt>
    <dgm:pt modelId="{A45A3F15-57C9-4DCE-8A1F-313DC3AD91F2}" type="sibTrans" cxnId="{C462073D-42AF-4BB1-BEC5-7A24AFCC8022}">
      <dgm:prSet/>
      <dgm:spPr/>
      <dgm:t>
        <a:bodyPr/>
        <a:lstStyle/>
        <a:p>
          <a:endParaRPr lang="en-US"/>
        </a:p>
      </dgm:t>
    </dgm:pt>
    <dgm:pt modelId="{862C1D62-6CA5-476A-ACF5-EEA0F9034CC4}">
      <dgm:prSet/>
      <dgm:spPr/>
      <dgm:t>
        <a:bodyPr/>
        <a:lstStyle/>
        <a:p>
          <a:r>
            <a:rPr lang="en-US" b="1"/>
            <a:t>Evaluation Metric</a:t>
          </a:r>
          <a:endParaRPr lang="en-US"/>
        </a:p>
      </dgm:t>
    </dgm:pt>
    <dgm:pt modelId="{1B5FD59B-4387-4516-AE52-6480E15D8D31}" type="parTrans" cxnId="{13C6898D-B22B-418C-80FF-08C57A7CB944}">
      <dgm:prSet/>
      <dgm:spPr/>
      <dgm:t>
        <a:bodyPr/>
        <a:lstStyle/>
        <a:p>
          <a:endParaRPr lang="en-US"/>
        </a:p>
      </dgm:t>
    </dgm:pt>
    <dgm:pt modelId="{A55B11C6-F1FA-4F65-A516-9986CD86600B}" type="sibTrans" cxnId="{13C6898D-B22B-418C-80FF-08C57A7CB944}">
      <dgm:prSet/>
      <dgm:spPr/>
      <dgm:t>
        <a:bodyPr/>
        <a:lstStyle/>
        <a:p>
          <a:endParaRPr lang="en-US"/>
        </a:p>
      </dgm:t>
    </dgm:pt>
    <dgm:pt modelId="{AC8F972E-B28B-4510-BDDE-524785CF782A}">
      <dgm:prSet/>
      <dgm:spPr/>
      <dgm:t>
        <a:bodyPr/>
        <a:lstStyle/>
        <a:p>
          <a:r>
            <a:rPr lang="en-US"/>
            <a:t>Models compared using RMSE (Root Mean Squared Error) on the test dataset</a:t>
          </a:r>
        </a:p>
      </dgm:t>
    </dgm:pt>
    <dgm:pt modelId="{9EAC9E70-80D2-457B-8E32-1A97F2B4B4EF}" type="parTrans" cxnId="{2AC7D776-6D1C-441F-A828-35C45F3474EB}">
      <dgm:prSet/>
      <dgm:spPr/>
      <dgm:t>
        <a:bodyPr/>
        <a:lstStyle/>
        <a:p>
          <a:endParaRPr lang="en-US"/>
        </a:p>
      </dgm:t>
    </dgm:pt>
    <dgm:pt modelId="{278DF1BF-A172-4E73-8B1F-63B786D022D1}" type="sibTrans" cxnId="{2AC7D776-6D1C-441F-A828-35C45F3474EB}">
      <dgm:prSet/>
      <dgm:spPr/>
      <dgm:t>
        <a:bodyPr/>
        <a:lstStyle/>
        <a:p>
          <a:endParaRPr lang="en-US"/>
        </a:p>
      </dgm:t>
    </dgm:pt>
    <dgm:pt modelId="{B94443FF-F965-4415-B470-1BA4876CA785}" type="pres">
      <dgm:prSet presAssocID="{5AA06F6D-1B74-4257-B624-821ABC7BCDAA}" presName="Name0" presStyleCnt="0">
        <dgm:presLayoutVars>
          <dgm:dir/>
          <dgm:animLvl val="lvl"/>
          <dgm:resizeHandles val="exact"/>
        </dgm:presLayoutVars>
      </dgm:prSet>
      <dgm:spPr/>
    </dgm:pt>
    <dgm:pt modelId="{BEF516ED-6068-4961-9AC1-4AB367DAEB37}" type="pres">
      <dgm:prSet presAssocID="{148904C8-AC73-4F5B-B278-A2BFED9CA64F}" presName="composite" presStyleCnt="0"/>
      <dgm:spPr/>
    </dgm:pt>
    <dgm:pt modelId="{5B7746E4-EB1B-491D-A6E5-A9CF07410656}" type="pres">
      <dgm:prSet presAssocID="{148904C8-AC73-4F5B-B278-A2BFED9CA64F}" presName="parTx" presStyleLbl="alignNode1" presStyleIdx="0" presStyleCnt="4">
        <dgm:presLayoutVars>
          <dgm:chMax val="0"/>
          <dgm:chPref val="0"/>
        </dgm:presLayoutVars>
      </dgm:prSet>
      <dgm:spPr/>
    </dgm:pt>
    <dgm:pt modelId="{F92613A7-7B40-45A6-A320-4E29642382A6}" type="pres">
      <dgm:prSet presAssocID="{148904C8-AC73-4F5B-B278-A2BFED9CA64F}" presName="desTx" presStyleLbl="alignAccFollowNode1" presStyleIdx="0" presStyleCnt="4">
        <dgm:presLayoutVars/>
      </dgm:prSet>
      <dgm:spPr/>
    </dgm:pt>
    <dgm:pt modelId="{FF1E2829-29CF-4700-AFA3-BAD526DD745F}" type="pres">
      <dgm:prSet presAssocID="{6F505D8F-E00A-48CB-A8A4-B5D869BBA380}" presName="space" presStyleCnt="0"/>
      <dgm:spPr/>
    </dgm:pt>
    <dgm:pt modelId="{442B2FC6-0FB5-46A3-9415-1F51B326F4B5}" type="pres">
      <dgm:prSet presAssocID="{4CD6804B-043E-4E5F-8852-191DEBEA3D09}" presName="composite" presStyleCnt="0"/>
      <dgm:spPr/>
    </dgm:pt>
    <dgm:pt modelId="{918FFCC2-161B-4655-85D5-7A288F1EA7FB}" type="pres">
      <dgm:prSet presAssocID="{4CD6804B-043E-4E5F-8852-191DEBEA3D09}" presName="parTx" presStyleLbl="alignNode1" presStyleIdx="1" presStyleCnt="4">
        <dgm:presLayoutVars>
          <dgm:chMax val="0"/>
          <dgm:chPref val="0"/>
        </dgm:presLayoutVars>
      </dgm:prSet>
      <dgm:spPr/>
    </dgm:pt>
    <dgm:pt modelId="{6B311482-0311-43A3-BB81-E67C305CF5B3}" type="pres">
      <dgm:prSet presAssocID="{4CD6804B-043E-4E5F-8852-191DEBEA3D09}" presName="desTx" presStyleLbl="alignAccFollowNode1" presStyleIdx="1" presStyleCnt="4">
        <dgm:presLayoutVars/>
      </dgm:prSet>
      <dgm:spPr/>
    </dgm:pt>
    <dgm:pt modelId="{F0D17B28-EC48-4448-A8EF-01D0054610AB}" type="pres">
      <dgm:prSet presAssocID="{8F1750D4-9084-42AA-B21F-2865EC659B55}" presName="space" presStyleCnt="0"/>
      <dgm:spPr/>
    </dgm:pt>
    <dgm:pt modelId="{E0A19619-C412-41E8-8327-CA024EC5B239}" type="pres">
      <dgm:prSet presAssocID="{13477819-7D90-41C6-925F-943FAEC6B51E}" presName="composite" presStyleCnt="0"/>
      <dgm:spPr/>
    </dgm:pt>
    <dgm:pt modelId="{EC4F3285-7D7F-4296-92CE-12D3758F9323}" type="pres">
      <dgm:prSet presAssocID="{13477819-7D90-41C6-925F-943FAEC6B51E}" presName="parTx" presStyleLbl="alignNode1" presStyleIdx="2" presStyleCnt="4">
        <dgm:presLayoutVars>
          <dgm:chMax val="0"/>
          <dgm:chPref val="0"/>
        </dgm:presLayoutVars>
      </dgm:prSet>
      <dgm:spPr/>
    </dgm:pt>
    <dgm:pt modelId="{F3154A5F-F586-4704-9CAA-723439077263}" type="pres">
      <dgm:prSet presAssocID="{13477819-7D90-41C6-925F-943FAEC6B51E}" presName="desTx" presStyleLbl="alignAccFollowNode1" presStyleIdx="2" presStyleCnt="4">
        <dgm:presLayoutVars/>
      </dgm:prSet>
      <dgm:spPr/>
    </dgm:pt>
    <dgm:pt modelId="{70FB4BAC-285F-47FC-A65F-754A8FE8EB08}" type="pres">
      <dgm:prSet presAssocID="{7F7A7C4C-27A8-481A-907C-FD469FB5AFB7}" presName="space" presStyleCnt="0"/>
      <dgm:spPr/>
    </dgm:pt>
    <dgm:pt modelId="{98663E03-F1B1-4721-BA5A-967A71FBEDF6}" type="pres">
      <dgm:prSet presAssocID="{862C1D62-6CA5-476A-ACF5-EEA0F9034CC4}" presName="composite" presStyleCnt="0"/>
      <dgm:spPr/>
    </dgm:pt>
    <dgm:pt modelId="{3233E67B-8326-4CA8-9EED-8D2540E01C55}" type="pres">
      <dgm:prSet presAssocID="{862C1D62-6CA5-476A-ACF5-EEA0F9034CC4}" presName="parTx" presStyleLbl="alignNode1" presStyleIdx="3" presStyleCnt="4">
        <dgm:presLayoutVars>
          <dgm:chMax val="0"/>
          <dgm:chPref val="0"/>
        </dgm:presLayoutVars>
      </dgm:prSet>
      <dgm:spPr/>
    </dgm:pt>
    <dgm:pt modelId="{D71F9FBD-E39A-42E4-88C3-68F9882595F7}" type="pres">
      <dgm:prSet presAssocID="{862C1D62-6CA5-476A-ACF5-EEA0F9034CC4}" presName="desTx" presStyleLbl="alignAccFollowNode1" presStyleIdx="3" presStyleCnt="4">
        <dgm:presLayoutVars/>
      </dgm:prSet>
      <dgm:spPr/>
    </dgm:pt>
  </dgm:ptLst>
  <dgm:cxnLst>
    <dgm:cxn modelId="{64CB0A04-725C-4624-9B8F-CCF7194EC9AD}" srcId="{148904C8-AC73-4F5B-B278-A2BFED9CA64F}" destId="{6369C9AE-56CA-441B-B578-5C74A83FF767}" srcOrd="3" destOrd="0" parTransId="{15D2407B-25FD-4A75-A3DC-B50E9EEFD47E}" sibTransId="{28ABA21A-3D77-4F86-BA8A-2FAE5448AE8D}"/>
    <dgm:cxn modelId="{F007A604-39E7-479D-9BAC-8FFF1374911E}" type="presOf" srcId="{4379CBBF-C773-4FF4-95FB-D86E62002917}" destId="{F92613A7-7B40-45A6-A320-4E29642382A6}" srcOrd="0" destOrd="1" presId="urn:microsoft.com/office/officeart/2016/7/layout/HorizontalActionList"/>
    <dgm:cxn modelId="{016D8B0D-F5FD-498E-8609-0E527B84BEE8}" srcId="{148904C8-AC73-4F5B-B278-A2BFED9CA64F}" destId="{5A15D707-7287-4EC0-BB69-354AE1DEF60C}" srcOrd="2" destOrd="0" parTransId="{FEB09011-F134-4268-A00B-5308351550F8}" sibTransId="{6C485DAA-9DC6-4E09-BC7D-B6E6525CC289}"/>
    <dgm:cxn modelId="{7790AE14-E9F9-400E-8C10-0D4553770B70}" type="presOf" srcId="{148904C8-AC73-4F5B-B278-A2BFED9CA64F}" destId="{5B7746E4-EB1B-491D-A6E5-A9CF07410656}" srcOrd="0" destOrd="0" presId="urn:microsoft.com/office/officeart/2016/7/layout/HorizontalActionList"/>
    <dgm:cxn modelId="{D8B7C021-5016-404B-8F66-A5CCCCDAC8F9}" srcId="{148904C8-AC73-4F5B-B278-A2BFED9CA64F}" destId="{EB651F16-83DE-466A-9991-9CFF90EDCA69}" srcOrd="0" destOrd="0" parTransId="{3D8B4FBF-D4F5-444E-AF6C-A0E4F01B4A92}" sibTransId="{BA10BA60-B1D5-4361-88D1-46696306961D}"/>
    <dgm:cxn modelId="{6FB3C822-84F0-4EBB-92B3-AFFB423F7762}" type="presOf" srcId="{14B8A020-9F8C-4899-A5DD-BEEF12C1E6AC}" destId="{F3154A5F-F586-4704-9CAA-723439077263}" srcOrd="0" destOrd="2" presId="urn:microsoft.com/office/officeart/2016/7/layout/HorizontalActionList"/>
    <dgm:cxn modelId="{D2938439-A6BB-48F3-B05B-78E160D619A5}" type="presOf" srcId="{D62F82A4-E9AB-4178-9582-EF1ADCDF109F}" destId="{6B311482-0311-43A3-BB81-E67C305CF5B3}" srcOrd="0" destOrd="2" presId="urn:microsoft.com/office/officeart/2016/7/layout/HorizontalActionList"/>
    <dgm:cxn modelId="{AAE8A139-4E27-4910-BB58-950740971278}" type="presOf" srcId="{EB651F16-83DE-466A-9991-9CFF90EDCA69}" destId="{F92613A7-7B40-45A6-A320-4E29642382A6}" srcOrd="0" destOrd="0" presId="urn:microsoft.com/office/officeart/2016/7/layout/HorizontalActionList"/>
    <dgm:cxn modelId="{C462073D-42AF-4BB1-BEC5-7A24AFCC8022}" srcId="{13477819-7D90-41C6-925F-943FAEC6B51E}" destId="{14B8A020-9F8C-4899-A5DD-BEEF12C1E6AC}" srcOrd="2" destOrd="0" parTransId="{2D832211-8BE4-4292-8C6E-B9154D0EA6E5}" sibTransId="{A45A3F15-57C9-4DCE-8A1F-313DC3AD91F2}"/>
    <dgm:cxn modelId="{BC9EE443-1FBF-46FA-8D3B-732C087A93D5}" type="presOf" srcId="{6369C9AE-56CA-441B-B578-5C74A83FF767}" destId="{F92613A7-7B40-45A6-A320-4E29642382A6}" srcOrd="0" destOrd="3" presId="urn:microsoft.com/office/officeart/2016/7/layout/HorizontalActionList"/>
    <dgm:cxn modelId="{FA39CD44-6941-4E98-8A19-6A3B3FC0BEE7}" srcId="{5AA06F6D-1B74-4257-B624-821ABC7BCDAA}" destId="{148904C8-AC73-4F5B-B278-A2BFED9CA64F}" srcOrd="0" destOrd="0" parTransId="{5920BFD0-E5C3-4911-B69C-56FFB1B4D942}" sibTransId="{6F505D8F-E00A-48CB-A8A4-B5D869BBA380}"/>
    <dgm:cxn modelId="{5F8DE567-31F4-44B7-8522-2EFFFC873995}" type="presOf" srcId="{862C1D62-6CA5-476A-ACF5-EEA0F9034CC4}" destId="{3233E67B-8326-4CA8-9EED-8D2540E01C55}" srcOrd="0" destOrd="0" presId="urn:microsoft.com/office/officeart/2016/7/layout/HorizontalActionList"/>
    <dgm:cxn modelId="{7F9CF047-25ED-4048-A092-393AC00376C9}" type="presOf" srcId="{E2660F76-BBB3-4615-BDA6-AC7BC5FAF761}" destId="{F3154A5F-F586-4704-9CAA-723439077263}" srcOrd="0" destOrd="0" presId="urn:microsoft.com/office/officeart/2016/7/layout/HorizontalActionList"/>
    <dgm:cxn modelId="{6494546F-5DD9-4530-9FA9-6B09A5235924}" srcId="{4CD6804B-043E-4E5F-8852-191DEBEA3D09}" destId="{D62F82A4-E9AB-4178-9582-EF1ADCDF109F}" srcOrd="2" destOrd="0" parTransId="{AE43F3ED-B374-49FF-A0D5-81EDDAC82554}" sibTransId="{0130D6C9-4911-4984-921D-008033EACB5F}"/>
    <dgm:cxn modelId="{B294D170-9022-4F38-A86E-8999D4F396F9}" srcId="{5AA06F6D-1B74-4257-B624-821ABC7BCDAA}" destId="{13477819-7D90-41C6-925F-943FAEC6B51E}" srcOrd="2" destOrd="0" parTransId="{F3BAD68C-4A97-4F09-A03C-5E8A68396609}" sibTransId="{7F7A7C4C-27A8-481A-907C-FD469FB5AFB7}"/>
    <dgm:cxn modelId="{2AC7D776-6D1C-441F-A828-35C45F3474EB}" srcId="{862C1D62-6CA5-476A-ACF5-EEA0F9034CC4}" destId="{AC8F972E-B28B-4510-BDDE-524785CF782A}" srcOrd="0" destOrd="0" parTransId="{9EAC9E70-80D2-457B-8E32-1A97F2B4B4EF}" sibTransId="{278DF1BF-A172-4E73-8B1F-63B786D022D1}"/>
    <dgm:cxn modelId="{C111135A-5F9B-4245-89CF-14FBE49B6ED8}" srcId="{148904C8-AC73-4F5B-B278-A2BFED9CA64F}" destId="{4379CBBF-C773-4FF4-95FB-D86E62002917}" srcOrd="1" destOrd="0" parTransId="{35354F02-1461-434E-83E9-EE30ADB3FE88}" sibTransId="{7229CF5F-2603-41E6-98AC-B7117F28EE5E}"/>
    <dgm:cxn modelId="{B1045F7C-E1FD-432F-87FC-F151D1D898B2}" srcId="{13477819-7D90-41C6-925F-943FAEC6B51E}" destId="{ADB875BC-B19C-4606-AE38-D00CF690403F}" srcOrd="1" destOrd="0" parTransId="{48230CF1-6F30-458C-BCE7-A82CFBF6C600}" sibTransId="{C96DF35D-4C1B-40CD-AAC4-BBC749599443}"/>
    <dgm:cxn modelId="{CCD80F83-CA8E-4AF9-A75B-2F84E822286A}" type="presOf" srcId="{DE5FBF91-633A-4616-8C1D-7816C0AF711F}" destId="{6B311482-0311-43A3-BB81-E67C305CF5B3}" srcOrd="0" destOrd="1" presId="urn:microsoft.com/office/officeart/2016/7/layout/HorizontalActionList"/>
    <dgm:cxn modelId="{78B51F89-47CD-4CA3-BA19-D0CBC8BE89BC}" type="presOf" srcId="{5A15D707-7287-4EC0-BB69-354AE1DEF60C}" destId="{F92613A7-7B40-45A6-A320-4E29642382A6}" srcOrd="0" destOrd="2" presId="urn:microsoft.com/office/officeart/2016/7/layout/HorizontalActionList"/>
    <dgm:cxn modelId="{13C6898D-B22B-418C-80FF-08C57A7CB944}" srcId="{5AA06F6D-1B74-4257-B624-821ABC7BCDAA}" destId="{862C1D62-6CA5-476A-ACF5-EEA0F9034CC4}" srcOrd="3" destOrd="0" parTransId="{1B5FD59B-4387-4516-AE52-6480E15D8D31}" sibTransId="{A55B11C6-F1FA-4F65-A516-9986CD86600B}"/>
    <dgm:cxn modelId="{61C2BE8E-C3ED-4EF7-8294-3B520CFED351}" srcId="{4CD6804B-043E-4E5F-8852-191DEBEA3D09}" destId="{DE5FBF91-633A-4616-8C1D-7816C0AF711F}" srcOrd="1" destOrd="0" parTransId="{882A5269-AA28-4B8B-BAA6-F607C597AA86}" sibTransId="{6FBD3CE0-E345-433F-8B19-19F04FC0C194}"/>
    <dgm:cxn modelId="{E632F28F-989B-4964-B140-5F8FCD8BA772}" srcId="{4CD6804B-043E-4E5F-8852-191DEBEA3D09}" destId="{976EBDD0-E701-47F6-81E2-A7C3CC765F46}" srcOrd="3" destOrd="0" parTransId="{5D6E21EC-3E75-42A8-B7BD-476A884A3333}" sibTransId="{9F5F873F-1324-4743-8EDF-6A3B87D6B008}"/>
    <dgm:cxn modelId="{89837392-6D69-4C18-A180-BB68B96FEE39}" type="presOf" srcId="{13477819-7D90-41C6-925F-943FAEC6B51E}" destId="{EC4F3285-7D7F-4296-92CE-12D3758F9323}" srcOrd="0" destOrd="0" presId="urn:microsoft.com/office/officeart/2016/7/layout/HorizontalActionList"/>
    <dgm:cxn modelId="{BF49A497-F9A8-4E3B-B0C3-E6C3270C9CE5}" type="presOf" srcId="{AC8F972E-B28B-4510-BDDE-524785CF782A}" destId="{D71F9FBD-E39A-42E4-88C3-68F9882595F7}" srcOrd="0" destOrd="0" presId="urn:microsoft.com/office/officeart/2016/7/layout/HorizontalActionList"/>
    <dgm:cxn modelId="{292F429B-3F41-4286-8187-D446E0B6C0F4}" type="presOf" srcId="{4CD6804B-043E-4E5F-8852-191DEBEA3D09}" destId="{918FFCC2-161B-4655-85D5-7A288F1EA7FB}" srcOrd="0" destOrd="0" presId="urn:microsoft.com/office/officeart/2016/7/layout/HorizontalActionList"/>
    <dgm:cxn modelId="{3536679D-8DCF-4668-91D9-9D5A057DBF39}" type="presOf" srcId="{5AA06F6D-1B74-4257-B624-821ABC7BCDAA}" destId="{B94443FF-F965-4415-B470-1BA4876CA785}" srcOrd="0" destOrd="0" presId="urn:microsoft.com/office/officeart/2016/7/layout/HorizontalActionList"/>
    <dgm:cxn modelId="{BD301D9E-132B-4CE4-96FC-5FC227ED2785}" srcId="{4CD6804B-043E-4E5F-8852-191DEBEA3D09}" destId="{53ABE832-4A0A-4EFA-9972-5B75D5E88EB4}" srcOrd="0" destOrd="0" parTransId="{165B6B4E-DB18-4BC4-97DF-491DD1985251}" sibTransId="{3B0118C5-C5F3-473E-9140-6EF7AA6F3644}"/>
    <dgm:cxn modelId="{80F586BD-23B9-490C-A3F1-FE5DD6E66DDC}" type="presOf" srcId="{53ABE832-4A0A-4EFA-9972-5B75D5E88EB4}" destId="{6B311482-0311-43A3-BB81-E67C305CF5B3}" srcOrd="0" destOrd="0" presId="urn:microsoft.com/office/officeart/2016/7/layout/HorizontalActionList"/>
    <dgm:cxn modelId="{9AA8E4CD-DB14-4E91-AA13-2D5F2A24700F}" type="presOf" srcId="{ADB875BC-B19C-4606-AE38-D00CF690403F}" destId="{F3154A5F-F586-4704-9CAA-723439077263}" srcOrd="0" destOrd="1" presId="urn:microsoft.com/office/officeart/2016/7/layout/HorizontalActionList"/>
    <dgm:cxn modelId="{54D0FDD5-856C-46F1-8FF2-16BF3B7B8EB0}" type="presOf" srcId="{976EBDD0-E701-47F6-81E2-A7C3CC765F46}" destId="{6B311482-0311-43A3-BB81-E67C305CF5B3}" srcOrd="0" destOrd="3" presId="urn:microsoft.com/office/officeart/2016/7/layout/HorizontalActionList"/>
    <dgm:cxn modelId="{5FD24DEF-0855-4600-9812-EC981D0A0C31}" srcId="{13477819-7D90-41C6-925F-943FAEC6B51E}" destId="{E2660F76-BBB3-4615-BDA6-AC7BC5FAF761}" srcOrd="0" destOrd="0" parTransId="{52E4B0F5-E439-47BD-BC60-BC77EF71767E}" sibTransId="{5A4341B1-7038-4F44-8127-D388F15EE548}"/>
    <dgm:cxn modelId="{11E092FF-0D37-4F49-9EBB-13BB1272DBA7}" srcId="{5AA06F6D-1B74-4257-B624-821ABC7BCDAA}" destId="{4CD6804B-043E-4E5F-8852-191DEBEA3D09}" srcOrd="1" destOrd="0" parTransId="{E6180A79-F0F8-463C-BA2F-E6C0FDBF1670}" sibTransId="{8F1750D4-9084-42AA-B21F-2865EC659B55}"/>
    <dgm:cxn modelId="{2705EC47-08B8-470E-A059-10BD4CA96953}" type="presParOf" srcId="{B94443FF-F965-4415-B470-1BA4876CA785}" destId="{BEF516ED-6068-4961-9AC1-4AB367DAEB37}" srcOrd="0" destOrd="0" presId="urn:microsoft.com/office/officeart/2016/7/layout/HorizontalActionList"/>
    <dgm:cxn modelId="{5AAE66F4-E401-4FF5-A389-54DF7C526D9D}" type="presParOf" srcId="{BEF516ED-6068-4961-9AC1-4AB367DAEB37}" destId="{5B7746E4-EB1B-491D-A6E5-A9CF07410656}" srcOrd="0" destOrd="0" presId="urn:microsoft.com/office/officeart/2016/7/layout/HorizontalActionList"/>
    <dgm:cxn modelId="{70FACDC6-FE2F-47FF-A225-C718376181D6}" type="presParOf" srcId="{BEF516ED-6068-4961-9AC1-4AB367DAEB37}" destId="{F92613A7-7B40-45A6-A320-4E29642382A6}" srcOrd="1" destOrd="0" presId="urn:microsoft.com/office/officeart/2016/7/layout/HorizontalActionList"/>
    <dgm:cxn modelId="{CCF61BF9-AF62-4867-8AE3-9764E702F07C}" type="presParOf" srcId="{B94443FF-F965-4415-B470-1BA4876CA785}" destId="{FF1E2829-29CF-4700-AFA3-BAD526DD745F}" srcOrd="1" destOrd="0" presId="urn:microsoft.com/office/officeart/2016/7/layout/HorizontalActionList"/>
    <dgm:cxn modelId="{9A00987C-2C46-43C3-ABEA-8A7556A2198D}" type="presParOf" srcId="{B94443FF-F965-4415-B470-1BA4876CA785}" destId="{442B2FC6-0FB5-46A3-9415-1F51B326F4B5}" srcOrd="2" destOrd="0" presId="urn:microsoft.com/office/officeart/2016/7/layout/HorizontalActionList"/>
    <dgm:cxn modelId="{EE7CAF79-4F74-45C0-8F1B-DEDA7C638659}" type="presParOf" srcId="{442B2FC6-0FB5-46A3-9415-1F51B326F4B5}" destId="{918FFCC2-161B-4655-85D5-7A288F1EA7FB}" srcOrd="0" destOrd="0" presId="urn:microsoft.com/office/officeart/2016/7/layout/HorizontalActionList"/>
    <dgm:cxn modelId="{29F0CE83-4628-4A88-AF0A-7F3DD5A26359}" type="presParOf" srcId="{442B2FC6-0FB5-46A3-9415-1F51B326F4B5}" destId="{6B311482-0311-43A3-BB81-E67C305CF5B3}" srcOrd="1" destOrd="0" presId="urn:microsoft.com/office/officeart/2016/7/layout/HorizontalActionList"/>
    <dgm:cxn modelId="{0B88329F-EFAE-419C-93EF-7382936CDA38}" type="presParOf" srcId="{B94443FF-F965-4415-B470-1BA4876CA785}" destId="{F0D17B28-EC48-4448-A8EF-01D0054610AB}" srcOrd="3" destOrd="0" presId="urn:microsoft.com/office/officeart/2016/7/layout/HorizontalActionList"/>
    <dgm:cxn modelId="{2DA50B3D-FE1B-4D52-81CC-E07ADF66AF83}" type="presParOf" srcId="{B94443FF-F965-4415-B470-1BA4876CA785}" destId="{E0A19619-C412-41E8-8327-CA024EC5B239}" srcOrd="4" destOrd="0" presId="urn:microsoft.com/office/officeart/2016/7/layout/HorizontalActionList"/>
    <dgm:cxn modelId="{164F3898-6BC9-4BB5-B36F-90E13B9AA02E}" type="presParOf" srcId="{E0A19619-C412-41E8-8327-CA024EC5B239}" destId="{EC4F3285-7D7F-4296-92CE-12D3758F9323}" srcOrd="0" destOrd="0" presId="urn:microsoft.com/office/officeart/2016/7/layout/HorizontalActionList"/>
    <dgm:cxn modelId="{5DE4F413-6B95-49D1-808D-07CFACBB76AC}" type="presParOf" srcId="{E0A19619-C412-41E8-8327-CA024EC5B239}" destId="{F3154A5F-F586-4704-9CAA-723439077263}" srcOrd="1" destOrd="0" presId="urn:microsoft.com/office/officeart/2016/7/layout/HorizontalActionList"/>
    <dgm:cxn modelId="{7F5D832F-A163-4DD9-A59B-C1DC510DC988}" type="presParOf" srcId="{B94443FF-F965-4415-B470-1BA4876CA785}" destId="{70FB4BAC-285F-47FC-A65F-754A8FE8EB08}" srcOrd="5" destOrd="0" presId="urn:microsoft.com/office/officeart/2016/7/layout/HorizontalActionList"/>
    <dgm:cxn modelId="{99B3EA32-8193-4FB1-8C0F-FF1D1D43AE16}" type="presParOf" srcId="{B94443FF-F965-4415-B470-1BA4876CA785}" destId="{98663E03-F1B1-4721-BA5A-967A71FBEDF6}" srcOrd="6" destOrd="0" presId="urn:microsoft.com/office/officeart/2016/7/layout/HorizontalActionList"/>
    <dgm:cxn modelId="{0F13CA03-2677-4A08-886B-1E9A160B3CD0}" type="presParOf" srcId="{98663E03-F1B1-4721-BA5A-967A71FBEDF6}" destId="{3233E67B-8326-4CA8-9EED-8D2540E01C55}" srcOrd="0" destOrd="0" presId="urn:microsoft.com/office/officeart/2016/7/layout/HorizontalActionList"/>
    <dgm:cxn modelId="{29FFDE12-1780-4A55-B0F0-71861F769EC7}" type="presParOf" srcId="{98663E03-F1B1-4721-BA5A-967A71FBEDF6}" destId="{D71F9FBD-E39A-42E4-88C3-68F9882595F7}"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F3FB77-4DA2-422F-B9E6-53C4E4CB030F}"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E768547F-3799-45E7-99EF-659DF11611EA}">
      <dgm:prSet/>
      <dgm:spPr/>
      <dgm:t>
        <a:bodyPr/>
        <a:lstStyle/>
        <a:p>
          <a:r>
            <a:rPr lang="en-US"/>
            <a:t>Loaded raw CSV file</a:t>
          </a:r>
        </a:p>
      </dgm:t>
    </dgm:pt>
    <dgm:pt modelId="{EE000FE8-12EF-43BD-9087-83EA3B72DCB6}" type="parTrans" cxnId="{E3D16376-E77C-48DF-AA30-FDB9F8D0D8B2}">
      <dgm:prSet/>
      <dgm:spPr/>
      <dgm:t>
        <a:bodyPr/>
        <a:lstStyle/>
        <a:p>
          <a:endParaRPr lang="en-US"/>
        </a:p>
      </dgm:t>
    </dgm:pt>
    <dgm:pt modelId="{63529B0B-C7FB-416E-8362-BD40A08E8C79}" type="sibTrans" cxnId="{E3D16376-E77C-48DF-AA30-FDB9F8D0D8B2}">
      <dgm:prSet/>
      <dgm:spPr/>
      <dgm:t>
        <a:bodyPr/>
        <a:lstStyle/>
        <a:p>
          <a:endParaRPr lang="en-US"/>
        </a:p>
      </dgm:t>
    </dgm:pt>
    <dgm:pt modelId="{D51144EF-6D6C-40EB-B83C-8E9F8D03FCC8}">
      <dgm:prSet/>
      <dgm:spPr/>
      <dgm:t>
        <a:bodyPr/>
        <a:lstStyle/>
        <a:p>
          <a:r>
            <a:rPr lang="en-US"/>
            <a:t>Standardized names using make.names() so R could use column easily</a:t>
          </a:r>
        </a:p>
      </dgm:t>
    </dgm:pt>
    <dgm:pt modelId="{623A9888-788C-40B8-8290-CC7CEC8F1152}" type="parTrans" cxnId="{E758931F-CBCD-40B4-9572-3FB25FA10410}">
      <dgm:prSet/>
      <dgm:spPr/>
      <dgm:t>
        <a:bodyPr/>
        <a:lstStyle/>
        <a:p>
          <a:endParaRPr lang="en-US"/>
        </a:p>
      </dgm:t>
    </dgm:pt>
    <dgm:pt modelId="{F9D06BE1-DF80-45E5-8CA7-8BB3F1CEE3FC}" type="sibTrans" cxnId="{E758931F-CBCD-40B4-9572-3FB25FA10410}">
      <dgm:prSet/>
      <dgm:spPr/>
      <dgm:t>
        <a:bodyPr/>
        <a:lstStyle/>
        <a:p>
          <a:endParaRPr lang="en-US"/>
        </a:p>
      </dgm:t>
    </dgm:pt>
    <dgm:pt modelId="{5A56FBA7-78AF-4385-8538-FD78AAA7053B}">
      <dgm:prSet/>
      <dgm:spPr/>
      <dgm:t>
        <a:bodyPr/>
        <a:lstStyle/>
        <a:p>
          <a:r>
            <a:rPr lang="en-US"/>
            <a:t>Converted Data Time from text into data-time format</a:t>
          </a:r>
        </a:p>
      </dgm:t>
    </dgm:pt>
    <dgm:pt modelId="{970656FA-07F7-47FE-943A-472C7A7140C9}" type="parTrans" cxnId="{5DCFFF4A-F358-47BB-92B4-A2D1EFD2C40D}">
      <dgm:prSet/>
      <dgm:spPr/>
      <dgm:t>
        <a:bodyPr/>
        <a:lstStyle/>
        <a:p>
          <a:endParaRPr lang="en-US"/>
        </a:p>
      </dgm:t>
    </dgm:pt>
    <dgm:pt modelId="{C263AF77-3069-4FCD-9FD3-4BD7A29B383F}" type="sibTrans" cxnId="{5DCFFF4A-F358-47BB-92B4-A2D1EFD2C40D}">
      <dgm:prSet/>
      <dgm:spPr/>
      <dgm:t>
        <a:bodyPr/>
        <a:lstStyle/>
        <a:p>
          <a:endParaRPr lang="en-US"/>
        </a:p>
      </dgm:t>
    </dgm:pt>
    <dgm:pt modelId="{985DBAFA-6E64-4E51-8B51-041AF63138D7}">
      <dgm:prSet/>
      <dgm:spPr/>
      <dgm:t>
        <a:bodyPr/>
        <a:lstStyle/>
        <a:p>
          <a:r>
            <a:rPr lang="en-US"/>
            <a:t>Checked missing values : only 6 rows had missing DateTime</a:t>
          </a:r>
        </a:p>
      </dgm:t>
    </dgm:pt>
    <dgm:pt modelId="{C90ED5C7-D726-41BF-B9EE-3628E030CD4E}" type="parTrans" cxnId="{C0593DBC-9670-4FD7-A27D-CA6191BB098C}">
      <dgm:prSet/>
      <dgm:spPr/>
      <dgm:t>
        <a:bodyPr/>
        <a:lstStyle/>
        <a:p>
          <a:endParaRPr lang="en-US"/>
        </a:p>
      </dgm:t>
    </dgm:pt>
    <dgm:pt modelId="{9AAF92E4-5B7B-4CA9-AE9A-AFE5CD978A05}" type="sibTrans" cxnId="{C0593DBC-9670-4FD7-A27D-CA6191BB098C}">
      <dgm:prSet/>
      <dgm:spPr/>
      <dgm:t>
        <a:bodyPr/>
        <a:lstStyle/>
        <a:p>
          <a:endParaRPr lang="en-US"/>
        </a:p>
      </dgm:t>
    </dgm:pt>
    <dgm:pt modelId="{9CDC11AD-5024-4802-8091-A46978E22666}">
      <dgm:prSet/>
      <dgm:spPr/>
      <dgm:t>
        <a:bodyPr/>
        <a:lstStyle/>
        <a:p>
          <a:r>
            <a:rPr lang="en-US"/>
            <a:t>Removes those rows because dataset is large</a:t>
          </a:r>
        </a:p>
      </dgm:t>
    </dgm:pt>
    <dgm:pt modelId="{7D3FD41B-4138-4278-A6DE-2F6A61534413}" type="parTrans" cxnId="{9880DC4A-E307-4499-B0F0-9D12E78CCE17}">
      <dgm:prSet/>
      <dgm:spPr/>
      <dgm:t>
        <a:bodyPr/>
        <a:lstStyle/>
        <a:p>
          <a:endParaRPr lang="en-US"/>
        </a:p>
      </dgm:t>
    </dgm:pt>
    <dgm:pt modelId="{93ADD775-B70F-4221-997F-E6C627B51B16}" type="sibTrans" cxnId="{9880DC4A-E307-4499-B0F0-9D12E78CCE17}">
      <dgm:prSet/>
      <dgm:spPr/>
      <dgm:t>
        <a:bodyPr/>
        <a:lstStyle/>
        <a:p>
          <a:endParaRPr lang="en-US"/>
        </a:p>
      </dgm:t>
    </dgm:pt>
    <dgm:pt modelId="{D9444BBA-235C-49B3-BC7F-D2F50192FA75}">
      <dgm:prSet/>
      <dgm:spPr/>
      <dgm:t>
        <a:bodyPr/>
        <a:lstStyle/>
        <a:p>
          <a:r>
            <a:rPr lang="en-US"/>
            <a:t>Checked for duplicates : none found</a:t>
          </a:r>
        </a:p>
      </dgm:t>
    </dgm:pt>
    <dgm:pt modelId="{01D74BBC-398F-4887-B05C-3E7DC96685F6}" type="parTrans" cxnId="{1DC9F7E4-8212-4E11-AD43-811952FC495E}">
      <dgm:prSet/>
      <dgm:spPr/>
      <dgm:t>
        <a:bodyPr/>
        <a:lstStyle/>
        <a:p>
          <a:endParaRPr lang="en-US"/>
        </a:p>
      </dgm:t>
    </dgm:pt>
    <dgm:pt modelId="{BDD36D6F-1EB9-4CA1-A763-0D1CC5F496A2}" type="sibTrans" cxnId="{1DC9F7E4-8212-4E11-AD43-811952FC495E}">
      <dgm:prSet/>
      <dgm:spPr/>
      <dgm:t>
        <a:bodyPr/>
        <a:lstStyle/>
        <a:p>
          <a:endParaRPr lang="en-US"/>
        </a:p>
      </dgm:t>
    </dgm:pt>
    <dgm:pt modelId="{64B48E9B-B0B2-483B-83CE-2B392A43716C}">
      <dgm:prSet/>
      <dgm:spPr/>
      <dgm:t>
        <a:bodyPr/>
        <a:lstStyle/>
        <a:p>
          <a:r>
            <a:rPr lang="en-US"/>
            <a:t>Added new columns : Hour, Day, Month, Year</a:t>
          </a:r>
        </a:p>
      </dgm:t>
    </dgm:pt>
    <dgm:pt modelId="{D39246D6-D355-427A-BC57-88D1E7418ECE}" type="parTrans" cxnId="{0843EC0D-E1CD-4584-A866-9149E3649CD3}">
      <dgm:prSet/>
      <dgm:spPr/>
      <dgm:t>
        <a:bodyPr/>
        <a:lstStyle/>
        <a:p>
          <a:endParaRPr lang="en-US"/>
        </a:p>
      </dgm:t>
    </dgm:pt>
    <dgm:pt modelId="{AD6B9D2A-A83B-45A3-8B79-E5BAF8DD1402}" type="sibTrans" cxnId="{0843EC0D-E1CD-4584-A866-9149E3649CD3}">
      <dgm:prSet/>
      <dgm:spPr/>
      <dgm:t>
        <a:bodyPr/>
        <a:lstStyle/>
        <a:p>
          <a:endParaRPr lang="en-US"/>
        </a:p>
      </dgm:t>
    </dgm:pt>
    <dgm:pt modelId="{D9AFBB60-46D3-482E-83AC-A404FD0BA1F0}" type="pres">
      <dgm:prSet presAssocID="{75F3FB77-4DA2-422F-B9E6-53C4E4CB030F}" presName="Name0" presStyleCnt="0">
        <dgm:presLayoutVars>
          <dgm:dir/>
          <dgm:resizeHandles val="exact"/>
        </dgm:presLayoutVars>
      </dgm:prSet>
      <dgm:spPr/>
    </dgm:pt>
    <dgm:pt modelId="{3ACC9871-8A98-49F7-A09C-7999CA759DD2}" type="pres">
      <dgm:prSet presAssocID="{E768547F-3799-45E7-99EF-659DF11611EA}" presName="node" presStyleLbl="node1" presStyleIdx="0" presStyleCnt="7">
        <dgm:presLayoutVars>
          <dgm:bulletEnabled val="1"/>
        </dgm:presLayoutVars>
      </dgm:prSet>
      <dgm:spPr/>
    </dgm:pt>
    <dgm:pt modelId="{A07AC95B-5A44-4AA2-9BF7-0DA4D536850D}" type="pres">
      <dgm:prSet presAssocID="{63529B0B-C7FB-416E-8362-BD40A08E8C79}" presName="sibTrans" presStyleLbl="sibTrans1D1" presStyleIdx="0" presStyleCnt="6"/>
      <dgm:spPr/>
    </dgm:pt>
    <dgm:pt modelId="{ABEA856B-DB73-438B-A5FF-59851125F575}" type="pres">
      <dgm:prSet presAssocID="{63529B0B-C7FB-416E-8362-BD40A08E8C79}" presName="connectorText" presStyleLbl="sibTrans1D1" presStyleIdx="0" presStyleCnt="6"/>
      <dgm:spPr/>
    </dgm:pt>
    <dgm:pt modelId="{427433E7-BEB4-4F67-BB6E-661868778795}" type="pres">
      <dgm:prSet presAssocID="{D51144EF-6D6C-40EB-B83C-8E9F8D03FCC8}" presName="node" presStyleLbl="node1" presStyleIdx="1" presStyleCnt="7">
        <dgm:presLayoutVars>
          <dgm:bulletEnabled val="1"/>
        </dgm:presLayoutVars>
      </dgm:prSet>
      <dgm:spPr/>
    </dgm:pt>
    <dgm:pt modelId="{AEF145F8-E0B9-4F93-87D8-725298926622}" type="pres">
      <dgm:prSet presAssocID="{F9D06BE1-DF80-45E5-8CA7-8BB3F1CEE3FC}" presName="sibTrans" presStyleLbl="sibTrans1D1" presStyleIdx="1" presStyleCnt="6"/>
      <dgm:spPr/>
    </dgm:pt>
    <dgm:pt modelId="{AF301F21-B2E2-4EAF-8FDD-1E1F9A74C393}" type="pres">
      <dgm:prSet presAssocID="{F9D06BE1-DF80-45E5-8CA7-8BB3F1CEE3FC}" presName="connectorText" presStyleLbl="sibTrans1D1" presStyleIdx="1" presStyleCnt="6"/>
      <dgm:spPr/>
    </dgm:pt>
    <dgm:pt modelId="{E87FA69B-AEBF-45C6-A22D-F822FC1566C4}" type="pres">
      <dgm:prSet presAssocID="{5A56FBA7-78AF-4385-8538-FD78AAA7053B}" presName="node" presStyleLbl="node1" presStyleIdx="2" presStyleCnt="7">
        <dgm:presLayoutVars>
          <dgm:bulletEnabled val="1"/>
        </dgm:presLayoutVars>
      </dgm:prSet>
      <dgm:spPr/>
    </dgm:pt>
    <dgm:pt modelId="{64153829-FD4B-414C-942D-DB194D394F00}" type="pres">
      <dgm:prSet presAssocID="{C263AF77-3069-4FCD-9FD3-4BD7A29B383F}" presName="sibTrans" presStyleLbl="sibTrans1D1" presStyleIdx="2" presStyleCnt="6"/>
      <dgm:spPr/>
    </dgm:pt>
    <dgm:pt modelId="{14CAA57D-9304-489A-9ADD-041952A607B3}" type="pres">
      <dgm:prSet presAssocID="{C263AF77-3069-4FCD-9FD3-4BD7A29B383F}" presName="connectorText" presStyleLbl="sibTrans1D1" presStyleIdx="2" presStyleCnt="6"/>
      <dgm:spPr/>
    </dgm:pt>
    <dgm:pt modelId="{CD829E65-0833-4529-9B18-560F8FA00EEE}" type="pres">
      <dgm:prSet presAssocID="{985DBAFA-6E64-4E51-8B51-041AF63138D7}" presName="node" presStyleLbl="node1" presStyleIdx="3" presStyleCnt="7">
        <dgm:presLayoutVars>
          <dgm:bulletEnabled val="1"/>
        </dgm:presLayoutVars>
      </dgm:prSet>
      <dgm:spPr/>
    </dgm:pt>
    <dgm:pt modelId="{70B4FDDF-CA95-49A8-A62E-BDA8FA422CCC}" type="pres">
      <dgm:prSet presAssocID="{9AAF92E4-5B7B-4CA9-AE9A-AFE5CD978A05}" presName="sibTrans" presStyleLbl="sibTrans1D1" presStyleIdx="3" presStyleCnt="6"/>
      <dgm:spPr/>
    </dgm:pt>
    <dgm:pt modelId="{AF98771E-7C4D-4299-B7F3-2A3C2167DEE5}" type="pres">
      <dgm:prSet presAssocID="{9AAF92E4-5B7B-4CA9-AE9A-AFE5CD978A05}" presName="connectorText" presStyleLbl="sibTrans1D1" presStyleIdx="3" presStyleCnt="6"/>
      <dgm:spPr/>
    </dgm:pt>
    <dgm:pt modelId="{0D02290A-A273-4514-94F5-1B7D5D357D47}" type="pres">
      <dgm:prSet presAssocID="{9CDC11AD-5024-4802-8091-A46978E22666}" presName="node" presStyleLbl="node1" presStyleIdx="4" presStyleCnt="7">
        <dgm:presLayoutVars>
          <dgm:bulletEnabled val="1"/>
        </dgm:presLayoutVars>
      </dgm:prSet>
      <dgm:spPr/>
    </dgm:pt>
    <dgm:pt modelId="{43124F64-1200-434B-BEB3-B77F0B4C4155}" type="pres">
      <dgm:prSet presAssocID="{93ADD775-B70F-4221-997F-E6C627B51B16}" presName="sibTrans" presStyleLbl="sibTrans1D1" presStyleIdx="4" presStyleCnt="6"/>
      <dgm:spPr/>
    </dgm:pt>
    <dgm:pt modelId="{6B1443C0-1EC0-458F-97C4-C0443CA3BFBB}" type="pres">
      <dgm:prSet presAssocID="{93ADD775-B70F-4221-997F-E6C627B51B16}" presName="connectorText" presStyleLbl="sibTrans1D1" presStyleIdx="4" presStyleCnt="6"/>
      <dgm:spPr/>
    </dgm:pt>
    <dgm:pt modelId="{3DB215A9-47F4-401B-A010-F292A95FEBDB}" type="pres">
      <dgm:prSet presAssocID="{D9444BBA-235C-49B3-BC7F-D2F50192FA75}" presName="node" presStyleLbl="node1" presStyleIdx="5" presStyleCnt="7">
        <dgm:presLayoutVars>
          <dgm:bulletEnabled val="1"/>
        </dgm:presLayoutVars>
      </dgm:prSet>
      <dgm:spPr/>
    </dgm:pt>
    <dgm:pt modelId="{5A483D77-BB2F-429A-B94E-7BBBAD523B69}" type="pres">
      <dgm:prSet presAssocID="{BDD36D6F-1EB9-4CA1-A763-0D1CC5F496A2}" presName="sibTrans" presStyleLbl="sibTrans1D1" presStyleIdx="5" presStyleCnt="6"/>
      <dgm:spPr/>
    </dgm:pt>
    <dgm:pt modelId="{3E1FFC56-EDF1-4D5C-AD98-2C31A680036D}" type="pres">
      <dgm:prSet presAssocID="{BDD36D6F-1EB9-4CA1-A763-0D1CC5F496A2}" presName="connectorText" presStyleLbl="sibTrans1D1" presStyleIdx="5" presStyleCnt="6"/>
      <dgm:spPr/>
    </dgm:pt>
    <dgm:pt modelId="{D221A17F-72AB-4CF3-874C-99A39EC09745}" type="pres">
      <dgm:prSet presAssocID="{64B48E9B-B0B2-483B-83CE-2B392A43716C}" presName="node" presStyleLbl="node1" presStyleIdx="6" presStyleCnt="7">
        <dgm:presLayoutVars>
          <dgm:bulletEnabled val="1"/>
        </dgm:presLayoutVars>
      </dgm:prSet>
      <dgm:spPr/>
    </dgm:pt>
  </dgm:ptLst>
  <dgm:cxnLst>
    <dgm:cxn modelId="{0843EC0D-E1CD-4584-A866-9149E3649CD3}" srcId="{75F3FB77-4DA2-422F-B9E6-53C4E4CB030F}" destId="{64B48E9B-B0B2-483B-83CE-2B392A43716C}" srcOrd="6" destOrd="0" parTransId="{D39246D6-D355-427A-BC57-88D1E7418ECE}" sibTransId="{AD6B9D2A-A83B-45A3-8B79-E5BAF8DD1402}"/>
    <dgm:cxn modelId="{E758931F-CBCD-40B4-9572-3FB25FA10410}" srcId="{75F3FB77-4DA2-422F-B9E6-53C4E4CB030F}" destId="{D51144EF-6D6C-40EB-B83C-8E9F8D03FCC8}" srcOrd="1" destOrd="0" parTransId="{623A9888-788C-40B8-8290-CC7CEC8F1152}" sibTransId="{F9D06BE1-DF80-45E5-8CA7-8BB3F1CEE3FC}"/>
    <dgm:cxn modelId="{CDCFEC20-B2AD-44F8-8D77-2EBB6303FCF2}" type="presOf" srcId="{9AAF92E4-5B7B-4CA9-AE9A-AFE5CD978A05}" destId="{70B4FDDF-CA95-49A8-A62E-BDA8FA422CCC}" srcOrd="0" destOrd="0" presId="urn:microsoft.com/office/officeart/2016/7/layout/RepeatingBendingProcessNew"/>
    <dgm:cxn modelId="{6E052F2C-5C07-42B6-A16E-830CE09D8BA2}" type="presOf" srcId="{F9D06BE1-DF80-45E5-8CA7-8BB3F1CEE3FC}" destId="{AEF145F8-E0B9-4F93-87D8-725298926622}" srcOrd="0" destOrd="0" presId="urn:microsoft.com/office/officeart/2016/7/layout/RepeatingBendingProcessNew"/>
    <dgm:cxn modelId="{0D1A2C35-DA62-41EB-B41F-9AF670B077F0}" type="presOf" srcId="{63529B0B-C7FB-416E-8362-BD40A08E8C79}" destId="{A07AC95B-5A44-4AA2-9BF7-0DA4D536850D}" srcOrd="0" destOrd="0" presId="urn:microsoft.com/office/officeart/2016/7/layout/RepeatingBendingProcessNew"/>
    <dgm:cxn modelId="{B656A23E-6949-46CE-B284-984B602F6AE5}" type="presOf" srcId="{BDD36D6F-1EB9-4CA1-A763-0D1CC5F496A2}" destId="{3E1FFC56-EDF1-4D5C-AD98-2C31A680036D}" srcOrd="1" destOrd="0" presId="urn:microsoft.com/office/officeart/2016/7/layout/RepeatingBendingProcessNew"/>
    <dgm:cxn modelId="{86E29E64-22D7-4E90-A602-5EB95904A9DD}" type="presOf" srcId="{C263AF77-3069-4FCD-9FD3-4BD7A29B383F}" destId="{64153829-FD4B-414C-942D-DB194D394F00}" srcOrd="0" destOrd="0" presId="urn:microsoft.com/office/officeart/2016/7/layout/RepeatingBendingProcessNew"/>
    <dgm:cxn modelId="{86ACAF69-A9DD-4B74-B41D-F73BAADCD727}" type="presOf" srcId="{C263AF77-3069-4FCD-9FD3-4BD7A29B383F}" destId="{14CAA57D-9304-489A-9ADD-041952A607B3}" srcOrd="1" destOrd="0" presId="urn:microsoft.com/office/officeart/2016/7/layout/RepeatingBendingProcessNew"/>
    <dgm:cxn modelId="{9880DC4A-E307-4499-B0F0-9D12E78CCE17}" srcId="{75F3FB77-4DA2-422F-B9E6-53C4E4CB030F}" destId="{9CDC11AD-5024-4802-8091-A46978E22666}" srcOrd="4" destOrd="0" parTransId="{7D3FD41B-4138-4278-A6DE-2F6A61534413}" sibTransId="{93ADD775-B70F-4221-997F-E6C627B51B16}"/>
    <dgm:cxn modelId="{5DCFFF4A-F358-47BB-92B4-A2D1EFD2C40D}" srcId="{75F3FB77-4DA2-422F-B9E6-53C4E4CB030F}" destId="{5A56FBA7-78AF-4385-8538-FD78AAA7053B}" srcOrd="2" destOrd="0" parTransId="{970656FA-07F7-47FE-943A-472C7A7140C9}" sibTransId="{C263AF77-3069-4FCD-9FD3-4BD7A29B383F}"/>
    <dgm:cxn modelId="{0CD0384F-B9F1-49BE-98AD-A883C8DFE9C9}" type="presOf" srcId="{D51144EF-6D6C-40EB-B83C-8E9F8D03FCC8}" destId="{427433E7-BEB4-4F67-BB6E-661868778795}" srcOrd="0" destOrd="0" presId="urn:microsoft.com/office/officeart/2016/7/layout/RepeatingBendingProcessNew"/>
    <dgm:cxn modelId="{E3D16376-E77C-48DF-AA30-FDB9F8D0D8B2}" srcId="{75F3FB77-4DA2-422F-B9E6-53C4E4CB030F}" destId="{E768547F-3799-45E7-99EF-659DF11611EA}" srcOrd="0" destOrd="0" parTransId="{EE000FE8-12EF-43BD-9087-83EA3B72DCB6}" sibTransId="{63529B0B-C7FB-416E-8362-BD40A08E8C79}"/>
    <dgm:cxn modelId="{F188C776-F3DA-4570-A2D3-177D3E986730}" type="presOf" srcId="{93ADD775-B70F-4221-997F-E6C627B51B16}" destId="{6B1443C0-1EC0-458F-97C4-C0443CA3BFBB}" srcOrd="1" destOrd="0" presId="urn:microsoft.com/office/officeart/2016/7/layout/RepeatingBendingProcessNew"/>
    <dgm:cxn modelId="{DB49547E-6FFA-429D-B6D0-56807EC16662}" type="presOf" srcId="{93ADD775-B70F-4221-997F-E6C627B51B16}" destId="{43124F64-1200-434B-BEB3-B77F0B4C4155}" srcOrd="0" destOrd="0" presId="urn:microsoft.com/office/officeart/2016/7/layout/RepeatingBendingProcessNew"/>
    <dgm:cxn modelId="{CC53A081-BCBB-4E1E-B5B7-50AC91F3F272}" type="presOf" srcId="{75F3FB77-4DA2-422F-B9E6-53C4E4CB030F}" destId="{D9AFBB60-46D3-482E-83AC-A404FD0BA1F0}" srcOrd="0" destOrd="0" presId="urn:microsoft.com/office/officeart/2016/7/layout/RepeatingBendingProcessNew"/>
    <dgm:cxn modelId="{BB7CD38F-C81D-480A-9D4E-3BC695EEDBE2}" type="presOf" srcId="{9CDC11AD-5024-4802-8091-A46978E22666}" destId="{0D02290A-A273-4514-94F5-1B7D5D357D47}" srcOrd="0" destOrd="0" presId="urn:microsoft.com/office/officeart/2016/7/layout/RepeatingBendingProcessNew"/>
    <dgm:cxn modelId="{55747A92-C381-451D-A358-95C463EE6C9E}" type="presOf" srcId="{64B48E9B-B0B2-483B-83CE-2B392A43716C}" destId="{D221A17F-72AB-4CF3-874C-99A39EC09745}" srcOrd="0" destOrd="0" presId="urn:microsoft.com/office/officeart/2016/7/layout/RepeatingBendingProcessNew"/>
    <dgm:cxn modelId="{85887F9A-6567-478C-8750-C61E37264946}" type="presOf" srcId="{D9444BBA-235C-49B3-BC7F-D2F50192FA75}" destId="{3DB215A9-47F4-401B-A010-F292A95FEBDB}" srcOrd="0" destOrd="0" presId="urn:microsoft.com/office/officeart/2016/7/layout/RepeatingBendingProcessNew"/>
    <dgm:cxn modelId="{5BA156A7-0E2B-4D0F-A7F4-E3814E88DAB2}" type="presOf" srcId="{63529B0B-C7FB-416E-8362-BD40A08E8C79}" destId="{ABEA856B-DB73-438B-A5FF-59851125F575}" srcOrd="1" destOrd="0" presId="urn:microsoft.com/office/officeart/2016/7/layout/RepeatingBendingProcessNew"/>
    <dgm:cxn modelId="{961FC6AE-AB27-4BA0-9B0D-2F49805FE9E0}" type="presOf" srcId="{985DBAFA-6E64-4E51-8B51-041AF63138D7}" destId="{CD829E65-0833-4529-9B18-560F8FA00EEE}" srcOrd="0" destOrd="0" presId="urn:microsoft.com/office/officeart/2016/7/layout/RepeatingBendingProcessNew"/>
    <dgm:cxn modelId="{140EB1B1-A9D1-4229-AA4E-8185CA3B1F04}" type="presOf" srcId="{F9D06BE1-DF80-45E5-8CA7-8BB3F1CEE3FC}" destId="{AF301F21-B2E2-4EAF-8FDD-1E1F9A74C393}" srcOrd="1" destOrd="0" presId="urn:microsoft.com/office/officeart/2016/7/layout/RepeatingBendingProcessNew"/>
    <dgm:cxn modelId="{C0593DBC-9670-4FD7-A27D-CA6191BB098C}" srcId="{75F3FB77-4DA2-422F-B9E6-53C4E4CB030F}" destId="{985DBAFA-6E64-4E51-8B51-041AF63138D7}" srcOrd="3" destOrd="0" parTransId="{C90ED5C7-D726-41BF-B9EE-3628E030CD4E}" sibTransId="{9AAF92E4-5B7B-4CA9-AE9A-AFE5CD978A05}"/>
    <dgm:cxn modelId="{9B833ACA-B8CF-4262-B067-D989E350D089}" type="presOf" srcId="{9AAF92E4-5B7B-4CA9-AE9A-AFE5CD978A05}" destId="{AF98771E-7C4D-4299-B7F3-2A3C2167DEE5}" srcOrd="1" destOrd="0" presId="urn:microsoft.com/office/officeart/2016/7/layout/RepeatingBendingProcessNew"/>
    <dgm:cxn modelId="{5A9944D5-3FC4-4E38-BEB6-D3D1B2905925}" type="presOf" srcId="{E768547F-3799-45E7-99EF-659DF11611EA}" destId="{3ACC9871-8A98-49F7-A09C-7999CA759DD2}" srcOrd="0" destOrd="0" presId="urn:microsoft.com/office/officeart/2016/7/layout/RepeatingBendingProcessNew"/>
    <dgm:cxn modelId="{1DC9F7E4-8212-4E11-AD43-811952FC495E}" srcId="{75F3FB77-4DA2-422F-B9E6-53C4E4CB030F}" destId="{D9444BBA-235C-49B3-BC7F-D2F50192FA75}" srcOrd="5" destOrd="0" parTransId="{01D74BBC-398F-4887-B05C-3E7DC96685F6}" sibTransId="{BDD36D6F-1EB9-4CA1-A763-0D1CC5F496A2}"/>
    <dgm:cxn modelId="{C6E8CAEF-F72B-4702-897B-3AA4B2821CAB}" type="presOf" srcId="{BDD36D6F-1EB9-4CA1-A763-0D1CC5F496A2}" destId="{5A483D77-BB2F-429A-B94E-7BBBAD523B69}" srcOrd="0" destOrd="0" presId="urn:microsoft.com/office/officeart/2016/7/layout/RepeatingBendingProcessNew"/>
    <dgm:cxn modelId="{928CBDF7-2CCC-4169-8E52-0D5F8F8A8BE3}" type="presOf" srcId="{5A56FBA7-78AF-4385-8538-FD78AAA7053B}" destId="{E87FA69B-AEBF-45C6-A22D-F822FC1566C4}" srcOrd="0" destOrd="0" presId="urn:microsoft.com/office/officeart/2016/7/layout/RepeatingBendingProcessNew"/>
    <dgm:cxn modelId="{2637A63C-3E94-42B1-B44A-0DCA0FAF8F84}" type="presParOf" srcId="{D9AFBB60-46D3-482E-83AC-A404FD0BA1F0}" destId="{3ACC9871-8A98-49F7-A09C-7999CA759DD2}" srcOrd="0" destOrd="0" presId="urn:microsoft.com/office/officeart/2016/7/layout/RepeatingBendingProcessNew"/>
    <dgm:cxn modelId="{CB7E49CC-7E95-4EB9-BA35-A95BAD97F0C5}" type="presParOf" srcId="{D9AFBB60-46D3-482E-83AC-A404FD0BA1F0}" destId="{A07AC95B-5A44-4AA2-9BF7-0DA4D536850D}" srcOrd="1" destOrd="0" presId="urn:microsoft.com/office/officeart/2016/7/layout/RepeatingBendingProcessNew"/>
    <dgm:cxn modelId="{A63C0D04-706C-431A-A92C-9FA2539D8A2D}" type="presParOf" srcId="{A07AC95B-5A44-4AA2-9BF7-0DA4D536850D}" destId="{ABEA856B-DB73-438B-A5FF-59851125F575}" srcOrd="0" destOrd="0" presId="urn:microsoft.com/office/officeart/2016/7/layout/RepeatingBendingProcessNew"/>
    <dgm:cxn modelId="{7BF31DC3-A7C8-499A-B92C-91CB5C29568F}" type="presParOf" srcId="{D9AFBB60-46D3-482E-83AC-A404FD0BA1F0}" destId="{427433E7-BEB4-4F67-BB6E-661868778795}" srcOrd="2" destOrd="0" presId="urn:microsoft.com/office/officeart/2016/7/layout/RepeatingBendingProcessNew"/>
    <dgm:cxn modelId="{50BC117A-B367-4EC2-B749-2ADA79CBF8AD}" type="presParOf" srcId="{D9AFBB60-46D3-482E-83AC-A404FD0BA1F0}" destId="{AEF145F8-E0B9-4F93-87D8-725298926622}" srcOrd="3" destOrd="0" presId="urn:microsoft.com/office/officeart/2016/7/layout/RepeatingBendingProcessNew"/>
    <dgm:cxn modelId="{C028249E-7765-4EF5-A40E-A0459722DFE1}" type="presParOf" srcId="{AEF145F8-E0B9-4F93-87D8-725298926622}" destId="{AF301F21-B2E2-4EAF-8FDD-1E1F9A74C393}" srcOrd="0" destOrd="0" presId="urn:microsoft.com/office/officeart/2016/7/layout/RepeatingBendingProcessNew"/>
    <dgm:cxn modelId="{2481F896-EF29-4213-BDF0-A2A4C2DC3D60}" type="presParOf" srcId="{D9AFBB60-46D3-482E-83AC-A404FD0BA1F0}" destId="{E87FA69B-AEBF-45C6-A22D-F822FC1566C4}" srcOrd="4" destOrd="0" presId="urn:microsoft.com/office/officeart/2016/7/layout/RepeatingBendingProcessNew"/>
    <dgm:cxn modelId="{023D7BDA-3783-413F-93E1-BBE7B2A06C00}" type="presParOf" srcId="{D9AFBB60-46D3-482E-83AC-A404FD0BA1F0}" destId="{64153829-FD4B-414C-942D-DB194D394F00}" srcOrd="5" destOrd="0" presId="urn:microsoft.com/office/officeart/2016/7/layout/RepeatingBendingProcessNew"/>
    <dgm:cxn modelId="{F4182909-45C6-49E3-B5B0-7B04EBAADCAC}" type="presParOf" srcId="{64153829-FD4B-414C-942D-DB194D394F00}" destId="{14CAA57D-9304-489A-9ADD-041952A607B3}" srcOrd="0" destOrd="0" presId="urn:microsoft.com/office/officeart/2016/7/layout/RepeatingBendingProcessNew"/>
    <dgm:cxn modelId="{D727992C-F377-498B-8506-19F5FBA49F08}" type="presParOf" srcId="{D9AFBB60-46D3-482E-83AC-A404FD0BA1F0}" destId="{CD829E65-0833-4529-9B18-560F8FA00EEE}" srcOrd="6" destOrd="0" presId="urn:microsoft.com/office/officeart/2016/7/layout/RepeatingBendingProcessNew"/>
    <dgm:cxn modelId="{9C1DA9C8-061C-45AF-9E42-A978A76320E4}" type="presParOf" srcId="{D9AFBB60-46D3-482E-83AC-A404FD0BA1F0}" destId="{70B4FDDF-CA95-49A8-A62E-BDA8FA422CCC}" srcOrd="7" destOrd="0" presId="urn:microsoft.com/office/officeart/2016/7/layout/RepeatingBendingProcessNew"/>
    <dgm:cxn modelId="{FF633F42-EB50-41F1-8610-AB851C5E5F0E}" type="presParOf" srcId="{70B4FDDF-CA95-49A8-A62E-BDA8FA422CCC}" destId="{AF98771E-7C4D-4299-B7F3-2A3C2167DEE5}" srcOrd="0" destOrd="0" presId="urn:microsoft.com/office/officeart/2016/7/layout/RepeatingBendingProcessNew"/>
    <dgm:cxn modelId="{B62A56F4-A912-420C-84D3-E7B234AEB112}" type="presParOf" srcId="{D9AFBB60-46D3-482E-83AC-A404FD0BA1F0}" destId="{0D02290A-A273-4514-94F5-1B7D5D357D47}" srcOrd="8" destOrd="0" presId="urn:microsoft.com/office/officeart/2016/7/layout/RepeatingBendingProcessNew"/>
    <dgm:cxn modelId="{BE88A0E5-DD59-49D0-B954-749662F50F5E}" type="presParOf" srcId="{D9AFBB60-46D3-482E-83AC-A404FD0BA1F0}" destId="{43124F64-1200-434B-BEB3-B77F0B4C4155}" srcOrd="9" destOrd="0" presId="urn:microsoft.com/office/officeart/2016/7/layout/RepeatingBendingProcessNew"/>
    <dgm:cxn modelId="{2F4B62D4-B124-48E7-BA92-C2F7EFE7AFB4}" type="presParOf" srcId="{43124F64-1200-434B-BEB3-B77F0B4C4155}" destId="{6B1443C0-1EC0-458F-97C4-C0443CA3BFBB}" srcOrd="0" destOrd="0" presId="urn:microsoft.com/office/officeart/2016/7/layout/RepeatingBendingProcessNew"/>
    <dgm:cxn modelId="{37C3E26D-02AC-48E3-BC71-44FBF6F8C18D}" type="presParOf" srcId="{D9AFBB60-46D3-482E-83AC-A404FD0BA1F0}" destId="{3DB215A9-47F4-401B-A010-F292A95FEBDB}" srcOrd="10" destOrd="0" presId="urn:microsoft.com/office/officeart/2016/7/layout/RepeatingBendingProcessNew"/>
    <dgm:cxn modelId="{0E616F2C-FFEF-4AF0-AFC5-767B1F8FAAF2}" type="presParOf" srcId="{D9AFBB60-46D3-482E-83AC-A404FD0BA1F0}" destId="{5A483D77-BB2F-429A-B94E-7BBBAD523B69}" srcOrd="11" destOrd="0" presId="urn:microsoft.com/office/officeart/2016/7/layout/RepeatingBendingProcessNew"/>
    <dgm:cxn modelId="{C9594F84-CEBE-43DC-9FA3-60A5ED436AA7}" type="presParOf" srcId="{5A483D77-BB2F-429A-B94E-7BBBAD523B69}" destId="{3E1FFC56-EDF1-4D5C-AD98-2C31A680036D}" srcOrd="0" destOrd="0" presId="urn:microsoft.com/office/officeart/2016/7/layout/RepeatingBendingProcessNew"/>
    <dgm:cxn modelId="{AC6096EB-E670-48B6-B065-088FD2954B00}" type="presParOf" srcId="{D9AFBB60-46D3-482E-83AC-A404FD0BA1F0}" destId="{D221A17F-72AB-4CF3-874C-99A39EC09745}"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F4D6AF-EEC6-4E3E-95AB-F2872C556043}"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FB83ED9-4381-4A93-953D-BEFDDE034A51}">
      <dgm:prSet/>
      <dgm:spPr/>
      <dgm:t>
        <a:bodyPr/>
        <a:lstStyle/>
        <a:p>
          <a:pPr>
            <a:lnSpc>
              <a:spcPct val="100000"/>
            </a:lnSpc>
            <a:defRPr b="1"/>
          </a:pPr>
          <a:r>
            <a:rPr lang="en-US"/>
            <a:t>Add more features</a:t>
          </a:r>
        </a:p>
      </dgm:t>
    </dgm:pt>
    <dgm:pt modelId="{CF294014-9BC0-4929-B16D-7B97D8DE1DE4}" type="parTrans" cxnId="{68039484-F734-49E8-97C0-B6F457DF664F}">
      <dgm:prSet/>
      <dgm:spPr/>
      <dgm:t>
        <a:bodyPr/>
        <a:lstStyle/>
        <a:p>
          <a:endParaRPr lang="en-US"/>
        </a:p>
      </dgm:t>
    </dgm:pt>
    <dgm:pt modelId="{091A8AC7-DB9C-4155-BDD6-A757B073EC81}" type="sibTrans" cxnId="{68039484-F734-49E8-97C0-B6F457DF664F}">
      <dgm:prSet phldrT="1" phldr="0"/>
      <dgm:spPr/>
      <dgm:t>
        <a:bodyPr/>
        <a:lstStyle/>
        <a:p>
          <a:endParaRPr lang="en-US"/>
        </a:p>
      </dgm:t>
    </dgm:pt>
    <dgm:pt modelId="{06C37CC8-32F8-4E9D-8327-5B052AD7724B}">
      <dgm:prSet/>
      <dgm:spPr/>
      <dgm:t>
        <a:bodyPr/>
        <a:lstStyle/>
        <a:p>
          <a:pPr>
            <a:lnSpc>
              <a:spcPct val="100000"/>
            </a:lnSpc>
          </a:pPr>
          <a:r>
            <a:rPr lang="en-US"/>
            <a:t>Include time-based variables like Hour, Day of Week, and Season</a:t>
          </a:r>
        </a:p>
      </dgm:t>
    </dgm:pt>
    <dgm:pt modelId="{33E65D78-616E-471E-BE5D-C95CCFE1503E}" type="parTrans" cxnId="{B3B4839E-7DE8-48FE-A9AD-6ECA6017A979}">
      <dgm:prSet/>
      <dgm:spPr/>
      <dgm:t>
        <a:bodyPr/>
        <a:lstStyle/>
        <a:p>
          <a:endParaRPr lang="en-US"/>
        </a:p>
      </dgm:t>
    </dgm:pt>
    <dgm:pt modelId="{90C61C79-C543-48A9-8E5B-632004CCF52E}" type="sibTrans" cxnId="{B3B4839E-7DE8-48FE-A9AD-6ECA6017A979}">
      <dgm:prSet/>
      <dgm:spPr/>
      <dgm:t>
        <a:bodyPr/>
        <a:lstStyle/>
        <a:p>
          <a:endParaRPr lang="en-US"/>
        </a:p>
      </dgm:t>
    </dgm:pt>
    <dgm:pt modelId="{BA3834B5-1183-419B-B4D0-B094ADAE81BB}">
      <dgm:prSet/>
      <dgm:spPr/>
      <dgm:t>
        <a:bodyPr/>
        <a:lstStyle/>
        <a:p>
          <a:pPr>
            <a:lnSpc>
              <a:spcPct val="100000"/>
            </a:lnSpc>
          </a:pPr>
          <a:r>
            <a:rPr lang="en-US"/>
            <a:t>These can capture daily and weekly usage patterns</a:t>
          </a:r>
        </a:p>
      </dgm:t>
    </dgm:pt>
    <dgm:pt modelId="{9EAF87D8-2F9B-4055-BBD4-DA025FA5EA94}" type="parTrans" cxnId="{7FABCBD2-C58D-4A1F-91BF-35F76AA5D02E}">
      <dgm:prSet/>
      <dgm:spPr/>
      <dgm:t>
        <a:bodyPr/>
        <a:lstStyle/>
        <a:p>
          <a:endParaRPr lang="en-US"/>
        </a:p>
      </dgm:t>
    </dgm:pt>
    <dgm:pt modelId="{F337978D-9F05-45B4-A4A2-F2AFA2406293}" type="sibTrans" cxnId="{7FABCBD2-C58D-4A1F-91BF-35F76AA5D02E}">
      <dgm:prSet/>
      <dgm:spPr/>
      <dgm:t>
        <a:bodyPr/>
        <a:lstStyle/>
        <a:p>
          <a:endParaRPr lang="en-US"/>
        </a:p>
      </dgm:t>
    </dgm:pt>
    <dgm:pt modelId="{ACC7A208-72C3-4486-BEB3-9F99D55CD9B3}">
      <dgm:prSet/>
      <dgm:spPr/>
      <dgm:t>
        <a:bodyPr/>
        <a:lstStyle/>
        <a:p>
          <a:pPr>
            <a:lnSpc>
              <a:spcPct val="100000"/>
            </a:lnSpc>
            <a:defRPr b="1"/>
          </a:pPr>
          <a:r>
            <a:rPr lang="en-US"/>
            <a:t>Try advanced models </a:t>
          </a:r>
        </a:p>
      </dgm:t>
    </dgm:pt>
    <dgm:pt modelId="{FF21EB7C-3911-49BC-BCB7-0EBA488897DF}" type="parTrans" cxnId="{CDFA2ECB-3FCF-4251-942B-7B9B859A455E}">
      <dgm:prSet/>
      <dgm:spPr/>
      <dgm:t>
        <a:bodyPr/>
        <a:lstStyle/>
        <a:p>
          <a:endParaRPr lang="en-US"/>
        </a:p>
      </dgm:t>
    </dgm:pt>
    <dgm:pt modelId="{20058C1D-457F-498D-B22D-CB90F1AC4DE1}" type="sibTrans" cxnId="{CDFA2ECB-3FCF-4251-942B-7B9B859A455E}">
      <dgm:prSet phldrT="2" phldr="0"/>
      <dgm:spPr/>
      <dgm:t>
        <a:bodyPr/>
        <a:lstStyle/>
        <a:p>
          <a:endParaRPr lang="en-US"/>
        </a:p>
      </dgm:t>
    </dgm:pt>
    <dgm:pt modelId="{4B41D045-C735-48A6-809A-68203388487A}">
      <dgm:prSet/>
      <dgm:spPr/>
      <dgm:t>
        <a:bodyPr/>
        <a:lstStyle/>
        <a:p>
          <a:pPr>
            <a:lnSpc>
              <a:spcPct val="100000"/>
            </a:lnSpc>
          </a:pPr>
          <a:r>
            <a:rPr lang="en-US"/>
            <a:t>Use Random Forest and Gradient Boosting</a:t>
          </a:r>
        </a:p>
      </dgm:t>
    </dgm:pt>
    <dgm:pt modelId="{CC7B87E6-130F-4305-9CE2-96207AE07D8B}" type="parTrans" cxnId="{9062FCE5-E4C6-4C60-A8A6-6D68757DF5CD}">
      <dgm:prSet/>
      <dgm:spPr/>
      <dgm:t>
        <a:bodyPr/>
        <a:lstStyle/>
        <a:p>
          <a:endParaRPr lang="en-US"/>
        </a:p>
      </dgm:t>
    </dgm:pt>
    <dgm:pt modelId="{802D90E7-997D-4F6D-93A7-8F2A48996542}" type="sibTrans" cxnId="{9062FCE5-E4C6-4C60-A8A6-6D68757DF5CD}">
      <dgm:prSet/>
      <dgm:spPr/>
      <dgm:t>
        <a:bodyPr/>
        <a:lstStyle/>
        <a:p>
          <a:endParaRPr lang="en-US"/>
        </a:p>
      </dgm:t>
    </dgm:pt>
    <dgm:pt modelId="{94326F8C-46AB-4457-ADC7-05A9684D5E69}">
      <dgm:prSet/>
      <dgm:spPr/>
      <dgm:t>
        <a:bodyPr/>
        <a:lstStyle/>
        <a:p>
          <a:pPr>
            <a:lnSpc>
              <a:spcPct val="100000"/>
            </a:lnSpc>
          </a:pPr>
          <a:r>
            <a:rPr lang="en-US"/>
            <a:t>These can capture nonlinear patterns better than linear models</a:t>
          </a:r>
        </a:p>
      </dgm:t>
    </dgm:pt>
    <dgm:pt modelId="{1B9B20F8-B9D9-48DF-B585-6CEAE3C49D7B}" type="parTrans" cxnId="{F585AE15-8ACE-45AF-B485-4EA0E43A0870}">
      <dgm:prSet/>
      <dgm:spPr/>
      <dgm:t>
        <a:bodyPr/>
        <a:lstStyle/>
        <a:p>
          <a:endParaRPr lang="en-US"/>
        </a:p>
      </dgm:t>
    </dgm:pt>
    <dgm:pt modelId="{6726FC8F-BB3F-4ABE-9532-0DF24704AF4C}" type="sibTrans" cxnId="{F585AE15-8ACE-45AF-B485-4EA0E43A0870}">
      <dgm:prSet/>
      <dgm:spPr/>
      <dgm:t>
        <a:bodyPr/>
        <a:lstStyle/>
        <a:p>
          <a:endParaRPr lang="en-US"/>
        </a:p>
      </dgm:t>
    </dgm:pt>
    <dgm:pt modelId="{D490EEAF-A0DD-4B5C-A10C-C523998FFBCF}">
      <dgm:prSet/>
      <dgm:spPr/>
      <dgm:t>
        <a:bodyPr/>
        <a:lstStyle/>
        <a:p>
          <a:pPr>
            <a:lnSpc>
              <a:spcPct val="100000"/>
            </a:lnSpc>
            <a:defRPr b="1"/>
          </a:pPr>
          <a:r>
            <a:rPr lang="en-US"/>
            <a:t>Improve accuracy </a:t>
          </a:r>
        </a:p>
      </dgm:t>
    </dgm:pt>
    <dgm:pt modelId="{B4114642-2762-4B90-8E90-651A64AB2E2C}" type="parTrans" cxnId="{F3027EC2-A19F-42DF-A798-47E84952D227}">
      <dgm:prSet/>
      <dgm:spPr/>
      <dgm:t>
        <a:bodyPr/>
        <a:lstStyle/>
        <a:p>
          <a:endParaRPr lang="en-US"/>
        </a:p>
      </dgm:t>
    </dgm:pt>
    <dgm:pt modelId="{351FC220-ED01-440E-941F-198A4F39D657}" type="sibTrans" cxnId="{F3027EC2-A19F-42DF-A798-47E84952D227}">
      <dgm:prSet phldrT="3" phldr="0"/>
      <dgm:spPr/>
      <dgm:t>
        <a:bodyPr/>
        <a:lstStyle/>
        <a:p>
          <a:endParaRPr lang="en-US"/>
        </a:p>
      </dgm:t>
    </dgm:pt>
    <dgm:pt modelId="{62C2770D-42B9-46C6-A277-50806839C366}">
      <dgm:prSet/>
      <dgm:spPr/>
      <dgm:t>
        <a:bodyPr/>
        <a:lstStyle/>
        <a:p>
          <a:pPr>
            <a:lnSpc>
              <a:spcPct val="100000"/>
            </a:lnSpc>
          </a:pPr>
          <a:r>
            <a:rPr lang="en-US" dirty="0"/>
            <a:t>Incorporate non-weather factors </a:t>
          </a:r>
        </a:p>
      </dgm:t>
    </dgm:pt>
    <dgm:pt modelId="{142EFB2B-2996-4B45-81D8-6D1EB1A207E4}" type="parTrans" cxnId="{7F2C2DF9-5773-486E-9750-43F5067B1985}">
      <dgm:prSet/>
      <dgm:spPr/>
      <dgm:t>
        <a:bodyPr/>
        <a:lstStyle/>
        <a:p>
          <a:endParaRPr lang="en-US"/>
        </a:p>
      </dgm:t>
    </dgm:pt>
    <dgm:pt modelId="{4F6BBCFE-4794-491B-A66A-85138BB10EB0}" type="sibTrans" cxnId="{7F2C2DF9-5773-486E-9750-43F5067B1985}">
      <dgm:prSet/>
      <dgm:spPr/>
      <dgm:t>
        <a:bodyPr/>
        <a:lstStyle/>
        <a:p>
          <a:endParaRPr lang="en-US"/>
        </a:p>
      </dgm:t>
    </dgm:pt>
    <dgm:pt modelId="{DEA21F41-24D7-4181-B20D-B4A5EC799816}">
      <dgm:prSet/>
      <dgm:spPr/>
      <dgm:t>
        <a:bodyPr/>
        <a:lstStyle/>
        <a:p>
          <a:r>
            <a:rPr lang="en-US"/>
            <a:t>Holidays</a:t>
          </a:r>
        </a:p>
      </dgm:t>
    </dgm:pt>
    <dgm:pt modelId="{3FEC1256-98D9-416E-819F-307EBFD12694}" type="parTrans" cxnId="{F646330F-8283-4D39-8F1D-3702BC5CF60C}">
      <dgm:prSet/>
      <dgm:spPr/>
      <dgm:t>
        <a:bodyPr/>
        <a:lstStyle/>
        <a:p>
          <a:endParaRPr lang="en-US"/>
        </a:p>
      </dgm:t>
    </dgm:pt>
    <dgm:pt modelId="{954899A2-DCD7-4600-B732-FDD1254A80A0}" type="sibTrans" cxnId="{F646330F-8283-4D39-8F1D-3702BC5CF60C}">
      <dgm:prSet/>
      <dgm:spPr/>
      <dgm:t>
        <a:bodyPr/>
        <a:lstStyle/>
        <a:p>
          <a:endParaRPr lang="en-US"/>
        </a:p>
      </dgm:t>
    </dgm:pt>
    <dgm:pt modelId="{94C760C4-1312-4F03-9FA8-1FF5663638EE}">
      <dgm:prSet/>
      <dgm:spPr/>
      <dgm:t>
        <a:bodyPr/>
        <a:lstStyle/>
        <a:p>
          <a:r>
            <a:rPr lang="en-US"/>
            <a:t>Human activity patterns</a:t>
          </a:r>
        </a:p>
      </dgm:t>
    </dgm:pt>
    <dgm:pt modelId="{2A55B571-44E3-4F23-8E03-5073E12EC319}" type="parTrans" cxnId="{D53A9FD4-D8CD-43F3-A61B-4C56CC72ED21}">
      <dgm:prSet/>
      <dgm:spPr/>
      <dgm:t>
        <a:bodyPr/>
        <a:lstStyle/>
        <a:p>
          <a:endParaRPr lang="en-US"/>
        </a:p>
      </dgm:t>
    </dgm:pt>
    <dgm:pt modelId="{64D57DF4-D42F-4607-9F26-1830EB7752D3}" type="sibTrans" cxnId="{D53A9FD4-D8CD-43F3-A61B-4C56CC72ED21}">
      <dgm:prSet/>
      <dgm:spPr/>
      <dgm:t>
        <a:bodyPr/>
        <a:lstStyle/>
        <a:p>
          <a:endParaRPr lang="en-US"/>
        </a:p>
      </dgm:t>
    </dgm:pt>
    <dgm:pt modelId="{A2F4EA8D-EE35-4F0E-A171-E232E68EC97F}">
      <dgm:prSet/>
      <dgm:spPr/>
      <dgm:t>
        <a:bodyPr/>
        <a:lstStyle/>
        <a:p>
          <a:r>
            <a:rPr lang="en-US"/>
            <a:t>Energy demand trends</a:t>
          </a:r>
        </a:p>
      </dgm:t>
    </dgm:pt>
    <dgm:pt modelId="{0C3047A3-7DB0-45D3-94F5-7ACA488A80DB}" type="parTrans" cxnId="{8E896753-19D9-4CB1-95B2-C3CCC0C37A12}">
      <dgm:prSet/>
      <dgm:spPr/>
      <dgm:t>
        <a:bodyPr/>
        <a:lstStyle/>
        <a:p>
          <a:endParaRPr lang="en-US"/>
        </a:p>
      </dgm:t>
    </dgm:pt>
    <dgm:pt modelId="{29C9E2F9-EE26-45F5-89AE-99B576892F58}" type="sibTrans" cxnId="{8E896753-19D9-4CB1-95B2-C3CCC0C37A12}">
      <dgm:prSet/>
      <dgm:spPr/>
      <dgm:t>
        <a:bodyPr/>
        <a:lstStyle/>
        <a:p>
          <a:endParaRPr lang="en-US"/>
        </a:p>
      </dgm:t>
    </dgm:pt>
    <dgm:pt modelId="{06D723D9-149A-4763-8B75-FBA0FA00D2D2}" type="pres">
      <dgm:prSet presAssocID="{A1F4D6AF-EEC6-4E3E-95AB-F2872C556043}" presName="root" presStyleCnt="0">
        <dgm:presLayoutVars>
          <dgm:dir/>
          <dgm:resizeHandles val="exact"/>
        </dgm:presLayoutVars>
      </dgm:prSet>
      <dgm:spPr/>
    </dgm:pt>
    <dgm:pt modelId="{E3621A5E-ED83-40D6-963F-5F1EE4C7D4F0}" type="pres">
      <dgm:prSet presAssocID="{EFB83ED9-4381-4A93-953D-BEFDDE034A51}" presName="compNode" presStyleCnt="0"/>
      <dgm:spPr/>
    </dgm:pt>
    <dgm:pt modelId="{6A1FE156-9C1B-4218-9A62-32129B3225E3}" type="pres">
      <dgm:prSet presAssocID="{EFB83ED9-4381-4A93-953D-BEFDDE034A51}"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artial Sun"/>
        </a:ext>
      </dgm:extLst>
    </dgm:pt>
    <dgm:pt modelId="{6CA730C6-0ED5-48AB-9B24-1CE2B2DB5E9B}" type="pres">
      <dgm:prSet presAssocID="{EFB83ED9-4381-4A93-953D-BEFDDE034A51}" presName="iconSpace" presStyleCnt="0"/>
      <dgm:spPr/>
    </dgm:pt>
    <dgm:pt modelId="{4975B277-B576-4209-8B18-D15BD9B15761}" type="pres">
      <dgm:prSet presAssocID="{EFB83ED9-4381-4A93-953D-BEFDDE034A51}" presName="parTx" presStyleLbl="revTx" presStyleIdx="0" presStyleCnt="6">
        <dgm:presLayoutVars>
          <dgm:chMax val="0"/>
          <dgm:chPref val="0"/>
        </dgm:presLayoutVars>
      </dgm:prSet>
      <dgm:spPr/>
    </dgm:pt>
    <dgm:pt modelId="{57C8F871-1A98-4203-917A-FB87162298BF}" type="pres">
      <dgm:prSet presAssocID="{EFB83ED9-4381-4A93-953D-BEFDDE034A51}" presName="txSpace" presStyleCnt="0"/>
      <dgm:spPr/>
    </dgm:pt>
    <dgm:pt modelId="{FACCAA02-6FD4-4DCF-B365-E3B1EEF442D1}" type="pres">
      <dgm:prSet presAssocID="{EFB83ED9-4381-4A93-953D-BEFDDE034A51}" presName="desTx" presStyleLbl="revTx" presStyleIdx="1" presStyleCnt="6">
        <dgm:presLayoutVars/>
      </dgm:prSet>
      <dgm:spPr/>
    </dgm:pt>
    <dgm:pt modelId="{C1B2792D-9D26-4BE2-BB0D-E28A62712152}" type="pres">
      <dgm:prSet presAssocID="{091A8AC7-DB9C-4155-BDD6-A757B073EC81}" presName="sibTrans" presStyleCnt="0"/>
      <dgm:spPr/>
    </dgm:pt>
    <dgm:pt modelId="{6E1A4AFE-617E-4827-B09F-56DDBF0FDFE5}" type="pres">
      <dgm:prSet presAssocID="{ACC7A208-72C3-4486-BEB3-9F99D55CD9B3}" presName="compNode" presStyleCnt="0"/>
      <dgm:spPr/>
    </dgm:pt>
    <dgm:pt modelId="{AC48492F-BA94-4AA2-8E18-257793FFCF6E}" type="pres">
      <dgm:prSet presAssocID="{ACC7A208-72C3-4486-BEB3-9F99D55CD9B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BDA2C40C-3EAE-4C42-9A09-C3CE2FBBAC8F}" type="pres">
      <dgm:prSet presAssocID="{ACC7A208-72C3-4486-BEB3-9F99D55CD9B3}" presName="iconSpace" presStyleCnt="0"/>
      <dgm:spPr/>
    </dgm:pt>
    <dgm:pt modelId="{22342ADF-D11D-4988-B20D-397E502F8912}" type="pres">
      <dgm:prSet presAssocID="{ACC7A208-72C3-4486-BEB3-9F99D55CD9B3}" presName="parTx" presStyleLbl="revTx" presStyleIdx="2" presStyleCnt="6">
        <dgm:presLayoutVars>
          <dgm:chMax val="0"/>
          <dgm:chPref val="0"/>
        </dgm:presLayoutVars>
      </dgm:prSet>
      <dgm:spPr/>
    </dgm:pt>
    <dgm:pt modelId="{E8B6D920-BB97-47FB-8888-ABE2298C9BCF}" type="pres">
      <dgm:prSet presAssocID="{ACC7A208-72C3-4486-BEB3-9F99D55CD9B3}" presName="txSpace" presStyleCnt="0"/>
      <dgm:spPr/>
    </dgm:pt>
    <dgm:pt modelId="{9AE5E7A3-272D-456C-B0F5-7EEEE4A6AB9C}" type="pres">
      <dgm:prSet presAssocID="{ACC7A208-72C3-4486-BEB3-9F99D55CD9B3}" presName="desTx" presStyleLbl="revTx" presStyleIdx="3" presStyleCnt="6">
        <dgm:presLayoutVars/>
      </dgm:prSet>
      <dgm:spPr/>
    </dgm:pt>
    <dgm:pt modelId="{3C38FC03-9CB1-45A1-AF99-2E3D9423E7BB}" type="pres">
      <dgm:prSet presAssocID="{20058C1D-457F-498D-B22D-CB90F1AC4DE1}" presName="sibTrans" presStyleCnt="0"/>
      <dgm:spPr/>
    </dgm:pt>
    <dgm:pt modelId="{BB5FEFAF-9D75-457C-966D-EE9C2F4D77A0}" type="pres">
      <dgm:prSet presAssocID="{D490EEAF-A0DD-4B5C-A10C-C523998FFBCF}" presName="compNode" presStyleCnt="0"/>
      <dgm:spPr/>
    </dgm:pt>
    <dgm:pt modelId="{952E2A94-2684-4072-BBF1-9D15704CAED7}" type="pres">
      <dgm:prSet presAssocID="{D490EEAF-A0DD-4B5C-A10C-C523998FFBC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un"/>
        </a:ext>
      </dgm:extLst>
    </dgm:pt>
    <dgm:pt modelId="{180A7789-A15E-47F2-ADDC-6A7A7CFDE11B}" type="pres">
      <dgm:prSet presAssocID="{D490EEAF-A0DD-4B5C-A10C-C523998FFBCF}" presName="iconSpace" presStyleCnt="0"/>
      <dgm:spPr/>
    </dgm:pt>
    <dgm:pt modelId="{2CD8F836-182E-4D44-B046-89F9B9FC153D}" type="pres">
      <dgm:prSet presAssocID="{D490EEAF-A0DD-4B5C-A10C-C523998FFBCF}" presName="parTx" presStyleLbl="revTx" presStyleIdx="4" presStyleCnt="6">
        <dgm:presLayoutVars>
          <dgm:chMax val="0"/>
          <dgm:chPref val="0"/>
        </dgm:presLayoutVars>
      </dgm:prSet>
      <dgm:spPr/>
    </dgm:pt>
    <dgm:pt modelId="{F57C006F-7343-4D2E-AC18-62A703DE8261}" type="pres">
      <dgm:prSet presAssocID="{D490EEAF-A0DD-4B5C-A10C-C523998FFBCF}" presName="txSpace" presStyleCnt="0"/>
      <dgm:spPr/>
    </dgm:pt>
    <dgm:pt modelId="{1E350DA1-B40A-4048-BC67-CCA36FE90027}" type="pres">
      <dgm:prSet presAssocID="{D490EEAF-A0DD-4B5C-A10C-C523998FFBCF}" presName="desTx" presStyleLbl="revTx" presStyleIdx="5" presStyleCnt="6">
        <dgm:presLayoutVars/>
      </dgm:prSet>
      <dgm:spPr/>
    </dgm:pt>
  </dgm:ptLst>
  <dgm:cxnLst>
    <dgm:cxn modelId="{F646330F-8283-4D39-8F1D-3702BC5CF60C}" srcId="{62C2770D-42B9-46C6-A277-50806839C366}" destId="{DEA21F41-24D7-4181-B20D-B4A5EC799816}" srcOrd="0" destOrd="0" parTransId="{3FEC1256-98D9-416E-819F-307EBFD12694}" sibTransId="{954899A2-DCD7-4600-B732-FDD1254A80A0}"/>
    <dgm:cxn modelId="{F585AE15-8ACE-45AF-B485-4EA0E43A0870}" srcId="{ACC7A208-72C3-4486-BEB3-9F99D55CD9B3}" destId="{94326F8C-46AB-4457-ADC7-05A9684D5E69}" srcOrd="1" destOrd="0" parTransId="{1B9B20F8-B9D9-48DF-B585-6CEAE3C49D7B}" sibTransId="{6726FC8F-BB3F-4ABE-9532-0DF24704AF4C}"/>
    <dgm:cxn modelId="{2AD07E2A-DFCE-4D52-BFE4-B6FC0E066BF8}" type="presOf" srcId="{DEA21F41-24D7-4181-B20D-B4A5EC799816}" destId="{1E350DA1-B40A-4048-BC67-CCA36FE90027}" srcOrd="0" destOrd="1" presId="urn:microsoft.com/office/officeart/2018/2/layout/IconLabelDescriptionList"/>
    <dgm:cxn modelId="{E42E9732-F68F-48D8-869F-C909D1312D0B}" type="presOf" srcId="{BA3834B5-1183-419B-B4D0-B094ADAE81BB}" destId="{FACCAA02-6FD4-4DCF-B365-E3B1EEF442D1}" srcOrd="0" destOrd="1" presId="urn:microsoft.com/office/officeart/2018/2/layout/IconLabelDescriptionList"/>
    <dgm:cxn modelId="{B47C6E5F-74CC-4A63-8FBB-3AEC025A2E37}" type="presOf" srcId="{06C37CC8-32F8-4E9D-8327-5B052AD7724B}" destId="{FACCAA02-6FD4-4DCF-B365-E3B1EEF442D1}" srcOrd="0" destOrd="0" presId="urn:microsoft.com/office/officeart/2018/2/layout/IconLabelDescriptionList"/>
    <dgm:cxn modelId="{8E896753-19D9-4CB1-95B2-C3CCC0C37A12}" srcId="{62C2770D-42B9-46C6-A277-50806839C366}" destId="{A2F4EA8D-EE35-4F0E-A171-E232E68EC97F}" srcOrd="2" destOrd="0" parTransId="{0C3047A3-7DB0-45D3-94F5-7ACA488A80DB}" sibTransId="{29C9E2F9-EE26-45F5-89AE-99B576892F58}"/>
    <dgm:cxn modelId="{B2A11E58-03A1-4446-B973-45980003C809}" type="presOf" srcId="{D490EEAF-A0DD-4B5C-A10C-C523998FFBCF}" destId="{2CD8F836-182E-4D44-B046-89F9B9FC153D}" srcOrd="0" destOrd="0" presId="urn:microsoft.com/office/officeart/2018/2/layout/IconLabelDescriptionList"/>
    <dgm:cxn modelId="{68039484-F734-49E8-97C0-B6F457DF664F}" srcId="{A1F4D6AF-EEC6-4E3E-95AB-F2872C556043}" destId="{EFB83ED9-4381-4A93-953D-BEFDDE034A51}" srcOrd="0" destOrd="0" parTransId="{CF294014-9BC0-4929-B16D-7B97D8DE1DE4}" sibTransId="{091A8AC7-DB9C-4155-BDD6-A757B073EC81}"/>
    <dgm:cxn modelId="{8ADD658E-49FB-4FFA-BD37-CA4C1F262B2A}" type="presOf" srcId="{94326F8C-46AB-4457-ADC7-05A9684D5E69}" destId="{9AE5E7A3-272D-456C-B0F5-7EEEE4A6AB9C}" srcOrd="0" destOrd="1" presId="urn:microsoft.com/office/officeart/2018/2/layout/IconLabelDescriptionList"/>
    <dgm:cxn modelId="{B3B4839E-7DE8-48FE-A9AD-6ECA6017A979}" srcId="{EFB83ED9-4381-4A93-953D-BEFDDE034A51}" destId="{06C37CC8-32F8-4E9D-8327-5B052AD7724B}" srcOrd="0" destOrd="0" parTransId="{33E65D78-616E-471E-BE5D-C95CCFE1503E}" sibTransId="{90C61C79-C543-48A9-8E5B-632004CCF52E}"/>
    <dgm:cxn modelId="{31E17CA9-C2EC-406D-A040-B8D4F69389EB}" type="presOf" srcId="{4B41D045-C735-48A6-809A-68203388487A}" destId="{9AE5E7A3-272D-456C-B0F5-7EEEE4A6AB9C}" srcOrd="0" destOrd="0" presId="urn:microsoft.com/office/officeart/2018/2/layout/IconLabelDescriptionList"/>
    <dgm:cxn modelId="{54DD8BB4-6F5E-47A5-9BF8-37B4483A0D07}" type="presOf" srcId="{A1F4D6AF-EEC6-4E3E-95AB-F2872C556043}" destId="{06D723D9-149A-4763-8B75-FBA0FA00D2D2}" srcOrd="0" destOrd="0" presId="urn:microsoft.com/office/officeart/2018/2/layout/IconLabelDescriptionList"/>
    <dgm:cxn modelId="{D8E558B5-FF20-4E6A-9FC9-7FCEF950EAA5}" type="presOf" srcId="{EFB83ED9-4381-4A93-953D-BEFDDE034A51}" destId="{4975B277-B576-4209-8B18-D15BD9B15761}" srcOrd="0" destOrd="0" presId="urn:microsoft.com/office/officeart/2018/2/layout/IconLabelDescriptionList"/>
    <dgm:cxn modelId="{F3027EC2-A19F-42DF-A798-47E84952D227}" srcId="{A1F4D6AF-EEC6-4E3E-95AB-F2872C556043}" destId="{D490EEAF-A0DD-4B5C-A10C-C523998FFBCF}" srcOrd="2" destOrd="0" parTransId="{B4114642-2762-4B90-8E90-651A64AB2E2C}" sibTransId="{351FC220-ED01-440E-941F-198A4F39D657}"/>
    <dgm:cxn modelId="{08B462C3-48AB-4926-B1E8-05DD28FB19D0}" type="presOf" srcId="{ACC7A208-72C3-4486-BEB3-9F99D55CD9B3}" destId="{22342ADF-D11D-4988-B20D-397E502F8912}" srcOrd="0" destOrd="0" presId="urn:microsoft.com/office/officeart/2018/2/layout/IconLabelDescriptionList"/>
    <dgm:cxn modelId="{9B2CD5C8-2C4A-4D81-BCF1-01A779F9047B}" type="presOf" srcId="{62C2770D-42B9-46C6-A277-50806839C366}" destId="{1E350DA1-B40A-4048-BC67-CCA36FE90027}" srcOrd="0" destOrd="0" presId="urn:microsoft.com/office/officeart/2018/2/layout/IconLabelDescriptionList"/>
    <dgm:cxn modelId="{41C61FCB-25EA-4996-95AB-70CC027A3548}" type="presOf" srcId="{94C760C4-1312-4F03-9FA8-1FF5663638EE}" destId="{1E350DA1-B40A-4048-BC67-CCA36FE90027}" srcOrd="0" destOrd="2" presId="urn:microsoft.com/office/officeart/2018/2/layout/IconLabelDescriptionList"/>
    <dgm:cxn modelId="{CDFA2ECB-3FCF-4251-942B-7B9B859A455E}" srcId="{A1F4D6AF-EEC6-4E3E-95AB-F2872C556043}" destId="{ACC7A208-72C3-4486-BEB3-9F99D55CD9B3}" srcOrd="1" destOrd="0" parTransId="{FF21EB7C-3911-49BC-BCB7-0EBA488897DF}" sibTransId="{20058C1D-457F-498D-B22D-CB90F1AC4DE1}"/>
    <dgm:cxn modelId="{7FABCBD2-C58D-4A1F-91BF-35F76AA5D02E}" srcId="{EFB83ED9-4381-4A93-953D-BEFDDE034A51}" destId="{BA3834B5-1183-419B-B4D0-B094ADAE81BB}" srcOrd="1" destOrd="0" parTransId="{9EAF87D8-2F9B-4055-BBD4-DA025FA5EA94}" sibTransId="{F337978D-9F05-45B4-A4A2-F2AFA2406293}"/>
    <dgm:cxn modelId="{B5FB12D4-5F5A-463B-B407-2C0126191B37}" type="presOf" srcId="{A2F4EA8D-EE35-4F0E-A171-E232E68EC97F}" destId="{1E350DA1-B40A-4048-BC67-CCA36FE90027}" srcOrd="0" destOrd="3" presId="urn:microsoft.com/office/officeart/2018/2/layout/IconLabelDescriptionList"/>
    <dgm:cxn modelId="{D53A9FD4-D8CD-43F3-A61B-4C56CC72ED21}" srcId="{62C2770D-42B9-46C6-A277-50806839C366}" destId="{94C760C4-1312-4F03-9FA8-1FF5663638EE}" srcOrd="1" destOrd="0" parTransId="{2A55B571-44E3-4F23-8E03-5073E12EC319}" sibTransId="{64D57DF4-D42F-4607-9F26-1830EB7752D3}"/>
    <dgm:cxn modelId="{9062FCE5-E4C6-4C60-A8A6-6D68757DF5CD}" srcId="{ACC7A208-72C3-4486-BEB3-9F99D55CD9B3}" destId="{4B41D045-C735-48A6-809A-68203388487A}" srcOrd="0" destOrd="0" parTransId="{CC7B87E6-130F-4305-9CE2-96207AE07D8B}" sibTransId="{802D90E7-997D-4F6D-93A7-8F2A48996542}"/>
    <dgm:cxn modelId="{7F2C2DF9-5773-486E-9750-43F5067B1985}" srcId="{D490EEAF-A0DD-4B5C-A10C-C523998FFBCF}" destId="{62C2770D-42B9-46C6-A277-50806839C366}" srcOrd="0" destOrd="0" parTransId="{142EFB2B-2996-4B45-81D8-6D1EB1A207E4}" sibTransId="{4F6BBCFE-4794-491B-A66A-85138BB10EB0}"/>
    <dgm:cxn modelId="{F56B5787-DF5A-4A4D-9733-0F0DDD2A63B7}" type="presParOf" srcId="{06D723D9-149A-4763-8B75-FBA0FA00D2D2}" destId="{E3621A5E-ED83-40D6-963F-5F1EE4C7D4F0}" srcOrd="0" destOrd="0" presId="urn:microsoft.com/office/officeart/2018/2/layout/IconLabelDescriptionList"/>
    <dgm:cxn modelId="{CE8A48D9-A18A-40D3-96C6-48DB8F66A33D}" type="presParOf" srcId="{E3621A5E-ED83-40D6-963F-5F1EE4C7D4F0}" destId="{6A1FE156-9C1B-4218-9A62-32129B3225E3}" srcOrd="0" destOrd="0" presId="urn:microsoft.com/office/officeart/2018/2/layout/IconLabelDescriptionList"/>
    <dgm:cxn modelId="{41F05201-8807-4148-9FB7-84CDB23DB133}" type="presParOf" srcId="{E3621A5E-ED83-40D6-963F-5F1EE4C7D4F0}" destId="{6CA730C6-0ED5-48AB-9B24-1CE2B2DB5E9B}" srcOrd="1" destOrd="0" presId="urn:microsoft.com/office/officeart/2018/2/layout/IconLabelDescriptionList"/>
    <dgm:cxn modelId="{71502B57-F03B-4433-9B21-AEEE1263D35C}" type="presParOf" srcId="{E3621A5E-ED83-40D6-963F-5F1EE4C7D4F0}" destId="{4975B277-B576-4209-8B18-D15BD9B15761}" srcOrd="2" destOrd="0" presId="urn:microsoft.com/office/officeart/2018/2/layout/IconLabelDescriptionList"/>
    <dgm:cxn modelId="{A4C772E7-2BA4-473C-A798-F27DC5618D51}" type="presParOf" srcId="{E3621A5E-ED83-40D6-963F-5F1EE4C7D4F0}" destId="{57C8F871-1A98-4203-917A-FB87162298BF}" srcOrd="3" destOrd="0" presId="urn:microsoft.com/office/officeart/2018/2/layout/IconLabelDescriptionList"/>
    <dgm:cxn modelId="{D865BCEB-A151-455E-8DD8-1EF3F41939AC}" type="presParOf" srcId="{E3621A5E-ED83-40D6-963F-5F1EE4C7D4F0}" destId="{FACCAA02-6FD4-4DCF-B365-E3B1EEF442D1}" srcOrd="4" destOrd="0" presId="urn:microsoft.com/office/officeart/2018/2/layout/IconLabelDescriptionList"/>
    <dgm:cxn modelId="{5D2E8A95-D87B-410D-A59F-5913A8E61FA6}" type="presParOf" srcId="{06D723D9-149A-4763-8B75-FBA0FA00D2D2}" destId="{C1B2792D-9D26-4BE2-BB0D-E28A62712152}" srcOrd="1" destOrd="0" presId="urn:microsoft.com/office/officeart/2018/2/layout/IconLabelDescriptionList"/>
    <dgm:cxn modelId="{30CE072B-39A2-4A5A-9877-F510BEBFDF98}" type="presParOf" srcId="{06D723D9-149A-4763-8B75-FBA0FA00D2D2}" destId="{6E1A4AFE-617E-4827-B09F-56DDBF0FDFE5}" srcOrd="2" destOrd="0" presId="urn:microsoft.com/office/officeart/2018/2/layout/IconLabelDescriptionList"/>
    <dgm:cxn modelId="{BF6C09CE-7A89-44C9-AD46-4B88A1804102}" type="presParOf" srcId="{6E1A4AFE-617E-4827-B09F-56DDBF0FDFE5}" destId="{AC48492F-BA94-4AA2-8E18-257793FFCF6E}" srcOrd="0" destOrd="0" presId="urn:microsoft.com/office/officeart/2018/2/layout/IconLabelDescriptionList"/>
    <dgm:cxn modelId="{94319105-1D2E-4070-BC72-B69785DC6F42}" type="presParOf" srcId="{6E1A4AFE-617E-4827-B09F-56DDBF0FDFE5}" destId="{BDA2C40C-3EAE-4C42-9A09-C3CE2FBBAC8F}" srcOrd="1" destOrd="0" presId="urn:microsoft.com/office/officeart/2018/2/layout/IconLabelDescriptionList"/>
    <dgm:cxn modelId="{0A3A1B85-DBBB-4C34-A249-1B65FAE06B3B}" type="presParOf" srcId="{6E1A4AFE-617E-4827-B09F-56DDBF0FDFE5}" destId="{22342ADF-D11D-4988-B20D-397E502F8912}" srcOrd="2" destOrd="0" presId="urn:microsoft.com/office/officeart/2018/2/layout/IconLabelDescriptionList"/>
    <dgm:cxn modelId="{B1E25C2F-6470-4C58-BF0E-E4ABF13CE4C7}" type="presParOf" srcId="{6E1A4AFE-617E-4827-B09F-56DDBF0FDFE5}" destId="{E8B6D920-BB97-47FB-8888-ABE2298C9BCF}" srcOrd="3" destOrd="0" presId="urn:microsoft.com/office/officeart/2018/2/layout/IconLabelDescriptionList"/>
    <dgm:cxn modelId="{01634EDC-9618-484A-9723-FEC55B5D16E2}" type="presParOf" srcId="{6E1A4AFE-617E-4827-B09F-56DDBF0FDFE5}" destId="{9AE5E7A3-272D-456C-B0F5-7EEEE4A6AB9C}" srcOrd="4" destOrd="0" presId="urn:microsoft.com/office/officeart/2018/2/layout/IconLabelDescriptionList"/>
    <dgm:cxn modelId="{EC8DD86E-6CA8-41CA-A48D-1A50CC36D4A4}" type="presParOf" srcId="{06D723D9-149A-4763-8B75-FBA0FA00D2D2}" destId="{3C38FC03-9CB1-45A1-AF99-2E3D9423E7BB}" srcOrd="3" destOrd="0" presId="urn:microsoft.com/office/officeart/2018/2/layout/IconLabelDescriptionList"/>
    <dgm:cxn modelId="{978FBC6F-2DED-4B66-90EB-D30C8B24DB2F}" type="presParOf" srcId="{06D723D9-149A-4763-8B75-FBA0FA00D2D2}" destId="{BB5FEFAF-9D75-457C-966D-EE9C2F4D77A0}" srcOrd="4" destOrd="0" presId="urn:microsoft.com/office/officeart/2018/2/layout/IconLabelDescriptionList"/>
    <dgm:cxn modelId="{E92F12A3-28AC-4E0B-A1C1-6F541F2E37F8}" type="presParOf" srcId="{BB5FEFAF-9D75-457C-966D-EE9C2F4D77A0}" destId="{952E2A94-2684-4072-BBF1-9D15704CAED7}" srcOrd="0" destOrd="0" presId="urn:microsoft.com/office/officeart/2018/2/layout/IconLabelDescriptionList"/>
    <dgm:cxn modelId="{F0658FA3-2E90-4DBE-9C4B-EF24408D2F3F}" type="presParOf" srcId="{BB5FEFAF-9D75-457C-966D-EE9C2F4D77A0}" destId="{180A7789-A15E-47F2-ADDC-6A7A7CFDE11B}" srcOrd="1" destOrd="0" presId="urn:microsoft.com/office/officeart/2018/2/layout/IconLabelDescriptionList"/>
    <dgm:cxn modelId="{D9C603A9-C0E4-4682-A60D-2BD8B5EB7A10}" type="presParOf" srcId="{BB5FEFAF-9D75-457C-966D-EE9C2F4D77A0}" destId="{2CD8F836-182E-4D44-B046-89F9B9FC153D}" srcOrd="2" destOrd="0" presId="urn:microsoft.com/office/officeart/2018/2/layout/IconLabelDescriptionList"/>
    <dgm:cxn modelId="{690F8C56-FE7F-49BD-A123-8A8DBB41F400}" type="presParOf" srcId="{BB5FEFAF-9D75-457C-966D-EE9C2F4D77A0}" destId="{F57C006F-7343-4D2E-AC18-62A703DE8261}" srcOrd="3" destOrd="0" presId="urn:microsoft.com/office/officeart/2018/2/layout/IconLabelDescriptionList"/>
    <dgm:cxn modelId="{7265DA83-1836-40F7-B121-778379718652}" type="presParOf" srcId="{BB5FEFAF-9D75-457C-966D-EE9C2F4D77A0}" destId="{1E350DA1-B40A-4048-BC67-CCA36FE90027}"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115865-7F41-403E-8BBC-EEDE1B71A19C}">
      <dsp:nvSpPr>
        <dsp:cNvPr id="0" name=""/>
        <dsp:cNvSpPr/>
      </dsp:nvSpPr>
      <dsp:spPr>
        <a:xfrm>
          <a:off x="3178" y="374655"/>
          <a:ext cx="1151718" cy="11517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9E1710-1657-409F-AE0F-87A5C7F753A0}">
      <dsp:nvSpPr>
        <dsp:cNvPr id="0" name=""/>
        <dsp:cNvSpPr/>
      </dsp:nvSpPr>
      <dsp:spPr>
        <a:xfrm>
          <a:off x="3178" y="1652318"/>
          <a:ext cx="3290624" cy="49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90000"/>
            </a:lnSpc>
            <a:spcBef>
              <a:spcPct val="0"/>
            </a:spcBef>
            <a:spcAft>
              <a:spcPct val="35000"/>
            </a:spcAft>
            <a:buNone/>
            <a:defRPr b="1"/>
          </a:pPr>
          <a:r>
            <a:rPr lang="en-US" sz="1900" b="1" kern="1200"/>
            <a:t>Main Question :</a:t>
          </a:r>
          <a:endParaRPr lang="en-US" sz="1900" kern="1200"/>
        </a:p>
      </dsp:txBody>
      <dsp:txXfrm>
        <a:off x="3178" y="1652318"/>
        <a:ext cx="3290624" cy="493593"/>
      </dsp:txXfrm>
    </dsp:sp>
    <dsp:sp modelId="{A9A60EBB-D1BE-455E-9CB2-89DCA49C4F0D}">
      <dsp:nvSpPr>
        <dsp:cNvPr id="0" name=""/>
        <dsp:cNvSpPr/>
      </dsp:nvSpPr>
      <dsp:spPr>
        <a:xfrm>
          <a:off x="3178" y="2204490"/>
          <a:ext cx="3290624" cy="1099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Which weather variables are the best predictors of Zone 1 power consumption in </a:t>
          </a:r>
          <a:r>
            <a:rPr lang="en-US" sz="1600" kern="1200" dirty="0" err="1"/>
            <a:t>Tetouan</a:t>
          </a:r>
          <a:r>
            <a:rPr lang="en-US" sz="1600" kern="1200" dirty="0"/>
            <a:t> City?</a:t>
          </a:r>
        </a:p>
      </dsp:txBody>
      <dsp:txXfrm>
        <a:off x="3178" y="2204490"/>
        <a:ext cx="3290624" cy="1099091"/>
      </dsp:txXfrm>
    </dsp:sp>
    <dsp:sp modelId="{E0F35509-814E-4879-97B8-F888F1CE1F59}">
      <dsp:nvSpPr>
        <dsp:cNvPr id="0" name=""/>
        <dsp:cNvSpPr/>
      </dsp:nvSpPr>
      <dsp:spPr>
        <a:xfrm>
          <a:off x="3869662" y="374655"/>
          <a:ext cx="1151718" cy="11517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E25221-8785-4078-8782-691B6588972B}">
      <dsp:nvSpPr>
        <dsp:cNvPr id="0" name=""/>
        <dsp:cNvSpPr/>
      </dsp:nvSpPr>
      <dsp:spPr>
        <a:xfrm>
          <a:off x="3869662" y="1652318"/>
          <a:ext cx="3290624" cy="49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90000"/>
            </a:lnSpc>
            <a:spcBef>
              <a:spcPct val="0"/>
            </a:spcBef>
            <a:spcAft>
              <a:spcPct val="35000"/>
            </a:spcAft>
            <a:buNone/>
            <a:defRPr b="1"/>
          </a:pPr>
          <a:r>
            <a:rPr lang="en-US" sz="1900" b="1" kern="1200"/>
            <a:t>Predictor Variables Studied : </a:t>
          </a:r>
          <a:endParaRPr lang="en-US" sz="1900" kern="1200"/>
        </a:p>
      </dsp:txBody>
      <dsp:txXfrm>
        <a:off x="3869662" y="1652318"/>
        <a:ext cx="3290624" cy="493593"/>
      </dsp:txXfrm>
    </dsp:sp>
    <dsp:sp modelId="{1D338E74-89C2-43E4-B43F-6537763F6A62}">
      <dsp:nvSpPr>
        <dsp:cNvPr id="0" name=""/>
        <dsp:cNvSpPr/>
      </dsp:nvSpPr>
      <dsp:spPr>
        <a:xfrm>
          <a:off x="3869662" y="2204490"/>
          <a:ext cx="3290624" cy="1099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b="0" kern="1200" dirty="0"/>
            <a:t>Temperature </a:t>
          </a:r>
        </a:p>
        <a:p>
          <a:pPr marL="0" lvl="0" indent="0" algn="l" defTabSz="711200">
            <a:lnSpc>
              <a:spcPct val="90000"/>
            </a:lnSpc>
            <a:spcBef>
              <a:spcPct val="0"/>
            </a:spcBef>
            <a:spcAft>
              <a:spcPct val="35000"/>
            </a:spcAft>
            <a:buNone/>
          </a:pPr>
          <a:r>
            <a:rPr lang="en-US" sz="1600" b="0" kern="1200"/>
            <a:t>Humidity </a:t>
          </a:r>
        </a:p>
        <a:p>
          <a:pPr marL="0" lvl="0" indent="0" algn="l" defTabSz="711200">
            <a:lnSpc>
              <a:spcPct val="90000"/>
            </a:lnSpc>
            <a:spcBef>
              <a:spcPct val="0"/>
            </a:spcBef>
            <a:spcAft>
              <a:spcPct val="35000"/>
            </a:spcAft>
            <a:buNone/>
          </a:pPr>
          <a:r>
            <a:rPr lang="en-US" sz="1600" b="0" kern="1200" dirty="0"/>
            <a:t>Windspeed </a:t>
          </a:r>
        </a:p>
        <a:p>
          <a:pPr marL="0" lvl="0" indent="0" algn="l" defTabSz="711200">
            <a:lnSpc>
              <a:spcPct val="90000"/>
            </a:lnSpc>
            <a:spcBef>
              <a:spcPct val="0"/>
            </a:spcBef>
            <a:spcAft>
              <a:spcPct val="35000"/>
            </a:spcAft>
            <a:buNone/>
          </a:pPr>
          <a:r>
            <a:rPr lang="en-US" sz="1600" b="0" kern="1200" dirty="0"/>
            <a:t>General Diffuse Flows</a:t>
          </a:r>
        </a:p>
      </dsp:txBody>
      <dsp:txXfrm>
        <a:off x="3869662" y="2204490"/>
        <a:ext cx="3290624" cy="1099091"/>
      </dsp:txXfrm>
    </dsp:sp>
    <dsp:sp modelId="{18EC1E16-5FC1-4548-9584-840D9A9DCA9B}">
      <dsp:nvSpPr>
        <dsp:cNvPr id="0" name=""/>
        <dsp:cNvSpPr/>
      </dsp:nvSpPr>
      <dsp:spPr>
        <a:xfrm>
          <a:off x="7736146" y="374655"/>
          <a:ext cx="1151718" cy="11517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32BA87-FB8B-4DB6-8535-0603065563E4}">
      <dsp:nvSpPr>
        <dsp:cNvPr id="0" name=""/>
        <dsp:cNvSpPr/>
      </dsp:nvSpPr>
      <dsp:spPr>
        <a:xfrm>
          <a:off x="7736146" y="1652318"/>
          <a:ext cx="3290624" cy="49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90000"/>
            </a:lnSpc>
            <a:spcBef>
              <a:spcPct val="0"/>
            </a:spcBef>
            <a:spcAft>
              <a:spcPct val="35000"/>
            </a:spcAft>
            <a:buNone/>
            <a:defRPr b="1"/>
          </a:pPr>
          <a:r>
            <a:rPr lang="en-US" sz="1900" b="1" kern="1200"/>
            <a:t>Response Variable : </a:t>
          </a:r>
          <a:endParaRPr lang="en-US" sz="1900" kern="1200"/>
        </a:p>
      </dsp:txBody>
      <dsp:txXfrm>
        <a:off x="7736146" y="1652318"/>
        <a:ext cx="3290624" cy="493593"/>
      </dsp:txXfrm>
    </dsp:sp>
    <dsp:sp modelId="{2F7F1CDD-995C-4297-9C09-F318B233A5C3}">
      <dsp:nvSpPr>
        <dsp:cNvPr id="0" name=""/>
        <dsp:cNvSpPr/>
      </dsp:nvSpPr>
      <dsp:spPr>
        <a:xfrm>
          <a:off x="7736146" y="2204490"/>
          <a:ext cx="3290624" cy="1099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Zone 1 Power Consumption</a:t>
          </a:r>
        </a:p>
      </dsp:txBody>
      <dsp:txXfrm>
        <a:off x="7736146" y="2204490"/>
        <a:ext cx="3290624" cy="10990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746E4-EB1B-491D-A6E5-A9CF07410656}">
      <dsp:nvSpPr>
        <dsp:cNvPr id="0" name=""/>
        <dsp:cNvSpPr/>
      </dsp:nvSpPr>
      <dsp:spPr>
        <a:xfrm>
          <a:off x="10338" y="455328"/>
          <a:ext cx="2671397" cy="801419"/>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100" tIns="211100" rIns="211100" bIns="211100" numCol="1" spcCol="1270" anchor="ctr" anchorCtr="0">
          <a:noAutofit/>
        </a:bodyPr>
        <a:lstStyle/>
        <a:p>
          <a:pPr marL="0" lvl="0" indent="0" algn="ctr" defTabSz="933450">
            <a:lnSpc>
              <a:spcPct val="90000"/>
            </a:lnSpc>
            <a:spcBef>
              <a:spcPct val="0"/>
            </a:spcBef>
            <a:spcAft>
              <a:spcPct val="35000"/>
            </a:spcAft>
            <a:buNone/>
          </a:pPr>
          <a:r>
            <a:rPr lang="en-US" sz="2100" b="1" kern="1200"/>
            <a:t>Dataset Overview</a:t>
          </a:r>
          <a:endParaRPr lang="en-US" sz="2100" kern="1200"/>
        </a:p>
      </dsp:txBody>
      <dsp:txXfrm>
        <a:off x="10338" y="455328"/>
        <a:ext cx="2671397" cy="801419"/>
      </dsp:txXfrm>
    </dsp:sp>
    <dsp:sp modelId="{F92613A7-7B40-45A6-A320-4E29642382A6}">
      <dsp:nvSpPr>
        <dsp:cNvPr id="0" name=""/>
        <dsp:cNvSpPr/>
      </dsp:nvSpPr>
      <dsp:spPr>
        <a:xfrm>
          <a:off x="10338" y="1256748"/>
          <a:ext cx="2671397" cy="2360918"/>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3875" tIns="263875" rIns="263875" bIns="263875"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US" sz="1100" kern="1200" dirty="0"/>
            <a:t>Approx. 52,410 observations </a:t>
          </a:r>
        </a:p>
        <a:p>
          <a:pPr marL="0" lvl="0" indent="0" algn="l" defTabSz="488950">
            <a:lnSpc>
              <a:spcPct val="90000"/>
            </a:lnSpc>
            <a:spcBef>
              <a:spcPct val="0"/>
            </a:spcBef>
            <a:spcAft>
              <a:spcPct val="35000"/>
            </a:spcAft>
            <a:buFont typeface="Arial" panose="020B0604020202020204" pitchFamily="34" charset="0"/>
            <a:buNone/>
          </a:pPr>
          <a:endParaRPr lang="en-US" sz="1100" kern="1200" dirty="0"/>
        </a:p>
        <a:p>
          <a:pPr marL="0" lvl="0" indent="0" algn="l" defTabSz="488950">
            <a:lnSpc>
              <a:spcPct val="90000"/>
            </a:lnSpc>
            <a:spcBef>
              <a:spcPct val="0"/>
            </a:spcBef>
            <a:spcAft>
              <a:spcPct val="35000"/>
            </a:spcAft>
            <a:buNone/>
          </a:pPr>
          <a:r>
            <a:rPr lang="en-US" sz="1100" kern="1200" dirty="0"/>
            <a:t>Data collected every 10 minutes </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r>
            <a:rPr lang="en-US" sz="1100" kern="1200" dirty="0"/>
            <a:t>Dataset includes weather measurements and electricity consumption in </a:t>
          </a:r>
          <a:r>
            <a:rPr lang="en-US" sz="1100" kern="1200" dirty="0" err="1"/>
            <a:t>Tetouan</a:t>
          </a:r>
          <a:r>
            <a:rPr lang="en-US" sz="1100" kern="1200" dirty="0"/>
            <a:t> City </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r>
            <a:rPr lang="en-US" sz="1100" kern="1200"/>
            <a:t>Final cleaned dataset contained 13 variables after preprocessing </a:t>
          </a:r>
        </a:p>
      </dsp:txBody>
      <dsp:txXfrm>
        <a:off x="10338" y="1256748"/>
        <a:ext cx="2671397" cy="2360918"/>
      </dsp:txXfrm>
    </dsp:sp>
    <dsp:sp modelId="{918FFCC2-161B-4655-85D5-7A288F1EA7FB}">
      <dsp:nvSpPr>
        <dsp:cNvPr id="0" name=""/>
        <dsp:cNvSpPr/>
      </dsp:nvSpPr>
      <dsp:spPr>
        <a:xfrm>
          <a:off x="2789630" y="455328"/>
          <a:ext cx="2671397" cy="801419"/>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100" tIns="211100" rIns="211100" bIns="211100" numCol="1" spcCol="1270" anchor="ctr" anchorCtr="0">
          <a:noAutofit/>
        </a:bodyPr>
        <a:lstStyle/>
        <a:p>
          <a:pPr marL="0" lvl="0" indent="0" algn="ctr" defTabSz="933450">
            <a:lnSpc>
              <a:spcPct val="90000"/>
            </a:lnSpc>
            <a:spcBef>
              <a:spcPct val="0"/>
            </a:spcBef>
            <a:spcAft>
              <a:spcPct val="35000"/>
            </a:spcAft>
            <a:buNone/>
          </a:pPr>
          <a:r>
            <a:rPr lang="en-US" sz="2100" b="1" kern="1200"/>
            <a:t>Modeling Setup</a:t>
          </a:r>
          <a:endParaRPr lang="en-US" sz="2100" kern="1200"/>
        </a:p>
      </dsp:txBody>
      <dsp:txXfrm>
        <a:off x="2789630" y="455328"/>
        <a:ext cx="2671397" cy="801419"/>
      </dsp:txXfrm>
    </dsp:sp>
    <dsp:sp modelId="{6B311482-0311-43A3-BB81-E67C305CF5B3}">
      <dsp:nvSpPr>
        <dsp:cNvPr id="0" name=""/>
        <dsp:cNvSpPr/>
      </dsp:nvSpPr>
      <dsp:spPr>
        <a:xfrm>
          <a:off x="2789630" y="1256748"/>
          <a:ext cx="2671397" cy="2360918"/>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3875" tIns="263875" rIns="263875" bIns="263875" numCol="1" spcCol="1270" anchor="t" anchorCtr="0">
          <a:noAutofit/>
        </a:bodyPr>
        <a:lstStyle/>
        <a:p>
          <a:pPr marL="0" lvl="0" indent="0" algn="l" defTabSz="488950">
            <a:lnSpc>
              <a:spcPct val="90000"/>
            </a:lnSpc>
            <a:spcBef>
              <a:spcPct val="0"/>
            </a:spcBef>
            <a:spcAft>
              <a:spcPct val="35000"/>
            </a:spcAft>
            <a:buNone/>
          </a:pPr>
          <a:r>
            <a:rPr lang="en-US" sz="1100" kern="1200" dirty="0"/>
            <a:t>Response Variable: Zone 1 Power Consumption </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r>
            <a:rPr lang="en-US" sz="1100" kern="1200" dirty="0"/>
            <a:t>Train/Test Split: 80% training, 20% testing </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r>
            <a:rPr lang="en-US" sz="1100" kern="1200" dirty="0"/>
            <a:t>Random seed used: </a:t>
          </a:r>
          <a:r>
            <a:rPr lang="en-US" sz="1100" kern="1200" dirty="0" err="1"/>
            <a:t>set.seed</a:t>
          </a:r>
          <a:r>
            <a:rPr lang="en-US" sz="1100" kern="1200" dirty="0"/>
            <a:t>(2026) </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r>
            <a:rPr lang="en-US" sz="1100" kern="1200"/>
            <a:t>Goal: Predict Zone 1 power consumption using weather variables </a:t>
          </a:r>
        </a:p>
      </dsp:txBody>
      <dsp:txXfrm>
        <a:off x="2789630" y="1256748"/>
        <a:ext cx="2671397" cy="2360918"/>
      </dsp:txXfrm>
    </dsp:sp>
    <dsp:sp modelId="{EC4F3285-7D7F-4296-92CE-12D3758F9323}">
      <dsp:nvSpPr>
        <dsp:cNvPr id="0" name=""/>
        <dsp:cNvSpPr/>
      </dsp:nvSpPr>
      <dsp:spPr>
        <a:xfrm>
          <a:off x="5568922" y="455328"/>
          <a:ext cx="2671397" cy="801419"/>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100" tIns="211100" rIns="211100" bIns="211100" numCol="1" spcCol="1270" anchor="ctr" anchorCtr="0">
          <a:noAutofit/>
        </a:bodyPr>
        <a:lstStyle/>
        <a:p>
          <a:pPr marL="0" lvl="0" indent="0" algn="ctr" defTabSz="933450">
            <a:lnSpc>
              <a:spcPct val="90000"/>
            </a:lnSpc>
            <a:spcBef>
              <a:spcPct val="0"/>
            </a:spcBef>
            <a:spcAft>
              <a:spcPct val="35000"/>
            </a:spcAft>
            <a:buNone/>
          </a:pPr>
          <a:r>
            <a:rPr lang="en-US" sz="2100" b="1" kern="1200"/>
            <a:t>Models Used</a:t>
          </a:r>
          <a:endParaRPr lang="en-US" sz="2100" kern="1200"/>
        </a:p>
      </dsp:txBody>
      <dsp:txXfrm>
        <a:off x="5568922" y="455328"/>
        <a:ext cx="2671397" cy="801419"/>
      </dsp:txXfrm>
    </dsp:sp>
    <dsp:sp modelId="{F3154A5F-F586-4704-9CAA-723439077263}">
      <dsp:nvSpPr>
        <dsp:cNvPr id="0" name=""/>
        <dsp:cNvSpPr/>
      </dsp:nvSpPr>
      <dsp:spPr>
        <a:xfrm>
          <a:off x="5568922" y="1256748"/>
          <a:ext cx="2671397" cy="2360918"/>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3875" tIns="263875" rIns="263875" bIns="263875" numCol="1" spcCol="1270" anchor="t" anchorCtr="0">
          <a:noAutofit/>
        </a:bodyPr>
        <a:lstStyle/>
        <a:p>
          <a:pPr marL="0" lvl="0" indent="0" algn="l" defTabSz="488950">
            <a:lnSpc>
              <a:spcPct val="90000"/>
            </a:lnSpc>
            <a:spcBef>
              <a:spcPct val="0"/>
            </a:spcBef>
            <a:spcAft>
              <a:spcPct val="35000"/>
            </a:spcAft>
            <a:buNone/>
          </a:pPr>
          <a:r>
            <a:rPr lang="en-US" sz="1100" kern="1200" dirty="0"/>
            <a:t>Multiple Linear Regression</a:t>
          </a:r>
        </a:p>
        <a:p>
          <a:pPr marL="0" lvl="0" indent="0" algn="l" defTabSz="488950">
            <a:lnSpc>
              <a:spcPct val="90000"/>
            </a:lnSpc>
            <a:spcBef>
              <a:spcPct val="0"/>
            </a:spcBef>
            <a:spcAft>
              <a:spcPct val="35000"/>
            </a:spcAft>
            <a:buNone/>
          </a:pPr>
          <a:r>
            <a:rPr lang="en-US" sz="1100" kern="1200" dirty="0"/>
            <a:t> </a:t>
          </a:r>
        </a:p>
        <a:p>
          <a:pPr marL="0" lvl="0" indent="0" algn="l" defTabSz="488950">
            <a:lnSpc>
              <a:spcPct val="90000"/>
            </a:lnSpc>
            <a:spcBef>
              <a:spcPct val="0"/>
            </a:spcBef>
            <a:spcAft>
              <a:spcPct val="35000"/>
            </a:spcAft>
            <a:buNone/>
          </a:pPr>
          <a:r>
            <a:rPr lang="en-US" sz="1100" kern="1200" dirty="0"/>
            <a:t>LASSO Regression </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r>
            <a:rPr lang="en-US" sz="1100" kern="1200"/>
            <a:t>Decision Tree Regression</a:t>
          </a:r>
        </a:p>
      </dsp:txBody>
      <dsp:txXfrm>
        <a:off x="5568922" y="1256748"/>
        <a:ext cx="2671397" cy="2360918"/>
      </dsp:txXfrm>
    </dsp:sp>
    <dsp:sp modelId="{3233E67B-8326-4CA8-9EED-8D2540E01C55}">
      <dsp:nvSpPr>
        <dsp:cNvPr id="0" name=""/>
        <dsp:cNvSpPr/>
      </dsp:nvSpPr>
      <dsp:spPr>
        <a:xfrm>
          <a:off x="8348214" y="455328"/>
          <a:ext cx="2671397" cy="801419"/>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100" tIns="211100" rIns="211100" bIns="211100" numCol="1" spcCol="1270" anchor="ctr" anchorCtr="0">
          <a:noAutofit/>
        </a:bodyPr>
        <a:lstStyle/>
        <a:p>
          <a:pPr marL="0" lvl="0" indent="0" algn="ctr" defTabSz="933450">
            <a:lnSpc>
              <a:spcPct val="90000"/>
            </a:lnSpc>
            <a:spcBef>
              <a:spcPct val="0"/>
            </a:spcBef>
            <a:spcAft>
              <a:spcPct val="35000"/>
            </a:spcAft>
            <a:buNone/>
          </a:pPr>
          <a:r>
            <a:rPr lang="en-US" sz="2100" b="1" kern="1200"/>
            <a:t>Evaluation Metric</a:t>
          </a:r>
          <a:endParaRPr lang="en-US" sz="2100" kern="1200"/>
        </a:p>
      </dsp:txBody>
      <dsp:txXfrm>
        <a:off x="8348214" y="455328"/>
        <a:ext cx="2671397" cy="801419"/>
      </dsp:txXfrm>
    </dsp:sp>
    <dsp:sp modelId="{D71F9FBD-E39A-42E4-88C3-68F9882595F7}">
      <dsp:nvSpPr>
        <dsp:cNvPr id="0" name=""/>
        <dsp:cNvSpPr/>
      </dsp:nvSpPr>
      <dsp:spPr>
        <a:xfrm>
          <a:off x="8348214" y="1256748"/>
          <a:ext cx="2671397" cy="2360918"/>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3875" tIns="263875" rIns="263875" bIns="263875" numCol="1" spcCol="1270" anchor="t" anchorCtr="0">
          <a:noAutofit/>
        </a:bodyPr>
        <a:lstStyle/>
        <a:p>
          <a:pPr marL="0" lvl="0" indent="0" algn="l" defTabSz="488950">
            <a:lnSpc>
              <a:spcPct val="90000"/>
            </a:lnSpc>
            <a:spcBef>
              <a:spcPct val="0"/>
            </a:spcBef>
            <a:spcAft>
              <a:spcPct val="35000"/>
            </a:spcAft>
            <a:buNone/>
          </a:pPr>
          <a:r>
            <a:rPr lang="en-US" sz="1100" kern="1200"/>
            <a:t>Models compared using RMSE (Root Mean Squared Error) on the test dataset</a:t>
          </a:r>
        </a:p>
      </dsp:txBody>
      <dsp:txXfrm>
        <a:off x="8348214" y="1256748"/>
        <a:ext cx="2671397" cy="23609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7AC95B-5A44-4AA2-9BF7-0DA4D536850D}">
      <dsp:nvSpPr>
        <dsp:cNvPr id="0" name=""/>
        <dsp:cNvSpPr/>
      </dsp:nvSpPr>
      <dsp:spPr>
        <a:xfrm>
          <a:off x="1553127" y="349050"/>
          <a:ext cx="269327" cy="91440"/>
        </a:xfrm>
        <a:custGeom>
          <a:avLst/>
          <a:gdLst/>
          <a:ahLst/>
          <a:cxnLst/>
          <a:rect l="0" t="0" r="0" b="0"/>
          <a:pathLst>
            <a:path>
              <a:moveTo>
                <a:pt x="0" y="45720"/>
              </a:moveTo>
              <a:lnTo>
                <a:pt x="269327"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80292" y="393269"/>
        <a:ext cx="14996" cy="3002"/>
      </dsp:txXfrm>
    </dsp:sp>
    <dsp:sp modelId="{3ACC9871-8A98-49F7-A09C-7999CA759DD2}">
      <dsp:nvSpPr>
        <dsp:cNvPr id="0" name=""/>
        <dsp:cNvSpPr/>
      </dsp:nvSpPr>
      <dsp:spPr>
        <a:xfrm>
          <a:off x="250894" y="3560"/>
          <a:ext cx="1304032" cy="78241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99" tIns="67073" rIns="63899" bIns="67073" numCol="1" spcCol="1270" anchor="ctr" anchorCtr="0">
          <a:noAutofit/>
        </a:bodyPr>
        <a:lstStyle/>
        <a:p>
          <a:pPr marL="0" lvl="0" indent="0" algn="ctr" defTabSz="533400">
            <a:lnSpc>
              <a:spcPct val="90000"/>
            </a:lnSpc>
            <a:spcBef>
              <a:spcPct val="0"/>
            </a:spcBef>
            <a:spcAft>
              <a:spcPct val="35000"/>
            </a:spcAft>
            <a:buNone/>
          </a:pPr>
          <a:r>
            <a:rPr lang="en-US" sz="1200" kern="1200"/>
            <a:t>Loaded raw CSV file</a:t>
          </a:r>
        </a:p>
      </dsp:txBody>
      <dsp:txXfrm>
        <a:off x="250894" y="3560"/>
        <a:ext cx="1304032" cy="782419"/>
      </dsp:txXfrm>
    </dsp:sp>
    <dsp:sp modelId="{AEF145F8-E0B9-4F93-87D8-725298926622}">
      <dsp:nvSpPr>
        <dsp:cNvPr id="0" name=""/>
        <dsp:cNvSpPr/>
      </dsp:nvSpPr>
      <dsp:spPr>
        <a:xfrm>
          <a:off x="902911" y="784180"/>
          <a:ext cx="1603959" cy="269327"/>
        </a:xfrm>
        <a:custGeom>
          <a:avLst/>
          <a:gdLst/>
          <a:ahLst/>
          <a:cxnLst/>
          <a:rect l="0" t="0" r="0" b="0"/>
          <a:pathLst>
            <a:path>
              <a:moveTo>
                <a:pt x="1603959" y="0"/>
              </a:moveTo>
              <a:lnTo>
                <a:pt x="1603959" y="151763"/>
              </a:lnTo>
              <a:lnTo>
                <a:pt x="0" y="151763"/>
              </a:lnTo>
              <a:lnTo>
                <a:pt x="0" y="269327"/>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4096" y="917342"/>
        <a:ext cx="81588" cy="3002"/>
      </dsp:txXfrm>
    </dsp:sp>
    <dsp:sp modelId="{427433E7-BEB4-4F67-BB6E-661868778795}">
      <dsp:nvSpPr>
        <dsp:cNvPr id="0" name=""/>
        <dsp:cNvSpPr/>
      </dsp:nvSpPr>
      <dsp:spPr>
        <a:xfrm>
          <a:off x="1854854" y="3560"/>
          <a:ext cx="1304032" cy="78241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99" tIns="67073" rIns="63899" bIns="67073" numCol="1" spcCol="1270" anchor="ctr" anchorCtr="0">
          <a:noAutofit/>
        </a:bodyPr>
        <a:lstStyle/>
        <a:p>
          <a:pPr marL="0" lvl="0" indent="0" algn="ctr" defTabSz="533400">
            <a:lnSpc>
              <a:spcPct val="90000"/>
            </a:lnSpc>
            <a:spcBef>
              <a:spcPct val="0"/>
            </a:spcBef>
            <a:spcAft>
              <a:spcPct val="35000"/>
            </a:spcAft>
            <a:buNone/>
          </a:pPr>
          <a:r>
            <a:rPr lang="en-US" sz="1200" kern="1200"/>
            <a:t>Standardized names using make.names() so R could use column easily</a:t>
          </a:r>
        </a:p>
      </dsp:txBody>
      <dsp:txXfrm>
        <a:off x="1854854" y="3560"/>
        <a:ext cx="1304032" cy="782419"/>
      </dsp:txXfrm>
    </dsp:sp>
    <dsp:sp modelId="{64153829-FD4B-414C-942D-DB194D394F00}">
      <dsp:nvSpPr>
        <dsp:cNvPr id="0" name=""/>
        <dsp:cNvSpPr/>
      </dsp:nvSpPr>
      <dsp:spPr>
        <a:xfrm>
          <a:off x="1553127" y="1431397"/>
          <a:ext cx="269327" cy="91440"/>
        </a:xfrm>
        <a:custGeom>
          <a:avLst/>
          <a:gdLst/>
          <a:ahLst/>
          <a:cxnLst/>
          <a:rect l="0" t="0" r="0" b="0"/>
          <a:pathLst>
            <a:path>
              <a:moveTo>
                <a:pt x="0" y="45720"/>
              </a:moveTo>
              <a:lnTo>
                <a:pt x="269327" y="45720"/>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80292" y="1475616"/>
        <a:ext cx="14996" cy="3002"/>
      </dsp:txXfrm>
    </dsp:sp>
    <dsp:sp modelId="{E87FA69B-AEBF-45C6-A22D-F822FC1566C4}">
      <dsp:nvSpPr>
        <dsp:cNvPr id="0" name=""/>
        <dsp:cNvSpPr/>
      </dsp:nvSpPr>
      <dsp:spPr>
        <a:xfrm>
          <a:off x="250894" y="1085907"/>
          <a:ext cx="1304032" cy="782419"/>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99" tIns="67073" rIns="63899" bIns="67073" numCol="1" spcCol="1270" anchor="ctr" anchorCtr="0">
          <a:noAutofit/>
        </a:bodyPr>
        <a:lstStyle/>
        <a:p>
          <a:pPr marL="0" lvl="0" indent="0" algn="ctr" defTabSz="533400">
            <a:lnSpc>
              <a:spcPct val="90000"/>
            </a:lnSpc>
            <a:spcBef>
              <a:spcPct val="0"/>
            </a:spcBef>
            <a:spcAft>
              <a:spcPct val="35000"/>
            </a:spcAft>
            <a:buNone/>
          </a:pPr>
          <a:r>
            <a:rPr lang="en-US" sz="1200" kern="1200"/>
            <a:t>Converted Data Time from text into data-time format</a:t>
          </a:r>
        </a:p>
      </dsp:txBody>
      <dsp:txXfrm>
        <a:off x="250894" y="1085907"/>
        <a:ext cx="1304032" cy="782419"/>
      </dsp:txXfrm>
    </dsp:sp>
    <dsp:sp modelId="{70B4FDDF-CA95-49A8-A62E-BDA8FA422CCC}">
      <dsp:nvSpPr>
        <dsp:cNvPr id="0" name=""/>
        <dsp:cNvSpPr/>
      </dsp:nvSpPr>
      <dsp:spPr>
        <a:xfrm>
          <a:off x="902911" y="1866527"/>
          <a:ext cx="1603959" cy="269327"/>
        </a:xfrm>
        <a:custGeom>
          <a:avLst/>
          <a:gdLst/>
          <a:ahLst/>
          <a:cxnLst/>
          <a:rect l="0" t="0" r="0" b="0"/>
          <a:pathLst>
            <a:path>
              <a:moveTo>
                <a:pt x="1603959" y="0"/>
              </a:moveTo>
              <a:lnTo>
                <a:pt x="1603959" y="151763"/>
              </a:lnTo>
              <a:lnTo>
                <a:pt x="0" y="151763"/>
              </a:lnTo>
              <a:lnTo>
                <a:pt x="0" y="269327"/>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4096" y="1999689"/>
        <a:ext cx="81588" cy="3002"/>
      </dsp:txXfrm>
    </dsp:sp>
    <dsp:sp modelId="{CD829E65-0833-4529-9B18-560F8FA00EEE}">
      <dsp:nvSpPr>
        <dsp:cNvPr id="0" name=""/>
        <dsp:cNvSpPr/>
      </dsp:nvSpPr>
      <dsp:spPr>
        <a:xfrm>
          <a:off x="1854854" y="1085907"/>
          <a:ext cx="1304032" cy="782419"/>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99" tIns="67073" rIns="63899" bIns="67073" numCol="1" spcCol="1270" anchor="ctr" anchorCtr="0">
          <a:noAutofit/>
        </a:bodyPr>
        <a:lstStyle/>
        <a:p>
          <a:pPr marL="0" lvl="0" indent="0" algn="ctr" defTabSz="533400">
            <a:lnSpc>
              <a:spcPct val="90000"/>
            </a:lnSpc>
            <a:spcBef>
              <a:spcPct val="0"/>
            </a:spcBef>
            <a:spcAft>
              <a:spcPct val="35000"/>
            </a:spcAft>
            <a:buNone/>
          </a:pPr>
          <a:r>
            <a:rPr lang="en-US" sz="1200" kern="1200"/>
            <a:t>Checked missing values : only 6 rows had missing DateTime</a:t>
          </a:r>
        </a:p>
      </dsp:txBody>
      <dsp:txXfrm>
        <a:off x="1854854" y="1085907"/>
        <a:ext cx="1304032" cy="782419"/>
      </dsp:txXfrm>
    </dsp:sp>
    <dsp:sp modelId="{43124F64-1200-434B-BEB3-B77F0B4C4155}">
      <dsp:nvSpPr>
        <dsp:cNvPr id="0" name=""/>
        <dsp:cNvSpPr/>
      </dsp:nvSpPr>
      <dsp:spPr>
        <a:xfrm>
          <a:off x="1553127" y="2513744"/>
          <a:ext cx="269327" cy="91440"/>
        </a:xfrm>
        <a:custGeom>
          <a:avLst/>
          <a:gdLst/>
          <a:ahLst/>
          <a:cxnLst/>
          <a:rect l="0" t="0" r="0" b="0"/>
          <a:pathLst>
            <a:path>
              <a:moveTo>
                <a:pt x="0" y="45720"/>
              </a:moveTo>
              <a:lnTo>
                <a:pt x="269327"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80292" y="2557963"/>
        <a:ext cx="14996" cy="3002"/>
      </dsp:txXfrm>
    </dsp:sp>
    <dsp:sp modelId="{0D02290A-A273-4514-94F5-1B7D5D357D47}">
      <dsp:nvSpPr>
        <dsp:cNvPr id="0" name=""/>
        <dsp:cNvSpPr/>
      </dsp:nvSpPr>
      <dsp:spPr>
        <a:xfrm>
          <a:off x="250894" y="2168254"/>
          <a:ext cx="1304032" cy="782419"/>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99" tIns="67073" rIns="63899" bIns="67073" numCol="1" spcCol="1270" anchor="ctr" anchorCtr="0">
          <a:noAutofit/>
        </a:bodyPr>
        <a:lstStyle/>
        <a:p>
          <a:pPr marL="0" lvl="0" indent="0" algn="ctr" defTabSz="533400">
            <a:lnSpc>
              <a:spcPct val="90000"/>
            </a:lnSpc>
            <a:spcBef>
              <a:spcPct val="0"/>
            </a:spcBef>
            <a:spcAft>
              <a:spcPct val="35000"/>
            </a:spcAft>
            <a:buNone/>
          </a:pPr>
          <a:r>
            <a:rPr lang="en-US" sz="1200" kern="1200"/>
            <a:t>Removes those rows because dataset is large</a:t>
          </a:r>
        </a:p>
      </dsp:txBody>
      <dsp:txXfrm>
        <a:off x="250894" y="2168254"/>
        <a:ext cx="1304032" cy="782419"/>
      </dsp:txXfrm>
    </dsp:sp>
    <dsp:sp modelId="{5A483D77-BB2F-429A-B94E-7BBBAD523B69}">
      <dsp:nvSpPr>
        <dsp:cNvPr id="0" name=""/>
        <dsp:cNvSpPr/>
      </dsp:nvSpPr>
      <dsp:spPr>
        <a:xfrm>
          <a:off x="902911" y="2948874"/>
          <a:ext cx="1603959" cy="269327"/>
        </a:xfrm>
        <a:custGeom>
          <a:avLst/>
          <a:gdLst/>
          <a:ahLst/>
          <a:cxnLst/>
          <a:rect l="0" t="0" r="0" b="0"/>
          <a:pathLst>
            <a:path>
              <a:moveTo>
                <a:pt x="1603959" y="0"/>
              </a:moveTo>
              <a:lnTo>
                <a:pt x="1603959" y="151763"/>
              </a:lnTo>
              <a:lnTo>
                <a:pt x="0" y="151763"/>
              </a:lnTo>
              <a:lnTo>
                <a:pt x="0" y="269327"/>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4096" y="3082036"/>
        <a:ext cx="81588" cy="3002"/>
      </dsp:txXfrm>
    </dsp:sp>
    <dsp:sp modelId="{3DB215A9-47F4-401B-A010-F292A95FEBDB}">
      <dsp:nvSpPr>
        <dsp:cNvPr id="0" name=""/>
        <dsp:cNvSpPr/>
      </dsp:nvSpPr>
      <dsp:spPr>
        <a:xfrm>
          <a:off x="1854854" y="2168254"/>
          <a:ext cx="1304032" cy="78241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99" tIns="67073" rIns="63899" bIns="67073" numCol="1" spcCol="1270" anchor="ctr" anchorCtr="0">
          <a:noAutofit/>
        </a:bodyPr>
        <a:lstStyle/>
        <a:p>
          <a:pPr marL="0" lvl="0" indent="0" algn="ctr" defTabSz="533400">
            <a:lnSpc>
              <a:spcPct val="90000"/>
            </a:lnSpc>
            <a:spcBef>
              <a:spcPct val="0"/>
            </a:spcBef>
            <a:spcAft>
              <a:spcPct val="35000"/>
            </a:spcAft>
            <a:buNone/>
          </a:pPr>
          <a:r>
            <a:rPr lang="en-US" sz="1200" kern="1200"/>
            <a:t>Checked for duplicates : none found</a:t>
          </a:r>
        </a:p>
      </dsp:txBody>
      <dsp:txXfrm>
        <a:off x="1854854" y="2168254"/>
        <a:ext cx="1304032" cy="782419"/>
      </dsp:txXfrm>
    </dsp:sp>
    <dsp:sp modelId="{D221A17F-72AB-4CF3-874C-99A39EC09745}">
      <dsp:nvSpPr>
        <dsp:cNvPr id="0" name=""/>
        <dsp:cNvSpPr/>
      </dsp:nvSpPr>
      <dsp:spPr>
        <a:xfrm>
          <a:off x="250894" y="3250601"/>
          <a:ext cx="1304032" cy="78241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99" tIns="67073" rIns="63899" bIns="67073" numCol="1" spcCol="1270" anchor="ctr" anchorCtr="0">
          <a:noAutofit/>
        </a:bodyPr>
        <a:lstStyle/>
        <a:p>
          <a:pPr marL="0" lvl="0" indent="0" algn="ctr" defTabSz="533400">
            <a:lnSpc>
              <a:spcPct val="90000"/>
            </a:lnSpc>
            <a:spcBef>
              <a:spcPct val="0"/>
            </a:spcBef>
            <a:spcAft>
              <a:spcPct val="35000"/>
            </a:spcAft>
            <a:buNone/>
          </a:pPr>
          <a:r>
            <a:rPr lang="en-US" sz="1200" kern="1200"/>
            <a:t>Added new columns : Hour, Day, Month, Year</a:t>
          </a:r>
        </a:p>
      </dsp:txBody>
      <dsp:txXfrm>
        <a:off x="250894" y="3250601"/>
        <a:ext cx="1304032" cy="7824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FE156-9C1B-4218-9A62-32129B3225E3}">
      <dsp:nvSpPr>
        <dsp:cNvPr id="0" name=""/>
        <dsp:cNvSpPr/>
      </dsp:nvSpPr>
      <dsp:spPr>
        <a:xfrm>
          <a:off x="3178" y="368991"/>
          <a:ext cx="1151718" cy="11517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75B277-B576-4209-8B18-D15BD9B15761}">
      <dsp:nvSpPr>
        <dsp:cNvPr id="0" name=""/>
        <dsp:cNvSpPr/>
      </dsp:nvSpPr>
      <dsp:spPr>
        <a:xfrm>
          <a:off x="3178" y="1647140"/>
          <a:ext cx="3290624" cy="49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a:t>Add more features</a:t>
          </a:r>
        </a:p>
      </dsp:txBody>
      <dsp:txXfrm>
        <a:off x="3178" y="1647140"/>
        <a:ext cx="3290624" cy="493593"/>
      </dsp:txXfrm>
    </dsp:sp>
    <dsp:sp modelId="{FACCAA02-6FD4-4DCF-B365-E3B1EEF442D1}">
      <dsp:nvSpPr>
        <dsp:cNvPr id="0" name=""/>
        <dsp:cNvSpPr/>
      </dsp:nvSpPr>
      <dsp:spPr>
        <a:xfrm>
          <a:off x="3178" y="2199539"/>
          <a:ext cx="3290624" cy="110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Include time-based variables like Hour, Day of Week, and Season</a:t>
          </a:r>
        </a:p>
        <a:p>
          <a:pPr marL="0" lvl="0" indent="0" algn="l" defTabSz="755650">
            <a:lnSpc>
              <a:spcPct val="100000"/>
            </a:lnSpc>
            <a:spcBef>
              <a:spcPct val="0"/>
            </a:spcBef>
            <a:spcAft>
              <a:spcPct val="35000"/>
            </a:spcAft>
            <a:buNone/>
          </a:pPr>
          <a:r>
            <a:rPr lang="en-US" sz="1700" kern="1200"/>
            <a:t>These can capture daily and weekly usage patterns</a:t>
          </a:r>
        </a:p>
      </dsp:txBody>
      <dsp:txXfrm>
        <a:off x="3178" y="2199539"/>
        <a:ext cx="3290624" cy="1109706"/>
      </dsp:txXfrm>
    </dsp:sp>
    <dsp:sp modelId="{AC48492F-BA94-4AA2-8E18-257793FFCF6E}">
      <dsp:nvSpPr>
        <dsp:cNvPr id="0" name=""/>
        <dsp:cNvSpPr/>
      </dsp:nvSpPr>
      <dsp:spPr>
        <a:xfrm>
          <a:off x="3869662" y="368991"/>
          <a:ext cx="1151718" cy="11517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2342ADF-D11D-4988-B20D-397E502F8912}">
      <dsp:nvSpPr>
        <dsp:cNvPr id="0" name=""/>
        <dsp:cNvSpPr/>
      </dsp:nvSpPr>
      <dsp:spPr>
        <a:xfrm>
          <a:off x="3869662" y="1647140"/>
          <a:ext cx="3290624" cy="49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a:t>Try advanced models </a:t>
          </a:r>
        </a:p>
      </dsp:txBody>
      <dsp:txXfrm>
        <a:off x="3869662" y="1647140"/>
        <a:ext cx="3290624" cy="493593"/>
      </dsp:txXfrm>
    </dsp:sp>
    <dsp:sp modelId="{9AE5E7A3-272D-456C-B0F5-7EEEE4A6AB9C}">
      <dsp:nvSpPr>
        <dsp:cNvPr id="0" name=""/>
        <dsp:cNvSpPr/>
      </dsp:nvSpPr>
      <dsp:spPr>
        <a:xfrm>
          <a:off x="3869662" y="2199539"/>
          <a:ext cx="3290624" cy="110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Use Random Forest and Gradient Boosting</a:t>
          </a:r>
        </a:p>
        <a:p>
          <a:pPr marL="0" lvl="0" indent="0" algn="l" defTabSz="755650">
            <a:lnSpc>
              <a:spcPct val="100000"/>
            </a:lnSpc>
            <a:spcBef>
              <a:spcPct val="0"/>
            </a:spcBef>
            <a:spcAft>
              <a:spcPct val="35000"/>
            </a:spcAft>
            <a:buNone/>
          </a:pPr>
          <a:r>
            <a:rPr lang="en-US" sz="1700" kern="1200"/>
            <a:t>These can capture nonlinear patterns better than linear models</a:t>
          </a:r>
        </a:p>
      </dsp:txBody>
      <dsp:txXfrm>
        <a:off x="3869662" y="2199539"/>
        <a:ext cx="3290624" cy="1109706"/>
      </dsp:txXfrm>
    </dsp:sp>
    <dsp:sp modelId="{952E2A94-2684-4072-BBF1-9D15704CAED7}">
      <dsp:nvSpPr>
        <dsp:cNvPr id="0" name=""/>
        <dsp:cNvSpPr/>
      </dsp:nvSpPr>
      <dsp:spPr>
        <a:xfrm>
          <a:off x="7736146" y="368991"/>
          <a:ext cx="1151718" cy="11517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D8F836-182E-4D44-B046-89F9B9FC153D}">
      <dsp:nvSpPr>
        <dsp:cNvPr id="0" name=""/>
        <dsp:cNvSpPr/>
      </dsp:nvSpPr>
      <dsp:spPr>
        <a:xfrm>
          <a:off x="7736146" y="1647140"/>
          <a:ext cx="3290624" cy="49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100000"/>
            </a:lnSpc>
            <a:spcBef>
              <a:spcPct val="0"/>
            </a:spcBef>
            <a:spcAft>
              <a:spcPct val="35000"/>
            </a:spcAft>
            <a:buNone/>
            <a:defRPr b="1"/>
          </a:pPr>
          <a:r>
            <a:rPr lang="en-US" sz="2600" kern="1200"/>
            <a:t>Improve accuracy </a:t>
          </a:r>
        </a:p>
      </dsp:txBody>
      <dsp:txXfrm>
        <a:off x="7736146" y="1647140"/>
        <a:ext cx="3290624" cy="493593"/>
      </dsp:txXfrm>
    </dsp:sp>
    <dsp:sp modelId="{1E350DA1-B40A-4048-BC67-CCA36FE90027}">
      <dsp:nvSpPr>
        <dsp:cNvPr id="0" name=""/>
        <dsp:cNvSpPr/>
      </dsp:nvSpPr>
      <dsp:spPr>
        <a:xfrm>
          <a:off x="7736146" y="2199539"/>
          <a:ext cx="3290624" cy="110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Incorporate non-weather factors </a:t>
          </a:r>
        </a:p>
        <a:p>
          <a:pPr marL="171450" lvl="1" indent="-171450" algn="l" defTabSz="755650">
            <a:lnSpc>
              <a:spcPct val="90000"/>
            </a:lnSpc>
            <a:spcBef>
              <a:spcPct val="0"/>
            </a:spcBef>
            <a:spcAft>
              <a:spcPct val="15000"/>
            </a:spcAft>
            <a:buChar char="•"/>
          </a:pPr>
          <a:r>
            <a:rPr lang="en-US" sz="1700" kern="1200"/>
            <a:t>Holidays</a:t>
          </a:r>
        </a:p>
        <a:p>
          <a:pPr marL="171450" lvl="1" indent="-171450" algn="l" defTabSz="755650">
            <a:lnSpc>
              <a:spcPct val="90000"/>
            </a:lnSpc>
            <a:spcBef>
              <a:spcPct val="0"/>
            </a:spcBef>
            <a:spcAft>
              <a:spcPct val="15000"/>
            </a:spcAft>
            <a:buChar char="•"/>
          </a:pPr>
          <a:r>
            <a:rPr lang="en-US" sz="1700" kern="1200"/>
            <a:t>Human activity patterns</a:t>
          </a:r>
        </a:p>
        <a:p>
          <a:pPr marL="171450" lvl="1" indent="-171450" algn="l" defTabSz="755650">
            <a:lnSpc>
              <a:spcPct val="90000"/>
            </a:lnSpc>
            <a:spcBef>
              <a:spcPct val="0"/>
            </a:spcBef>
            <a:spcAft>
              <a:spcPct val="15000"/>
            </a:spcAft>
            <a:buChar char="•"/>
          </a:pPr>
          <a:r>
            <a:rPr lang="en-US" sz="1700" kern="1200"/>
            <a:t>Energy demand trends</a:t>
          </a:r>
        </a:p>
      </dsp:txBody>
      <dsp:txXfrm>
        <a:off x="7736146" y="2199539"/>
        <a:ext cx="3290624" cy="110970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8D7EB-C5B3-45AC-B5D4-96E40A87557F}"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3D73E3-4E43-4A7D-9FE8-2EBED20B484E}" type="slidenum">
              <a:rPr lang="en-US" smtClean="0"/>
              <a:t>‹#›</a:t>
            </a:fld>
            <a:endParaRPr lang="en-US"/>
          </a:p>
        </p:txBody>
      </p:sp>
    </p:spTree>
    <p:extLst>
      <p:ext uri="{BB962C8B-B14F-4D97-AF65-F5344CB8AC3E}">
        <p14:creationId xmlns:p14="http://schemas.microsoft.com/office/powerpoint/2010/main" val="1048822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Good afternoon everyone.</a:t>
            </a:r>
          </a:p>
          <a:p>
            <a:pPr marL="285750" indent="-285750">
              <a:buFont typeface="Arial" panose="020B0604020202020204" pitchFamily="34" charset="0"/>
              <a:buChar char="•"/>
            </a:pPr>
            <a:r>
              <a:rPr lang="en-US" sz="1600" dirty="0"/>
              <a:t>Today our group will be presenting our project on power consumption in </a:t>
            </a:r>
            <a:r>
              <a:rPr lang="en-US" sz="1600" dirty="0" err="1"/>
              <a:t>Tetouan</a:t>
            </a:r>
            <a:r>
              <a:rPr lang="en-US" sz="1600" dirty="0"/>
              <a:t> City, which is a city in northern Morocco. </a:t>
            </a:r>
          </a:p>
          <a:p>
            <a:pPr marL="285750" indent="-285750">
              <a:buFont typeface="Arial" panose="020B0604020202020204" pitchFamily="34" charset="0"/>
              <a:buChar char="•"/>
            </a:pPr>
            <a:r>
              <a:rPr lang="en-US" sz="1600" dirty="0"/>
              <a:t>Basically we wanted to look at how weather affects how much electricity people use there.</a:t>
            </a:r>
          </a:p>
          <a:p>
            <a:pPr marL="285750" indent="-285750">
              <a:buFont typeface="Arial" panose="020B0604020202020204" pitchFamily="34" charset="0"/>
              <a:buChar char="•"/>
            </a:pPr>
            <a:r>
              <a:rPr lang="en-US" sz="1600" dirty="0"/>
              <a:t>So let’s get into it</a:t>
            </a:r>
          </a:p>
          <a:p>
            <a:pPr marL="285750" indent="-285750">
              <a:buFont typeface="Arial" panose="020B0604020202020204" pitchFamily="34" charset="0"/>
              <a:buChar char="•"/>
            </a:pPr>
            <a:endParaRPr lang="en-US" sz="1600" dirty="0"/>
          </a:p>
        </p:txBody>
      </p:sp>
      <p:sp>
        <p:nvSpPr>
          <p:cNvPr id="4" name="Slide Number Placeholder 3"/>
          <p:cNvSpPr>
            <a:spLocks noGrp="1"/>
          </p:cNvSpPr>
          <p:nvPr>
            <p:ph type="sldNum" sz="quarter" idx="5"/>
          </p:nvPr>
        </p:nvSpPr>
        <p:spPr/>
        <p:txBody>
          <a:bodyPr/>
          <a:lstStyle/>
          <a:p>
            <a:fld id="{543D73E3-4E43-4A7D-9FE8-2EBED20B484E}" type="slidenum">
              <a:rPr lang="en-US" smtClean="0"/>
              <a:t>1</a:t>
            </a:fld>
            <a:endParaRPr lang="en-US"/>
          </a:p>
        </p:txBody>
      </p:sp>
    </p:spTree>
    <p:extLst>
      <p:ext uri="{BB962C8B-B14F-4D97-AF65-F5344CB8AC3E}">
        <p14:creationId xmlns:p14="http://schemas.microsoft.com/office/powerpoint/2010/main" val="234965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why did we even pick this topic? Well, electricity is something every city needs to manage carefully</a:t>
            </a:r>
          </a:p>
          <a:p>
            <a:pPr marL="171450" indent="-171450">
              <a:buFont typeface="Arial" panose="020B0604020202020204" pitchFamily="34" charset="0"/>
              <a:buChar char="•"/>
            </a:pPr>
            <a:r>
              <a:rPr lang="en-US" dirty="0"/>
              <a:t>. If you use too much, it can cause outages or waste.</a:t>
            </a:r>
          </a:p>
          <a:p>
            <a:pPr marL="171450" indent="-171450">
              <a:buFont typeface="Arial" panose="020B0604020202020204" pitchFamily="34" charset="0"/>
              <a:buChar char="•"/>
            </a:pPr>
            <a:r>
              <a:rPr lang="en-US" dirty="0"/>
              <a:t> If you plan it wrong, it gets really expensive.</a:t>
            </a:r>
          </a:p>
          <a:p>
            <a:pPr marL="171450" indent="-171450">
              <a:buFont typeface="Arial" panose="020B0604020202020204" pitchFamily="34" charset="0"/>
              <a:buChar char="•"/>
            </a:pPr>
            <a:r>
              <a:rPr lang="en-US" dirty="0"/>
              <a:t> What we wanted to do was look at whether  — things like temperature, humidity, and wind — can help us predict how much power a city is going to use. </a:t>
            </a:r>
          </a:p>
          <a:p>
            <a:pPr marL="171450" indent="-171450">
              <a:buFont typeface="Arial" panose="020B0604020202020204" pitchFamily="34" charset="0"/>
              <a:buChar char="•"/>
            </a:pPr>
            <a:r>
              <a:rPr lang="en-US" dirty="0"/>
              <a:t>This kind of work matters a lot for building smarter, more efficient cities.</a:t>
            </a:r>
          </a:p>
          <a:p>
            <a:pPr marL="171450" indent="-171450">
              <a:buFont typeface="Arial" panose="020B0604020202020204" pitchFamily="34" charset="0"/>
              <a:buChar char="•"/>
            </a:pPr>
            <a:r>
              <a:rPr lang="en-US" dirty="0"/>
              <a:t> And honestly, with climate change making temperatures more unpredictable, it's becoming even more important."</a:t>
            </a:r>
          </a:p>
        </p:txBody>
      </p:sp>
      <p:sp>
        <p:nvSpPr>
          <p:cNvPr id="4" name="Slide Number Placeholder 3"/>
          <p:cNvSpPr>
            <a:spLocks noGrp="1"/>
          </p:cNvSpPr>
          <p:nvPr>
            <p:ph type="sldNum" sz="quarter" idx="5"/>
          </p:nvPr>
        </p:nvSpPr>
        <p:spPr/>
        <p:txBody>
          <a:bodyPr/>
          <a:lstStyle/>
          <a:p>
            <a:fld id="{543D73E3-4E43-4A7D-9FE8-2EBED20B484E}" type="slidenum">
              <a:rPr lang="en-US" smtClean="0"/>
              <a:t>2</a:t>
            </a:fld>
            <a:endParaRPr lang="en-US"/>
          </a:p>
        </p:txBody>
      </p:sp>
    </p:spTree>
    <p:extLst>
      <p:ext uri="{BB962C8B-B14F-4D97-AF65-F5344CB8AC3E}">
        <p14:creationId xmlns:p14="http://schemas.microsoft.com/office/powerpoint/2010/main" val="1495448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our main research question was — which weather variables best predict Zone 1 power consumption in </a:t>
            </a:r>
            <a:r>
              <a:rPr lang="en-US" dirty="0" err="1"/>
              <a:t>Tetouan</a:t>
            </a:r>
            <a:r>
              <a:rPr lang="en-US" dirty="0"/>
              <a:t> City?</a:t>
            </a:r>
          </a:p>
          <a:p>
            <a:pPr marL="171450" indent="-171450">
              <a:buFont typeface="Arial" panose="020B0604020202020204" pitchFamily="34" charset="0"/>
              <a:buChar char="•"/>
            </a:pPr>
            <a:r>
              <a:rPr lang="en-US" dirty="0"/>
              <a:t>To answer that, we looked at three main weather factors: temperature, humidity, and wind speed — along with general diffuse flows.</a:t>
            </a:r>
          </a:p>
          <a:p>
            <a:pPr marL="171450" indent="-171450">
              <a:buFont typeface="Arial" panose="020B0604020202020204" pitchFamily="34" charset="0"/>
              <a:buChar char="•"/>
            </a:pPr>
            <a:r>
              <a:rPr lang="en-US" dirty="0"/>
              <a:t>And our response variable, basically what we're trying to predict, is Zone 1 power consumption.</a:t>
            </a:r>
          </a:p>
          <a:p>
            <a:pPr marL="171450" indent="-171450">
              <a:buFont typeface="Arial" panose="020B0604020202020204" pitchFamily="34" charset="0"/>
              <a:buChar char="•"/>
            </a:pPr>
            <a:r>
              <a:rPr lang="en-US" dirty="0"/>
              <a:t>So in simple terms, we just wanted to figure out — which of these weather factors has the biggest impact on how much power the city uses?"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3</a:t>
            </a:fld>
            <a:endParaRPr lang="en-US"/>
          </a:p>
        </p:txBody>
      </p:sp>
    </p:spTree>
    <p:extLst>
      <p:ext uri="{BB962C8B-B14F-4D97-AF65-F5344CB8AC3E}">
        <p14:creationId xmlns:p14="http://schemas.microsoft.com/office/powerpoint/2010/main" val="664094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Moving on to project overview, we worked with a pretty large dataset — around 52,000 data points, each recorded every 10 minutes. </a:t>
            </a:r>
          </a:p>
          <a:p>
            <a:pPr marL="171450" indent="-171450">
              <a:buFont typeface="Arial" panose="020B0604020202020204" pitchFamily="34" charset="0"/>
              <a:buChar char="•"/>
            </a:pPr>
            <a:r>
              <a:rPr lang="en-US" dirty="0"/>
              <a:t>The data had both weather information and electricity usage for </a:t>
            </a:r>
            <a:r>
              <a:rPr lang="en-US" dirty="0" err="1"/>
              <a:t>Tetouan</a:t>
            </a:r>
            <a:r>
              <a:rPr lang="en-US" dirty="0"/>
              <a:t> City.</a:t>
            </a:r>
          </a:p>
          <a:p>
            <a:pPr marL="171450" indent="-171450">
              <a:buFont typeface="Arial" panose="020B0604020202020204" pitchFamily="34" charset="0"/>
              <a:buChar char="•"/>
            </a:pPr>
            <a:r>
              <a:rPr lang="en-US" dirty="0"/>
              <a:t>We did some cleaning on it, and after that we ended up working with 13 variables. </a:t>
            </a:r>
          </a:p>
          <a:p>
            <a:pPr marL="171450" indent="-171450">
              <a:buFont typeface="Arial" panose="020B0604020202020204" pitchFamily="34" charset="0"/>
              <a:buChar char="•"/>
            </a:pPr>
            <a:r>
              <a:rPr lang="en-US" dirty="0"/>
              <a:t>Our goal was to predict power consumption specifically in Zone 1.</a:t>
            </a:r>
          </a:p>
          <a:p>
            <a:pPr marL="171450" indent="-171450">
              <a:buFont typeface="Arial" panose="020B0604020202020204" pitchFamily="34" charset="0"/>
              <a:buChar char="•"/>
            </a:pPr>
            <a:r>
              <a:rPr lang="en-US" dirty="0"/>
              <a:t>To do that, we split the data into 80% training  models, and the remaining 20% was used to test them.</a:t>
            </a:r>
          </a:p>
          <a:p>
            <a:pPr marL="171450" indent="-171450">
              <a:buFont typeface="Arial" panose="020B0604020202020204" pitchFamily="34" charset="0"/>
              <a:buChar char="•"/>
            </a:pPr>
            <a:r>
              <a:rPr lang="en-US" dirty="0"/>
              <a:t>We tried three different models: multiple linear regression, LASSO regression, and a decision tree.</a:t>
            </a:r>
          </a:p>
          <a:p>
            <a:pPr marL="171450" indent="-171450">
              <a:buFont typeface="Arial" panose="020B0604020202020204" pitchFamily="34" charset="0"/>
              <a:buChar char="•"/>
            </a:pPr>
            <a:r>
              <a:rPr lang="en-US" dirty="0"/>
              <a:t>And to figure out which one actually performed best, we used RMSE — basically, it measures how far  your predictions are from the real values.</a:t>
            </a:r>
          </a:p>
          <a:p>
            <a:pPr marL="171450" indent="-171450">
              <a:buFont typeface="Arial" panose="020B0604020202020204" pitchFamily="34" charset="0"/>
              <a:buChar char="•"/>
            </a:pPr>
            <a:r>
              <a:rPr lang="en-US" dirty="0"/>
              <a:t> So the lower the RMSE, the better the model is doing.</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13 variables: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Weather variables : Temperature, Humidity, Wind Speed, General Diffuse Flows, Diffuse flows</a:t>
            </a:r>
          </a:p>
          <a:p>
            <a:pPr marL="171450" indent="-171450">
              <a:buFont typeface="Arial" panose="020B0604020202020204" pitchFamily="34" charset="0"/>
              <a:buChar char="•"/>
            </a:pPr>
            <a:r>
              <a:rPr lang="en-US" dirty="0"/>
              <a:t>Power consumption : zone 1 power consumption, zone 2 power consumption, zone 3 power consumption</a:t>
            </a:r>
          </a:p>
          <a:p>
            <a:pPr marL="171450" indent="-171450">
              <a:buFont typeface="Arial" panose="020B0604020202020204" pitchFamily="34" charset="0"/>
              <a:buChar char="•"/>
            </a:pPr>
            <a:r>
              <a:rPr lang="en-US" dirty="0"/>
              <a:t>Time-related variables : hour, day, </a:t>
            </a:r>
            <a:r>
              <a:rPr lang="en-US" dirty="0" err="1"/>
              <a:t>month,year</a:t>
            </a:r>
            <a:r>
              <a:rPr lang="en-US" dirty="0"/>
              <a:t>, </a:t>
            </a:r>
            <a:r>
              <a:rPr lang="en-US" dirty="0" err="1"/>
              <a:t>dateTime</a:t>
            </a:r>
            <a:endParaRPr lang="en-US" dirty="0"/>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4</a:t>
            </a:fld>
            <a:endParaRPr lang="en-US"/>
          </a:p>
        </p:txBody>
      </p:sp>
    </p:spTree>
    <p:extLst>
      <p:ext uri="{BB962C8B-B14F-4D97-AF65-F5344CB8AC3E}">
        <p14:creationId xmlns:p14="http://schemas.microsoft.com/office/powerpoint/2010/main" val="2810411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before we could do any analysis, we had to actually clean the data. </a:t>
            </a:r>
          </a:p>
          <a:p>
            <a:pPr marL="171450" indent="-171450">
              <a:buFont typeface="Arial" panose="020B0604020202020204" pitchFamily="34" charset="0"/>
              <a:buChar char="•"/>
            </a:pPr>
            <a:r>
              <a:rPr lang="en-US" dirty="0"/>
              <a:t>So the first thing we did was we standardized the column names, basically the original dataset had spaces and special characters in the column names, so we fixed that so we could actually reference the columns easily in our code.  </a:t>
            </a:r>
          </a:p>
          <a:p>
            <a:pPr marL="171450" indent="-171450">
              <a:buFont typeface="Arial" panose="020B0604020202020204" pitchFamily="34" charset="0"/>
              <a:buChar char="•"/>
            </a:pPr>
            <a:r>
              <a:rPr lang="en-US" dirty="0"/>
              <a:t>After that, we converted the </a:t>
            </a:r>
            <a:r>
              <a:rPr lang="en-US" dirty="0" err="1"/>
              <a:t>DateTime</a:t>
            </a:r>
            <a:r>
              <a:rPr lang="en-US" dirty="0"/>
              <a:t> column from plain text into an actual date-time format that R understands — because by default it just reads it as a string, which is useless for time-based analysis.</a:t>
            </a:r>
          </a:p>
          <a:p>
            <a:pPr marL="171450" indent="-171450">
              <a:buFont typeface="Arial" panose="020B0604020202020204" pitchFamily="34" charset="0"/>
              <a:buChar char="•"/>
            </a:pPr>
            <a:r>
              <a:rPr lang="en-US" dirty="0"/>
              <a:t>Then we checked for missing values... and we only found 6 rows with missing </a:t>
            </a:r>
            <a:r>
              <a:rPr lang="en-US" dirty="0" err="1"/>
              <a:t>DateTime</a:t>
            </a:r>
            <a:r>
              <a:rPr lang="en-US" dirty="0"/>
              <a:t>. Out of 52,000 observations, so we just removed those rows instead of imputing. We also checked for duplicates — and there were none, which was good.</a:t>
            </a:r>
          </a:p>
          <a:p>
            <a:pPr marL="171450" indent="-171450">
              <a:buFont typeface="Arial" panose="020B0604020202020204" pitchFamily="34" charset="0"/>
              <a:buChar char="•"/>
            </a:pPr>
            <a:r>
              <a:rPr lang="en-US" dirty="0"/>
              <a:t>And finally, we added some new columns — Hour, Day, Month, and Year — extracted from the </a:t>
            </a:r>
            <a:r>
              <a:rPr lang="en-US" dirty="0" err="1"/>
              <a:t>DateTime</a:t>
            </a:r>
            <a:r>
              <a:rPr lang="en-US" dirty="0"/>
              <a:t>. </a:t>
            </a:r>
          </a:p>
          <a:p>
            <a:pPr marL="171450" indent="-171450">
              <a:buFont typeface="Arial" panose="020B0604020202020204" pitchFamily="34" charset="0"/>
              <a:buChar char="•"/>
            </a:pPr>
            <a:r>
              <a:rPr lang="en-US" dirty="0"/>
              <a:t>Those could be useful as features later.</a:t>
            </a:r>
          </a:p>
          <a:p>
            <a:pPr marL="171450" indent="-171450">
              <a:buFont typeface="Arial" panose="020B0604020202020204" pitchFamily="34" charset="0"/>
              <a:buChar char="•"/>
            </a:pPr>
            <a:r>
              <a:rPr lang="en-US" dirty="0"/>
              <a:t>Now the summary statistics table on the right is actually  see we have four main </a:t>
            </a:r>
            <a:r>
              <a:rPr lang="en-US" dirty="0" err="1"/>
              <a:t>variables.Temperature</a:t>
            </a:r>
            <a:r>
              <a:rPr lang="en-US" dirty="0"/>
              <a:t> — ranges from 3 to 40 degrees, mean around 18.8. </a:t>
            </a:r>
          </a:p>
          <a:p>
            <a:pPr marL="171450" indent="-171450">
              <a:buFont typeface="Arial" panose="020B0604020202020204" pitchFamily="34" charset="0"/>
              <a:buChar char="•"/>
            </a:pPr>
            <a:r>
              <a:rPr lang="en-US" dirty="0"/>
              <a:t>It's bell-shaped, mostly sitting in that 10 to 30 range. </a:t>
            </a:r>
          </a:p>
          <a:p>
            <a:pPr marL="171450" indent="-171450">
              <a:buFont typeface="Arial" panose="020B0604020202020204" pitchFamily="34" charset="0"/>
              <a:buChar char="•"/>
            </a:pPr>
            <a:r>
              <a:rPr lang="en-US" dirty="0"/>
              <a:t>Nothing weird there.</a:t>
            </a:r>
          </a:p>
          <a:p>
            <a:pPr marL="171450" indent="-171450">
              <a:buFont typeface="Arial" panose="020B0604020202020204" pitchFamily="34" charset="0"/>
              <a:buChar char="•"/>
            </a:pPr>
            <a:r>
              <a:rPr lang="en-US" dirty="0"/>
              <a:t>Humidity — ranges from 11 to 95 percent, mean around 68. </a:t>
            </a:r>
          </a:p>
          <a:p>
            <a:pPr marL="171450" indent="-171450">
              <a:buFont typeface="Arial" panose="020B0604020202020204" pitchFamily="34" charset="0"/>
              <a:buChar char="•"/>
            </a:pPr>
            <a:r>
              <a:rPr lang="en-US" dirty="0"/>
              <a:t>Left-skewed, mostly 60 to 85 percent.</a:t>
            </a:r>
          </a:p>
          <a:p>
            <a:pPr marL="171450" indent="-171450">
              <a:buFont typeface="Arial" panose="020B0604020202020204" pitchFamily="34" charset="0"/>
              <a:buChar char="•"/>
            </a:pPr>
            <a:r>
              <a:rPr lang="en-US" dirty="0"/>
              <a:t>Wind Speed is the one that stood out. Um, that's a massive gap between mean and median, which is a red flag for skewness or a weird distribution. </a:t>
            </a:r>
          </a:p>
          <a:p>
            <a:pPr marL="171450" indent="-171450">
              <a:buFont typeface="Arial" panose="020B0604020202020204" pitchFamily="34" charset="0"/>
              <a:buChar char="•"/>
            </a:pPr>
            <a:r>
              <a:rPr lang="en-US" dirty="0"/>
              <a:t>And that's exactly what flagged it early as potentially a weak predictor — before we even made any </a:t>
            </a:r>
            <a:r>
              <a:rPr lang="en-US" dirty="0" err="1"/>
              <a:t>plots.And</a:t>
            </a:r>
            <a:r>
              <a:rPr lang="en-US" dirty="0"/>
              <a:t> then Zone 1 Power — our response variable — ranges from about 14,000 to 52,000 kilowatt hours, with a mean around 32,000. </a:t>
            </a:r>
          </a:p>
          <a:p>
            <a:pPr marL="171450" indent="-171450">
              <a:buFont typeface="Arial" panose="020B0604020202020204" pitchFamily="34" charset="0"/>
              <a:buChar char="•"/>
            </a:pPr>
            <a:r>
              <a:rPr lang="en-US" dirty="0"/>
              <a:t>The mean and median are really close, which tells us it's approximately normal — and that's actually good for regression.</a:t>
            </a:r>
          </a:p>
          <a:p>
            <a:pPr marL="171450" indent="-171450">
              <a:buFont typeface="Arial" panose="020B0604020202020204" pitchFamily="34" charset="0"/>
              <a:buChar char="•"/>
            </a:pPr>
            <a:r>
              <a:rPr lang="en-US" dirty="0"/>
              <a:t>The key finding at the bottom kind of summarizes it — Wind Speed's mean being 20 times its median is basically the first signal that it might be a weak predictor.</a:t>
            </a:r>
          </a:p>
        </p:txBody>
      </p:sp>
      <p:sp>
        <p:nvSpPr>
          <p:cNvPr id="4" name="Slide Number Placeholder 3"/>
          <p:cNvSpPr>
            <a:spLocks noGrp="1"/>
          </p:cNvSpPr>
          <p:nvPr>
            <p:ph type="sldNum" sz="quarter" idx="5"/>
          </p:nvPr>
        </p:nvSpPr>
        <p:spPr/>
        <p:txBody>
          <a:bodyPr/>
          <a:lstStyle/>
          <a:p>
            <a:fld id="{543D73E3-4E43-4A7D-9FE8-2EBED20B484E}" type="slidenum">
              <a:rPr lang="en-US" smtClean="0"/>
              <a:t>5</a:t>
            </a:fld>
            <a:endParaRPr lang="en-US"/>
          </a:p>
        </p:txBody>
      </p:sp>
    </p:spTree>
    <p:extLst>
      <p:ext uri="{BB962C8B-B14F-4D97-AF65-F5344CB8AC3E}">
        <p14:creationId xmlns:p14="http://schemas.microsoft.com/office/powerpoint/2010/main" val="3228858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um... before we jump into any modeling, we first needed to understand what our data actually looks like.</a:t>
            </a:r>
          </a:p>
          <a:p>
            <a:pPr marL="171450" indent="-171450">
              <a:buFont typeface="Arial" panose="020B0604020202020204" pitchFamily="34" charset="0"/>
              <a:buChar char="•"/>
            </a:pPr>
            <a:r>
              <a:rPr lang="en-US" dirty="0"/>
              <a:t> So this is our EDA, So starting with Temperature... it's pretty bell-shaped, which is nice.</a:t>
            </a:r>
          </a:p>
          <a:p>
            <a:pPr marL="171450" indent="-171450">
              <a:buFont typeface="Arial" panose="020B0604020202020204" pitchFamily="34" charset="0"/>
              <a:buChar char="•"/>
            </a:pPr>
            <a:r>
              <a:rPr lang="en-US" dirty="0"/>
              <a:t> Most of our readings are sitting around 19 degrees Celsius, There are a few high outliers above 36 degrees — those are hot summer days, but they're real, so we kept them. </a:t>
            </a:r>
          </a:p>
          <a:p>
            <a:pPr marL="171450" indent="-171450">
              <a:buFont typeface="Arial" panose="020B0604020202020204" pitchFamily="34" charset="0"/>
              <a:buChar char="•"/>
            </a:pPr>
            <a:r>
              <a:rPr lang="en-US" dirty="0"/>
              <a:t>Humidity is a bit different — it's left-skewed, so most of the time it's pretty humid, like 60 to 85 percent. </a:t>
            </a:r>
          </a:p>
          <a:p>
            <a:pPr marL="171450" indent="-171450">
              <a:buFont typeface="Arial" panose="020B0604020202020204" pitchFamily="34" charset="0"/>
              <a:buChar char="•"/>
            </a:pPr>
            <a:r>
              <a:rPr lang="en-US" dirty="0"/>
              <a:t>But you can see some really low outliers down around 20% — those are the dry days.</a:t>
            </a:r>
          </a:p>
          <a:p>
            <a:pPr marL="171450" indent="-171450">
              <a:buFont typeface="Arial" panose="020B0604020202020204" pitchFamily="34" charset="0"/>
              <a:buChar char="•"/>
            </a:pPr>
            <a:r>
              <a:rPr lang="en-US" dirty="0"/>
              <a:t>Now... Wind Speed is the interesting one.</a:t>
            </a:r>
          </a:p>
          <a:p>
            <a:pPr marL="171450" indent="-171450">
              <a:buFont typeface="Arial" panose="020B0604020202020204" pitchFamily="34" charset="0"/>
              <a:buChar char="•"/>
            </a:pPr>
            <a:r>
              <a:rPr lang="en-US" dirty="0"/>
              <a:t> Um, if you look at it, it's bimodal — meaning there are two clusters, basically at 0 and then around 5. </a:t>
            </a:r>
          </a:p>
          <a:p>
            <a:pPr marL="171450" indent="-171450">
              <a:buFont typeface="Arial" panose="020B0604020202020204" pitchFamily="34" charset="0"/>
              <a:buChar char="•"/>
            </a:pPr>
            <a:r>
              <a:rPr lang="en-US" dirty="0"/>
              <a:t>There's almost nothing in between. </a:t>
            </a:r>
          </a:p>
          <a:p>
            <a:pPr marL="171450" indent="-171450">
              <a:buFont typeface="Arial" panose="020B0604020202020204" pitchFamily="34" charset="0"/>
              <a:buChar char="•"/>
            </a:pPr>
            <a:r>
              <a:rPr lang="en-US" dirty="0"/>
              <a:t>That's a really unusual pattern, and it </a:t>
            </a:r>
            <a:r>
              <a:rPr lang="en-US" dirty="0" err="1"/>
              <a:t>kinda</a:t>
            </a:r>
            <a:r>
              <a:rPr lang="en-US" dirty="0"/>
              <a:t> flagged early on that wind speed might be a weak predictor — because it's barely acting like a continuous variable.</a:t>
            </a:r>
          </a:p>
          <a:p>
            <a:pPr marL="171450" indent="-171450">
              <a:buFont typeface="Arial" panose="020B0604020202020204" pitchFamily="34" charset="0"/>
              <a:buChar char="•"/>
            </a:pPr>
            <a:r>
              <a:rPr lang="en-US" dirty="0"/>
              <a:t>And then Zone 1 Power — our response variable — that's approximately normal, centered around 32,000 kilowatt hours. </a:t>
            </a:r>
          </a:p>
          <a:p>
            <a:pPr marL="171450" indent="-171450">
              <a:buFont typeface="Arial" panose="020B0604020202020204" pitchFamily="34" charset="0"/>
              <a:buChar char="•"/>
            </a:pPr>
            <a:r>
              <a:rPr lang="en-US" dirty="0"/>
              <a:t>No crazy outliers, which is actually great for regression.</a:t>
            </a:r>
          </a:p>
        </p:txBody>
      </p:sp>
      <p:sp>
        <p:nvSpPr>
          <p:cNvPr id="4" name="Slide Number Placeholder 3"/>
          <p:cNvSpPr>
            <a:spLocks noGrp="1"/>
          </p:cNvSpPr>
          <p:nvPr>
            <p:ph type="sldNum" sz="quarter" idx="5"/>
          </p:nvPr>
        </p:nvSpPr>
        <p:spPr/>
        <p:txBody>
          <a:bodyPr/>
          <a:lstStyle/>
          <a:p>
            <a:fld id="{543D73E3-4E43-4A7D-9FE8-2EBED20B484E}" type="slidenum">
              <a:rPr lang="en-US" smtClean="0"/>
              <a:t>6</a:t>
            </a:fld>
            <a:endParaRPr lang="en-US"/>
          </a:p>
        </p:txBody>
      </p:sp>
    </p:spTree>
    <p:extLst>
      <p:ext uri="{BB962C8B-B14F-4D97-AF65-F5344CB8AC3E}">
        <p14:creationId xmlns:p14="http://schemas.microsoft.com/office/powerpoint/2010/main" val="1328609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Next we made scatterplots to look at how each weather variable actually relates to Zone 1 power consumption.</a:t>
            </a:r>
          </a:p>
          <a:p>
            <a:pPr marL="171450" indent="-171450">
              <a:buFont typeface="Arial" panose="020B0604020202020204" pitchFamily="34" charset="0"/>
              <a:buChar char="•"/>
            </a:pPr>
            <a:r>
              <a:rPr lang="en-US" dirty="0"/>
              <a:t> Temperature — this one is the clearest. </a:t>
            </a:r>
          </a:p>
          <a:p>
            <a:pPr marL="171450" indent="-171450">
              <a:buFont typeface="Arial" panose="020B0604020202020204" pitchFamily="34" charset="0"/>
              <a:buChar char="•"/>
            </a:pPr>
            <a:r>
              <a:rPr lang="en-US" dirty="0"/>
              <a:t>You can see in the blue scatterplot there's a pretty obvious upward trend. </a:t>
            </a:r>
          </a:p>
          <a:p>
            <a:pPr marL="171450" indent="-171450">
              <a:buFont typeface="Arial" panose="020B0604020202020204" pitchFamily="34" charset="0"/>
              <a:buChar char="•"/>
            </a:pPr>
            <a:r>
              <a:rPr lang="en-US" dirty="0"/>
              <a:t>As temperature rises, Zone 1 power rises. </a:t>
            </a:r>
          </a:p>
          <a:p>
            <a:pPr marL="171450" indent="-171450">
              <a:buFont typeface="Arial" panose="020B0604020202020204" pitchFamily="34" charset="0"/>
              <a:buChar char="•"/>
            </a:pPr>
            <a:r>
              <a:rPr lang="en-US" dirty="0"/>
              <a:t>We calculated the correlation at about positive 0.44 — which is a moderately strong positive relationship.</a:t>
            </a:r>
          </a:p>
          <a:p>
            <a:pPr marL="171450" indent="-171450">
              <a:buFont typeface="Arial" panose="020B0604020202020204" pitchFamily="34" charset="0"/>
              <a:buChar char="•"/>
            </a:pPr>
            <a:r>
              <a:rPr lang="en-US" dirty="0"/>
              <a:t> This makes </a:t>
            </a:r>
            <a:r>
              <a:rPr lang="en-US"/>
              <a:t>total sense hotter </a:t>
            </a:r>
            <a:r>
              <a:rPr lang="en-US" dirty="0"/>
              <a:t>weather means more air conditioning, which means more electricity.  </a:t>
            </a:r>
          </a:p>
          <a:p>
            <a:pPr marL="171450" indent="-171450">
              <a:buFont typeface="Arial" panose="020B0604020202020204" pitchFamily="34" charset="0"/>
              <a:buChar char="•"/>
            </a:pPr>
            <a:r>
              <a:rPr lang="en-US" dirty="0"/>
              <a:t>Humidity — this one shows a moderate negative relationship, with a correlation of about negative 0.29.</a:t>
            </a:r>
          </a:p>
          <a:p>
            <a:pPr marL="171450" indent="-171450">
              <a:buFont typeface="Arial" panose="020B0604020202020204" pitchFamily="34" charset="0"/>
              <a:buChar char="•"/>
            </a:pPr>
            <a:r>
              <a:rPr lang="en-US" dirty="0"/>
              <a:t> So higher humidity tends to go along with lower power consumption.</a:t>
            </a:r>
          </a:p>
          <a:p>
            <a:pPr marL="171450" indent="-171450">
              <a:buFont typeface="Arial" panose="020B0604020202020204" pitchFamily="34" charset="0"/>
              <a:buChar char="•"/>
            </a:pPr>
            <a:r>
              <a:rPr lang="en-US" dirty="0"/>
              <a:t> Part of the reason is that humidity and temperature are themselves negatively correlated here — when it's very humid, it tends to be cooler, and people use less power.</a:t>
            </a:r>
          </a:p>
          <a:p>
            <a:pPr marL="171450" indent="-171450">
              <a:buFont typeface="Arial" panose="020B0604020202020204" pitchFamily="34" charset="0"/>
              <a:buChar char="•"/>
            </a:pPr>
            <a:r>
              <a:rPr lang="en-US" dirty="0"/>
              <a:t>Wind speed — this one is a completely different story.</a:t>
            </a:r>
          </a:p>
          <a:p>
            <a:pPr marL="171450" indent="-171450">
              <a:buFont typeface="Arial" panose="020B0604020202020204" pitchFamily="34" charset="0"/>
              <a:buChar char="•"/>
            </a:pPr>
            <a:r>
              <a:rPr lang="en-US" dirty="0"/>
              <a:t> If you look at the red scatterplot, instead of a nice diagonal trend, you just see two vertical bands of points — one at 0 and one at around 5. </a:t>
            </a:r>
          </a:p>
          <a:p>
            <a:pPr marL="171450" indent="-171450">
              <a:buFont typeface="Arial" panose="020B0604020202020204" pitchFamily="34" charset="0"/>
              <a:buChar char="•"/>
            </a:pPr>
            <a:r>
              <a:rPr lang="en-US" dirty="0"/>
              <a:t>There's no clear linear pattern at all. </a:t>
            </a:r>
          </a:p>
          <a:p>
            <a:pPr marL="171450" indent="-171450">
              <a:buFont typeface="Arial" panose="020B0604020202020204" pitchFamily="34" charset="0"/>
              <a:buChar char="•"/>
            </a:pPr>
            <a:r>
              <a:rPr lang="en-US" dirty="0"/>
              <a:t>This confirms what we saw in the histogram — wind speed is recorded in discrete clusters rather than continuously — and as a result it shows a very weak relationship with Zone 1 power. </a:t>
            </a:r>
          </a:p>
          <a:p>
            <a:pPr marL="171450" indent="-171450">
              <a:buFont typeface="Arial" panose="020B0604020202020204" pitchFamily="34" charset="0"/>
              <a:buChar char="•"/>
            </a:pPr>
            <a:r>
              <a:rPr lang="en-US" dirty="0"/>
              <a:t>It's the weakest of the three predictors."</a:t>
            </a:r>
          </a:p>
        </p:txBody>
      </p:sp>
      <p:sp>
        <p:nvSpPr>
          <p:cNvPr id="4" name="Slide Number Placeholder 3"/>
          <p:cNvSpPr>
            <a:spLocks noGrp="1"/>
          </p:cNvSpPr>
          <p:nvPr>
            <p:ph type="sldNum" sz="quarter" idx="5"/>
          </p:nvPr>
        </p:nvSpPr>
        <p:spPr/>
        <p:txBody>
          <a:bodyPr/>
          <a:lstStyle/>
          <a:p>
            <a:fld id="{543D73E3-4E43-4A7D-9FE8-2EBED20B484E}" type="slidenum">
              <a:rPr lang="en-US" smtClean="0"/>
              <a:t>7</a:t>
            </a:fld>
            <a:endParaRPr lang="en-US"/>
          </a:p>
        </p:txBody>
      </p:sp>
    </p:spTree>
    <p:extLst>
      <p:ext uri="{BB962C8B-B14F-4D97-AF65-F5344CB8AC3E}">
        <p14:creationId xmlns:p14="http://schemas.microsoft.com/office/powerpoint/2010/main" val="2613796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Okay so this slide kind of brings the EDA together. </a:t>
            </a:r>
          </a:p>
          <a:p>
            <a:pPr marL="171450" indent="-171450">
              <a:buFont typeface="Arial" panose="020B0604020202020204" pitchFamily="34" charset="0"/>
              <a:buChar char="•"/>
            </a:pPr>
            <a:r>
              <a:rPr lang="en-US" dirty="0"/>
              <a:t>We have two things here — the time series on the left, and the correlation heatmap on the right.</a:t>
            </a:r>
          </a:p>
          <a:p>
            <a:pPr marL="171450" indent="-171450">
              <a:buFont typeface="Arial" panose="020B0604020202020204" pitchFamily="34" charset="0"/>
              <a:buChar char="•"/>
            </a:pPr>
            <a:r>
              <a:rPr lang="en-US" dirty="0"/>
              <a:t>The time series just shows Zone 1 power over all of 2017.</a:t>
            </a:r>
          </a:p>
          <a:p>
            <a:pPr marL="171450" indent="-171450">
              <a:buFont typeface="Arial" panose="020B0604020202020204" pitchFamily="34" charset="0"/>
              <a:buChar char="•"/>
            </a:pPr>
            <a:r>
              <a:rPr lang="en-US" dirty="0"/>
              <a:t> And you can immediately see — power peaks in July and August.</a:t>
            </a:r>
          </a:p>
          <a:p>
            <a:pPr marL="171450" indent="-171450">
              <a:buFont typeface="Arial" panose="020B0604020202020204" pitchFamily="34" charset="0"/>
              <a:buChar char="•"/>
            </a:pPr>
            <a:r>
              <a:rPr lang="en-US" dirty="0"/>
              <a:t> That's summer in Morocco, people are blasting their AC, and consumption hits around 50,000 kilowatt hours.</a:t>
            </a:r>
          </a:p>
          <a:p>
            <a:pPr marL="171450" indent="-171450">
              <a:buFont typeface="Arial" panose="020B0604020202020204" pitchFamily="34" charset="0"/>
              <a:buChar char="•"/>
            </a:pPr>
            <a:r>
              <a:rPr lang="en-US" dirty="0"/>
              <a:t> Then it dips in spring and fall. </a:t>
            </a:r>
          </a:p>
          <a:p>
            <a:pPr marL="171450" indent="-171450">
              <a:buFont typeface="Arial" panose="020B0604020202020204" pitchFamily="34" charset="0"/>
              <a:buChar char="•"/>
            </a:pPr>
            <a:r>
              <a:rPr lang="en-US" dirty="0"/>
              <a:t>That seasonal pattern lines up perfectly with what temperature does throughout the year, which kind of confirms temperature is driving a lot of this.</a:t>
            </a:r>
          </a:p>
          <a:p>
            <a:pPr marL="171450" indent="-171450">
              <a:buFont typeface="Arial" panose="020B0604020202020204" pitchFamily="34" charset="0"/>
              <a:buChar char="•"/>
            </a:pPr>
            <a:r>
              <a:rPr lang="en-US" dirty="0"/>
              <a:t>And then the heatmap just... shows everything at once.</a:t>
            </a:r>
          </a:p>
          <a:p>
            <a:pPr marL="171450" indent="-171450">
              <a:buFont typeface="Arial" panose="020B0604020202020204" pitchFamily="34" charset="0"/>
              <a:buChar char="•"/>
            </a:pPr>
            <a:r>
              <a:rPr lang="en-US" dirty="0"/>
              <a:t> The darker the blue, the stronger the positive correlation. </a:t>
            </a:r>
          </a:p>
          <a:p>
            <a:pPr marL="171450" indent="-171450">
              <a:buFont typeface="Arial" panose="020B0604020202020204" pitchFamily="34" charset="0"/>
              <a:buChar char="•"/>
            </a:pPr>
            <a:r>
              <a:rPr lang="en-US" dirty="0"/>
              <a:t>You can see Temperature to Zone 1 has a pretty solid blue cell. </a:t>
            </a:r>
          </a:p>
          <a:p>
            <a:pPr marL="171450" indent="-171450">
              <a:buFont typeface="Arial" panose="020B0604020202020204" pitchFamily="34" charset="0"/>
              <a:buChar char="•"/>
            </a:pPr>
            <a:r>
              <a:rPr lang="en-US" dirty="0"/>
              <a:t>Humidity to Zone 1 is more of a salmon-pink — that's the negative correlation, moderate strength. </a:t>
            </a:r>
          </a:p>
          <a:p>
            <a:pPr marL="171450" indent="-171450">
              <a:buFont typeface="Arial" panose="020B0604020202020204" pitchFamily="34" charset="0"/>
              <a:buChar char="•"/>
            </a:pPr>
            <a:r>
              <a:rPr lang="en-US" dirty="0"/>
              <a:t>And Wind Speed to Zone 1 is basically white... near zero.</a:t>
            </a:r>
          </a:p>
          <a:p>
            <a:pPr marL="171450" indent="-171450">
              <a:buFont typeface="Arial" panose="020B0604020202020204" pitchFamily="34" charset="0"/>
              <a:buChar char="•"/>
            </a:pPr>
            <a:r>
              <a:rPr lang="en-US" dirty="0"/>
              <a:t>Um, one other thing — you can see Temperature and Humidity are negatively correlated with each other, which makes sense.</a:t>
            </a:r>
          </a:p>
          <a:p>
            <a:pPr marL="171450" indent="-171450">
              <a:buFont typeface="Arial" panose="020B0604020202020204" pitchFamily="34" charset="0"/>
              <a:buChar char="•"/>
            </a:pPr>
            <a:r>
              <a:rPr lang="en-US" dirty="0"/>
              <a:t> Hot days tend to be dry days.</a:t>
            </a:r>
          </a:p>
          <a:p>
            <a:pPr marL="171450" indent="-171450">
              <a:buFont typeface="Arial" panose="020B0604020202020204" pitchFamily="34" charset="0"/>
              <a:buChar char="•"/>
            </a:pPr>
            <a:r>
              <a:rPr lang="en-US" dirty="0"/>
              <a:t>So the key takeaway is that Temperature is the strongest predictor, Humidity is moderate, and Wind Speed is basically minimal. </a:t>
            </a:r>
          </a:p>
          <a:p>
            <a:pPr marL="171450" indent="-171450">
              <a:buFont typeface="Arial" panose="020B0604020202020204" pitchFamily="34" charset="0"/>
              <a:buChar char="•"/>
            </a:pPr>
            <a:r>
              <a:rPr lang="en-US" dirty="0"/>
              <a:t>That finding from EDA will hold up all the way through our models.</a:t>
            </a:r>
          </a:p>
        </p:txBody>
      </p:sp>
      <p:sp>
        <p:nvSpPr>
          <p:cNvPr id="4" name="Slide Number Placeholder 3"/>
          <p:cNvSpPr>
            <a:spLocks noGrp="1"/>
          </p:cNvSpPr>
          <p:nvPr>
            <p:ph type="sldNum" sz="quarter" idx="5"/>
          </p:nvPr>
        </p:nvSpPr>
        <p:spPr/>
        <p:txBody>
          <a:bodyPr/>
          <a:lstStyle/>
          <a:p>
            <a:fld id="{543D73E3-4E43-4A7D-9FE8-2EBED20B484E}" type="slidenum">
              <a:rPr lang="en-US" smtClean="0"/>
              <a:t>8</a:t>
            </a:fld>
            <a:endParaRPr lang="en-US"/>
          </a:p>
        </p:txBody>
      </p:sp>
    </p:spTree>
    <p:extLst>
      <p:ext uri="{BB962C8B-B14F-4D97-AF65-F5344CB8AC3E}">
        <p14:creationId xmlns:p14="http://schemas.microsoft.com/office/powerpoint/2010/main" val="2859734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On this slide, we can see the pair plot, which basically compares every variable with one another.</a:t>
            </a:r>
          </a:p>
          <a:p>
            <a:pPr marL="171450" indent="-171450">
              <a:buFont typeface="Arial" panose="020B0604020202020204" pitchFamily="34" charset="0"/>
              <a:buChar char="•"/>
            </a:pPr>
            <a:r>
              <a:rPr lang="en-US" dirty="0"/>
              <a:t>Instead of looking at separate graphs one by one, this gives us an overall picture of how the variables are related.</a:t>
            </a:r>
          </a:p>
          <a:p>
            <a:pPr marL="171450" indent="-171450">
              <a:buFont typeface="Arial" panose="020B0604020202020204" pitchFamily="34" charset="0"/>
              <a:buChar char="•"/>
            </a:pPr>
            <a:r>
              <a:rPr lang="en-US" dirty="0"/>
              <a:t>One important pattern we noticed is between temperature and Zone 1 power consumption. The points move upward, which shows that when temperature increases, power consumption also tends to increase.</a:t>
            </a:r>
          </a:p>
          <a:p>
            <a:pPr marL="171450" indent="-171450">
              <a:buFont typeface="Arial" panose="020B0604020202020204" pitchFamily="34" charset="0"/>
              <a:buChar char="•"/>
            </a:pPr>
            <a:r>
              <a:rPr lang="en-US" dirty="0"/>
              <a:t>For humidity, we see more of a downward trend with Zone 1 power. So higher humidity is generally linked with slightly lower power consumption.</a:t>
            </a:r>
          </a:p>
          <a:p>
            <a:pPr marL="171450" indent="-171450">
              <a:buFont typeface="Arial" panose="020B0604020202020204" pitchFamily="34" charset="0"/>
              <a:buChar char="•"/>
            </a:pPr>
            <a:r>
              <a:rPr lang="en-US" dirty="0"/>
              <a:t>Wind speed is interesting because the points form two vertical groups, mainly around 0 and 5. That suggests the wind speed values were recorded in clusters rather than continuously, and it also explains why wind speed did not show a strong relationship with power usage.</a:t>
            </a:r>
          </a:p>
          <a:p>
            <a:pPr marL="171450" indent="-171450">
              <a:buFont typeface="Arial" panose="020B0604020202020204" pitchFamily="34" charset="0"/>
              <a:buChar char="•"/>
            </a:pPr>
            <a:r>
              <a:rPr lang="en-US" dirty="0"/>
              <a:t>Another thing we noticed is that temperature and humidity are negatively related. In general, when temperature goes up, humidity tends to go down.</a:t>
            </a:r>
          </a:p>
          <a:p>
            <a:pPr marL="171450" indent="-171450">
              <a:buFont typeface="Arial" panose="020B0604020202020204" pitchFamily="34" charset="0"/>
              <a:buChar char="•"/>
            </a:pPr>
            <a:r>
              <a:rPr lang="en-US" dirty="0"/>
              <a:t>Overall, this pair plot helped us visually confirm the relationships we observed earlier in the EDA.”</a:t>
            </a:r>
          </a:p>
          <a:p>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9</a:t>
            </a:fld>
            <a:endParaRPr lang="en-US"/>
          </a:p>
        </p:txBody>
      </p:sp>
    </p:spTree>
    <p:extLst>
      <p:ext uri="{BB962C8B-B14F-4D97-AF65-F5344CB8AC3E}">
        <p14:creationId xmlns:p14="http://schemas.microsoft.com/office/powerpoint/2010/main" val="717823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After exploring the data, the next step was building prediction models.</a:t>
            </a:r>
          </a:p>
          <a:p>
            <a:pPr marL="171450" indent="-171450">
              <a:buFont typeface="Arial" panose="020B0604020202020204" pitchFamily="34" charset="0"/>
              <a:buChar char="•"/>
            </a:pPr>
            <a:r>
              <a:rPr lang="en-US" dirty="0"/>
              <a:t>We used three different regression methods to predict Zone 1 power consumption.</a:t>
            </a:r>
          </a:p>
          <a:p>
            <a:pPr marL="171450" indent="-171450">
              <a:buFont typeface="Arial" panose="020B0604020202020204" pitchFamily="34" charset="0"/>
              <a:buChar char="•"/>
            </a:pPr>
            <a:r>
              <a:rPr lang="en-US" dirty="0"/>
              <a:t>The first model was Multiple Linear Regression. We used this as our baseline model because it is simple, easy to interpret, and shows how each predictor affects power consumption.</a:t>
            </a:r>
          </a:p>
          <a:p>
            <a:pPr marL="171450" indent="-171450">
              <a:buFont typeface="Arial" panose="020B0604020202020204" pitchFamily="34" charset="0"/>
              <a:buChar char="•"/>
            </a:pPr>
            <a:r>
              <a:rPr lang="en-US" dirty="0"/>
              <a:t>The second model was LASSO Regression. This is similar to linear regression, but it adds regularization. In simple words, it can reduce the impact of weaker variables and helps prevent overfitting.</a:t>
            </a:r>
          </a:p>
          <a:p>
            <a:pPr marL="171450" indent="-171450">
              <a:buFont typeface="Arial" panose="020B0604020202020204" pitchFamily="34" charset="0"/>
              <a:buChar char="•"/>
            </a:pPr>
            <a:r>
              <a:rPr lang="en-US" dirty="0"/>
              <a:t>The third model was Decision Tree Regression. Unlike linear models, this method captures nonlinear relationships by splitting the data into groups using if-then rules.</a:t>
            </a:r>
          </a:p>
          <a:p>
            <a:pPr marL="171450" indent="-171450">
              <a:buFont typeface="Arial" panose="020B0604020202020204" pitchFamily="34" charset="0"/>
              <a:buChar char="•"/>
            </a:pPr>
            <a:r>
              <a:rPr lang="en-US" dirty="0"/>
              <a:t>For all three models, we used the same predictors: temperature, humidity, wind speed, general diffuse flows, and diffuse flows.</a:t>
            </a:r>
          </a:p>
          <a:p>
            <a:pPr marL="171450" indent="-171450">
              <a:buFont typeface="Arial" panose="020B0604020202020204" pitchFamily="34" charset="0"/>
              <a:buChar char="•"/>
            </a:pPr>
            <a:r>
              <a:rPr lang="en-US" dirty="0"/>
              <a:t>We also used the same train-test split for fair comparison, where 80% of the data was used for training and 20% for testing.</a:t>
            </a:r>
          </a:p>
          <a:p>
            <a:pPr marL="171450" indent="-171450">
              <a:buFont typeface="Arial" panose="020B0604020202020204" pitchFamily="34" charset="0"/>
              <a:buChar char="•"/>
            </a:pPr>
            <a:r>
              <a:rPr lang="en-US" dirty="0"/>
              <a:t>Finally, we compared the models using RMSE, which measures prediction error. Lower RMSE means better prediction performance.”</a:t>
            </a:r>
          </a:p>
          <a:p>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10</a:t>
            </a:fld>
            <a:endParaRPr lang="en-US"/>
          </a:p>
        </p:txBody>
      </p:sp>
    </p:spTree>
    <p:extLst>
      <p:ext uri="{BB962C8B-B14F-4D97-AF65-F5344CB8AC3E}">
        <p14:creationId xmlns:p14="http://schemas.microsoft.com/office/powerpoint/2010/main" val="934180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Here we have the results from the Multiple Linear Regression model.</a:t>
            </a:r>
          </a:p>
          <a:p>
            <a:pPr marL="171450" indent="-171450">
              <a:buFont typeface="Arial" panose="020B0604020202020204" pitchFamily="34" charset="0"/>
              <a:buChar char="•"/>
            </a:pPr>
            <a:r>
              <a:rPr lang="en-US" dirty="0"/>
              <a:t>The model achieved an R-squared value of about 0.206. This means the model explains around 20.6% of the variation in Zone 1 power consumption.</a:t>
            </a:r>
          </a:p>
          <a:p>
            <a:pPr marL="171450" indent="-171450">
              <a:buFont typeface="Arial" panose="020B0604020202020204" pitchFamily="34" charset="0"/>
              <a:buChar char="•"/>
            </a:pPr>
            <a:r>
              <a:rPr lang="en-US" dirty="0"/>
              <a:t>The test RMSE was about 6305, which became the lowest among all three models we tested.</a:t>
            </a:r>
          </a:p>
          <a:p>
            <a:pPr marL="171450" indent="-171450">
              <a:buFont typeface="Arial" panose="020B0604020202020204" pitchFamily="34" charset="0"/>
              <a:buChar char="•"/>
            </a:pPr>
            <a:r>
              <a:rPr lang="en-US" dirty="0"/>
              <a:t>We also found that almost all predictors were statistically significant, except diffuse flows.</a:t>
            </a:r>
          </a:p>
          <a:p>
            <a:pPr marL="171450" indent="-171450">
              <a:buFont typeface="Arial" panose="020B0604020202020204" pitchFamily="34" charset="0"/>
              <a:buChar char="•"/>
            </a:pPr>
            <a:r>
              <a:rPr lang="en-US" dirty="0"/>
              <a:t>Among all variables, temperature had the strongest positive effect on power consumption. This matches what we observed earlier in the EDA and correlation analysis.</a:t>
            </a:r>
          </a:p>
          <a:p>
            <a:pPr marL="171450" indent="-171450">
              <a:buFont typeface="Arial" panose="020B0604020202020204" pitchFamily="34" charset="0"/>
              <a:buChar char="•"/>
            </a:pPr>
            <a:r>
              <a:rPr lang="en-US" dirty="0"/>
              <a:t>So overall, the linear regression model performed the best while also remaining easy to interpret, which makes it useful for understanding the relationship between weather and power usage.”</a:t>
            </a:r>
          </a:p>
          <a:p>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11</a:t>
            </a:fld>
            <a:endParaRPr lang="en-US"/>
          </a:p>
        </p:txBody>
      </p:sp>
    </p:spTree>
    <p:extLst>
      <p:ext uri="{BB962C8B-B14F-4D97-AF65-F5344CB8AC3E}">
        <p14:creationId xmlns:p14="http://schemas.microsoft.com/office/powerpoint/2010/main" val="4022122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Next, we tested the LASSO Regression model.</a:t>
            </a:r>
          </a:p>
          <a:p>
            <a:pPr marL="171450" indent="-171450">
              <a:buFont typeface="Arial" panose="020B0604020202020204" pitchFamily="34" charset="0"/>
              <a:buChar char="•"/>
            </a:pPr>
            <a:r>
              <a:rPr lang="en-US" dirty="0"/>
              <a:t>The best lambda value selected through cross-validation was around 7.4. Lambda is basically the tuning parameter that controls how strongly the model shrinks coefficients.</a:t>
            </a:r>
          </a:p>
          <a:p>
            <a:pPr marL="171450" indent="-171450">
              <a:buFont typeface="Arial" panose="020B0604020202020204" pitchFamily="34" charset="0"/>
              <a:buChar char="•"/>
            </a:pPr>
            <a:r>
              <a:rPr lang="en-US" dirty="0"/>
              <a:t>Interestingly, LASSO kept all five predictors in the model, meaning none of the variables were completely removed.</a:t>
            </a:r>
          </a:p>
          <a:p>
            <a:pPr marL="171450" indent="-171450">
              <a:buFont typeface="Arial" panose="020B0604020202020204" pitchFamily="34" charset="0"/>
              <a:buChar char="•"/>
            </a:pPr>
            <a:r>
              <a:rPr lang="en-US" dirty="0"/>
              <a:t>Temperature still remained the strongest predictor, which was consistent across all our analyses.</a:t>
            </a:r>
          </a:p>
          <a:p>
            <a:pPr marL="171450" indent="-171450">
              <a:buFont typeface="Arial" panose="020B0604020202020204" pitchFamily="34" charset="0"/>
              <a:buChar char="•"/>
            </a:pPr>
            <a:r>
              <a:rPr lang="en-US" dirty="0"/>
              <a:t>The test RMSE was almost the same as Multiple Linear Regression, around 6305 as well.</a:t>
            </a:r>
          </a:p>
          <a:p>
            <a:pPr marL="171450" indent="-171450">
              <a:buFont typeface="Arial" panose="020B0604020202020204" pitchFamily="34" charset="0"/>
              <a:buChar char="•"/>
            </a:pPr>
            <a:r>
              <a:rPr lang="en-US" dirty="0"/>
              <a:t>So even though LASSO did not improve prediction accuracy much, it still helped by reducing the risk of overfitting and making the model more stable.”</a:t>
            </a:r>
          </a:p>
          <a:p>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12</a:t>
            </a:fld>
            <a:endParaRPr lang="en-US"/>
          </a:p>
        </p:txBody>
      </p:sp>
    </p:spTree>
    <p:extLst>
      <p:ext uri="{BB962C8B-B14F-4D97-AF65-F5344CB8AC3E}">
        <p14:creationId xmlns:p14="http://schemas.microsoft.com/office/powerpoint/2010/main" val="2141893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slide presents the Decision Tree Regression results.</a:t>
            </a:r>
          </a:p>
          <a:p>
            <a:pPr marL="171450" indent="-171450">
              <a:buFont typeface="Arial" panose="020B0604020202020204" pitchFamily="34" charset="0"/>
              <a:buChar char="•"/>
            </a:pPr>
            <a:r>
              <a:rPr lang="en-US" dirty="0"/>
              <a:t>The RMSE for this model was slightly higher, around 6325, so it performed a little worse compared to the regression models.</a:t>
            </a:r>
          </a:p>
          <a:p>
            <a:pPr marL="171450" indent="-171450">
              <a:buFont typeface="Arial" panose="020B0604020202020204" pitchFamily="34" charset="0"/>
              <a:buChar char="•"/>
            </a:pPr>
            <a:r>
              <a:rPr lang="en-US" dirty="0"/>
              <a:t>The tree mainly used temperature and humidity to make splits, which again shows these were the most important predictors.</a:t>
            </a:r>
          </a:p>
          <a:p>
            <a:pPr marL="171450" indent="-171450">
              <a:buFont typeface="Arial" panose="020B0604020202020204" pitchFamily="34" charset="0"/>
              <a:buChar char="•"/>
            </a:pPr>
            <a:r>
              <a:rPr lang="en-US" dirty="0"/>
              <a:t>Variables like wind speed and diffuse flows did not contribute much to the decision-making process.</a:t>
            </a:r>
          </a:p>
          <a:p>
            <a:pPr marL="171450" indent="-171450">
              <a:buFont typeface="Arial" panose="020B0604020202020204" pitchFamily="34" charset="0"/>
              <a:buChar char="•"/>
            </a:pPr>
            <a:r>
              <a:rPr lang="en-US" dirty="0"/>
              <a:t>One advantage of decision trees is that they can capture nonlinear relationships and create simple if-then prediction rules.</a:t>
            </a:r>
          </a:p>
          <a:p>
            <a:pPr marL="171450" indent="-171450">
              <a:buFont typeface="Arial" panose="020B0604020202020204" pitchFamily="34" charset="0"/>
              <a:buChar char="•"/>
            </a:pPr>
            <a:r>
              <a:rPr lang="en-US" dirty="0"/>
              <a:t>However, in our case, the decision tree did not outperform the linear models in prediction accuracy.”</a:t>
            </a:r>
          </a:p>
          <a:p>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13</a:t>
            </a:fld>
            <a:endParaRPr lang="en-US"/>
          </a:p>
        </p:txBody>
      </p:sp>
    </p:spTree>
    <p:extLst>
      <p:ext uri="{BB962C8B-B14F-4D97-AF65-F5344CB8AC3E}">
        <p14:creationId xmlns:p14="http://schemas.microsoft.com/office/powerpoint/2010/main" val="3514204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To conclude our project, Multiple Linear Regression turned out to be the best-performing model because it had the lowest RMSE and was also easy to interpret.</a:t>
            </a:r>
          </a:p>
          <a:p>
            <a:pPr marL="171450" indent="-171450">
              <a:buFont typeface="Arial" panose="020B0604020202020204" pitchFamily="34" charset="0"/>
              <a:buChar char="•"/>
            </a:pPr>
            <a:r>
              <a:rPr lang="en-US" dirty="0"/>
              <a:t>Across all analyses, temperature consistently appeared as the strongest predictor of Zone 1 power consumption.</a:t>
            </a:r>
          </a:p>
          <a:p>
            <a:pPr marL="171450" indent="-171450">
              <a:buFont typeface="Arial" panose="020B0604020202020204" pitchFamily="34" charset="0"/>
              <a:buChar char="•"/>
            </a:pPr>
            <a:r>
              <a:rPr lang="en-US" dirty="0"/>
              <a:t>Humidity showed a moderate effect, while wind speed had the weakest relationship overall.</a:t>
            </a:r>
          </a:p>
          <a:p>
            <a:pPr marL="171450" indent="-171450">
              <a:buFont typeface="Arial" panose="020B0604020202020204" pitchFamily="34" charset="0"/>
              <a:buChar char="•"/>
            </a:pPr>
            <a:r>
              <a:rPr lang="en-US" dirty="0"/>
              <a:t>One limitation of our study is that the R-squared value was only around 0.206. This tells us that weather variables explain only part of the variation in electricity consumption, and there are likely other important factors involved.</a:t>
            </a:r>
          </a:p>
          <a:p>
            <a:pPr marL="171450" indent="-171450">
              <a:buFont typeface="Arial" panose="020B0604020202020204" pitchFamily="34" charset="0"/>
              <a:buChar char="•"/>
            </a:pPr>
            <a:r>
              <a:rPr lang="en-US" dirty="0"/>
              <a:t>Some possible improvements for future work would be adding variables such as hour, month, or day of the week, testing interaction effects like temperature multiplied by humidity, and also trying more advanced models such as Random Forest or Boosting.”</a:t>
            </a:r>
          </a:p>
          <a:p>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14</a:t>
            </a:fld>
            <a:endParaRPr lang="en-US"/>
          </a:p>
        </p:txBody>
      </p:sp>
    </p:spTree>
    <p:extLst>
      <p:ext uri="{BB962C8B-B14F-4D97-AF65-F5344CB8AC3E}">
        <p14:creationId xmlns:p14="http://schemas.microsoft.com/office/powerpoint/2010/main" val="517069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finally, to answer our research question:</a:t>
            </a:r>
          </a:p>
          <a:p>
            <a:pPr marL="171450" indent="-171450">
              <a:buFont typeface="Arial" panose="020B0604020202020204" pitchFamily="34" charset="0"/>
              <a:buChar char="•"/>
            </a:pPr>
            <a:r>
              <a:rPr lang="en-US" dirty="0"/>
              <a:t>Temperature is the strongest predictor of Zone 1 power consumption in </a:t>
            </a:r>
            <a:r>
              <a:rPr lang="en-US" dirty="0" err="1"/>
              <a:t>Tetouan</a:t>
            </a:r>
            <a:r>
              <a:rPr lang="en-US" dirty="0"/>
              <a:t> City.</a:t>
            </a:r>
          </a:p>
          <a:p>
            <a:pPr marL="171450" indent="-171450">
              <a:buFont typeface="Arial" panose="020B0604020202020204" pitchFamily="34" charset="0"/>
              <a:buChar char="•"/>
            </a:pPr>
            <a:r>
              <a:rPr lang="en-US" dirty="0"/>
              <a:t>Humidity also has some predictive value, but its effect is weaker compared to temperature.</a:t>
            </a:r>
          </a:p>
          <a:p>
            <a:pPr marL="171450" indent="-171450">
              <a:buFont typeface="Arial" panose="020B0604020202020204" pitchFamily="34" charset="0"/>
              <a:buChar char="•"/>
            </a:pPr>
            <a:r>
              <a:rPr lang="en-US" dirty="0"/>
              <a:t>Wind speed showed very little predictive power and had the weakest relationship overall.</a:t>
            </a:r>
          </a:p>
          <a:p>
            <a:pPr marL="171450" indent="-171450">
              <a:buFont typeface="Arial" panose="020B0604020202020204" pitchFamily="34" charset="0"/>
              <a:buChar char="•"/>
            </a:pPr>
            <a:r>
              <a:rPr lang="en-US" dirty="0"/>
              <a:t>In the future, this research could be expanded by comparing all three power zones separately and by including additional time-based variables to improve prediction accuracy.</a:t>
            </a:r>
          </a:p>
          <a:p>
            <a:pPr marL="171450" indent="-171450">
              <a:buFont typeface="Arial" panose="020B0604020202020204" pitchFamily="34" charset="0"/>
              <a:buChar char="•"/>
            </a:pPr>
            <a:r>
              <a:rPr lang="en-US" dirty="0"/>
              <a:t>Overall, our project showed that weather conditions, especially temperature, play an important role in understanding electricity usage patterns.”</a:t>
            </a:r>
          </a:p>
          <a:p>
            <a:endParaRPr lang="en-US" dirty="0"/>
          </a:p>
        </p:txBody>
      </p:sp>
      <p:sp>
        <p:nvSpPr>
          <p:cNvPr id="4" name="Slide Number Placeholder 3"/>
          <p:cNvSpPr>
            <a:spLocks noGrp="1"/>
          </p:cNvSpPr>
          <p:nvPr>
            <p:ph type="sldNum" sz="quarter" idx="5"/>
          </p:nvPr>
        </p:nvSpPr>
        <p:spPr/>
        <p:txBody>
          <a:bodyPr/>
          <a:lstStyle/>
          <a:p>
            <a:fld id="{543D73E3-4E43-4A7D-9FE8-2EBED20B484E}" type="slidenum">
              <a:rPr lang="en-US" smtClean="0"/>
              <a:t>15</a:t>
            </a:fld>
            <a:endParaRPr lang="en-US"/>
          </a:p>
        </p:txBody>
      </p:sp>
    </p:spTree>
    <p:extLst>
      <p:ext uri="{BB962C8B-B14F-4D97-AF65-F5344CB8AC3E}">
        <p14:creationId xmlns:p14="http://schemas.microsoft.com/office/powerpoint/2010/main" val="330059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3D73E3-4E43-4A7D-9FE8-2EBED20B484E}" type="slidenum">
              <a:rPr lang="en-US" smtClean="0"/>
              <a:t>16</a:t>
            </a:fld>
            <a:endParaRPr lang="en-US"/>
          </a:p>
        </p:txBody>
      </p:sp>
    </p:spTree>
    <p:extLst>
      <p:ext uri="{BB962C8B-B14F-4D97-AF65-F5344CB8AC3E}">
        <p14:creationId xmlns:p14="http://schemas.microsoft.com/office/powerpoint/2010/main" val="965068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5923F103-BC34-4FE4-A40E-EDDEECFDA5D0}" type="datetimeFigureOut">
              <a:rPr lang="en-US" smtClean="0"/>
              <a:pPr/>
              <a:t>5/1/2026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338274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C9CA7B-DFD4-44B5-8C60-D14B8CD1FB59}"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69012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34E6425-0181-43F2-84FC-787E803FD2F8}" type="datetimeFigureOut">
              <a:rPr lang="en-US" smtClean="0"/>
              <a:t>5/1/2026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543164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B8791-F1B0-41E7-B7FD-A781E65C4266}"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196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DD63B2-E120-4ED8-B27B-C685F510A5FE}"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139040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AA18ACC-A947-437B-A130-35BD54FDF1E9}"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1215638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78500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6E86A4C-8E40-4F87-A4F0-01A0687C5742}" type="datetimeFigureOut">
              <a:rPr lang="en-US" smtClean="0"/>
              <a:t>5/1/2026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751184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71644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86D93-FCAC-47E0-A2EE-787E62CA814C}"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32609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CDA879A6-0FD0-4734-A311-86BFCA472E6E}" type="datetimeFigureOut">
              <a:rPr lang="en-US" smtClean="0"/>
              <a:t>5/1/2026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965029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5"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9" cy="576262"/>
          </a:xfrm>
        </p:spPr>
        <p:txBody>
          <a:bodyPr anchor="b">
            <a:noAutofit/>
          </a:bodyPr>
          <a:lstStyle>
            <a:lvl1pPr marL="0" indent="0">
              <a:buNone/>
              <a:defRPr sz="2400" b="0">
                <a:solidFill>
                  <a:schemeClr val="accent1">
                    <a:lumMod val="60000"/>
                    <a:lumOff val="4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6"/>
            <a:ext cx="3141879" cy="2847293"/>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2" y="2603500"/>
            <a:ext cx="3147009" cy="576262"/>
          </a:xfrm>
        </p:spPr>
        <p:txBody>
          <a:bodyPr anchor="b">
            <a:noAutofit/>
          </a:bodyPr>
          <a:lstStyle>
            <a:lvl1pPr marL="0" indent="0">
              <a:buNone/>
              <a:defRPr sz="2400" b="0">
                <a:solidFill>
                  <a:schemeClr val="accent1">
                    <a:lumMod val="60000"/>
                    <a:lumOff val="4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2" y="3179765"/>
            <a:ext cx="3147009" cy="2847293"/>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1" cy="576262"/>
          </a:xfrm>
        </p:spPr>
        <p:txBody>
          <a:bodyPr anchor="b">
            <a:noAutofit/>
          </a:bodyPr>
          <a:lstStyle>
            <a:lvl1pPr marL="0" indent="0">
              <a:buNone/>
              <a:defRPr sz="2400" b="0">
                <a:solidFill>
                  <a:schemeClr val="accent1">
                    <a:lumMod val="60000"/>
                    <a:lumOff val="4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4"/>
            <a:ext cx="3145536" cy="2847293"/>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7" name="Date Placeholder 6"/>
          <p:cNvSpPr>
            <a:spLocks noGrp="1"/>
          </p:cNvSpPr>
          <p:nvPr>
            <p:ph type="dt" sz="half" idx="10"/>
          </p:nvPr>
        </p:nvSpPr>
        <p:spPr/>
        <p:txBody>
          <a:bodyPr/>
          <a:lstStyle/>
          <a:p>
            <a:fld id="{9FE86839-B9D8-4651-8783-F325ECE74E65}" type="datetimeFigureOut">
              <a:rPr lang="en-US" dirty="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9654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BE451C3-0FF4-47C4-B829-773ADF60F88C}" type="datetimeFigureOut">
              <a:rPr lang="en-US" smtClean="0"/>
              <a:t>5/1/2026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72504049"/>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100" name="Rectangle 3099">
            <a:extLst>
              <a:ext uri="{FF2B5EF4-FFF2-40B4-BE49-F238E27FC236}">
                <a16:creationId xmlns:a16="http://schemas.microsoft.com/office/drawing/2014/main" id="{5C300011-FC29-4481-853E-5E2537982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Tetouan Images – Browse 2,815 Stock Photos, Vectors, and Video | Adobe Stock">
            <a:extLst>
              <a:ext uri="{FF2B5EF4-FFF2-40B4-BE49-F238E27FC236}">
                <a16:creationId xmlns:a16="http://schemas.microsoft.com/office/drawing/2014/main" id="{9E7E6F33-0023-239C-3BF8-015286EE96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3"/>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3101" name="Group 3100">
            <a:extLst>
              <a:ext uri="{FF2B5EF4-FFF2-40B4-BE49-F238E27FC236}">
                <a16:creationId xmlns:a16="http://schemas.microsoft.com/office/drawing/2014/main" id="{DB34F5CF-EEE1-407F-9F91-DAF38BFCF8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3082" name="Rectangle 3081">
              <a:extLst>
                <a:ext uri="{FF2B5EF4-FFF2-40B4-BE49-F238E27FC236}">
                  <a16:creationId xmlns:a16="http://schemas.microsoft.com/office/drawing/2014/main" id="{A135DF34-A888-4325-B4A2-13B4077C02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F9FC43"/>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02" name="Rectangle 3101">
              <a:extLst>
                <a:ext uri="{FF2B5EF4-FFF2-40B4-BE49-F238E27FC236}">
                  <a16:creationId xmlns:a16="http://schemas.microsoft.com/office/drawing/2014/main" id="{159E8CFA-1FCB-4C13-A1E3-B46F41BA5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F9FC43"/>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84" name="Rectangle 3083">
              <a:extLst>
                <a:ext uri="{FF2B5EF4-FFF2-40B4-BE49-F238E27FC236}">
                  <a16:creationId xmlns:a16="http://schemas.microsoft.com/office/drawing/2014/main" id="{5B786142-19B2-4A12-9F96-16486BFDA8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rgbClr val="F9FC43"/>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103" name="Rectangle 3102">
            <a:extLst>
              <a:ext uri="{FF2B5EF4-FFF2-40B4-BE49-F238E27FC236}">
                <a16:creationId xmlns:a16="http://schemas.microsoft.com/office/drawing/2014/main" id="{2B088ECE-ADBE-44B1-84A8-2D8A8D135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FCB1730-49C6-E62B-C642-2C0C688314E8}"/>
              </a:ext>
            </a:extLst>
          </p:cNvPr>
          <p:cNvSpPr>
            <a:spLocks noGrp="1"/>
          </p:cNvSpPr>
          <p:nvPr>
            <p:ph type="ctrTitle"/>
          </p:nvPr>
        </p:nvSpPr>
        <p:spPr>
          <a:xfrm>
            <a:off x="584200" y="3992231"/>
            <a:ext cx="10990540" cy="1475013"/>
          </a:xfrm>
        </p:spPr>
        <p:txBody>
          <a:bodyPr>
            <a:normAutofit/>
          </a:bodyPr>
          <a:lstStyle/>
          <a:p>
            <a:r>
              <a:rPr lang="en-US" sz="4000" b="1" dirty="0" err="1">
                <a:solidFill>
                  <a:schemeClr val="bg1"/>
                </a:solidFill>
              </a:rPr>
              <a:t>Tetouan</a:t>
            </a:r>
            <a:r>
              <a:rPr lang="en-US" sz="4000" b="1" dirty="0">
                <a:solidFill>
                  <a:schemeClr val="bg1"/>
                </a:solidFill>
              </a:rPr>
              <a:t> City </a:t>
            </a:r>
            <a:br>
              <a:rPr lang="en-US" sz="4000" b="1" dirty="0">
                <a:solidFill>
                  <a:schemeClr val="bg1"/>
                </a:solidFill>
              </a:rPr>
            </a:br>
            <a:r>
              <a:rPr lang="en-US" sz="4000" b="1" dirty="0">
                <a:solidFill>
                  <a:schemeClr val="bg1"/>
                </a:solidFill>
              </a:rPr>
              <a:t>Power Consumption</a:t>
            </a:r>
            <a:endParaRPr lang="en-US" sz="4000" dirty="0">
              <a:solidFill>
                <a:schemeClr val="bg1"/>
              </a:solidFill>
            </a:endParaRPr>
          </a:p>
        </p:txBody>
      </p:sp>
      <p:sp>
        <p:nvSpPr>
          <p:cNvPr id="3" name="Subtitle 2">
            <a:extLst>
              <a:ext uri="{FF2B5EF4-FFF2-40B4-BE49-F238E27FC236}">
                <a16:creationId xmlns:a16="http://schemas.microsoft.com/office/drawing/2014/main" id="{8AFA6B78-37A8-AEE0-83AB-EBCF34205D70}"/>
              </a:ext>
            </a:extLst>
          </p:cNvPr>
          <p:cNvSpPr>
            <a:spLocks noGrp="1"/>
          </p:cNvSpPr>
          <p:nvPr>
            <p:ph type="subTitle" idx="1"/>
          </p:nvPr>
        </p:nvSpPr>
        <p:spPr>
          <a:xfrm>
            <a:off x="581194" y="5467246"/>
            <a:ext cx="10993546" cy="484822"/>
          </a:xfrm>
        </p:spPr>
        <p:txBody>
          <a:bodyPr>
            <a:normAutofit/>
          </a:bodyPr>
          <a:lstStyle/>
          <a:p>
            <a:r>
              <a:rPr lang="en-US" dirty="0">
                <a:solidFill>
                  <a:srgbClr val="F9FC43"/>
                </a:solidFill>
              </a:rPr>
              <a:t>Mahi Patel , </a:t>
            </a:r>
            <a:r>
              <a:rPr lang="en-US">
                <a:solidFill>
                  <a:srgbClr val="F9FC43"/>
                </a:solidFill>
              </a:rPr>
              <a:t>Rahee</a:t>
            </a:r>
            <a:r>
              <a:rPr lang="en-US" dirty="0">
                <a:solidFill>
                  <a:srgbClr val="F9FC43"/>
                </a:solidFill>
              </a:rPr>
              <a:t> Chauhan, Usman Tahir, Mustafah Khan</a:t>
            </a:r>
          </a:p>
          <a:p>
            <a:endParaRPr lang="en-US" dirty="0">
              <a:solidFill>
                <a:srgbClr val="F9FC43"/>
              </a:solidFill>
            </a:endParaRPr>
          </a:p>
        </p:txBody>
      </p:sp>
    </p:spTree>
    <p:extLst>
      <p:ext uri="{BB962C8B-B14F-4D97-AF65-F5344CB8AC3E}">
        <p14:creationId xmlns:p14="http://schemas.microsoft.com/office/powerpoint/2010/main" val="164498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82" name="Rectangle 2081">
            <a:extLst>
              <a:ext uri="{FF2B5EF4-FFF2-40B4-BE49-F238E27FC236}">
                <a16:creationId xmlns:a16="http://schemas.microsoft.com/office/drawing/2014/main" id="{EE15E636-2C9E-42CB-B482-436AA81BF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Power Grid&quot; Images – Browse 50,783 Stock Photos, Vectors, and Video | Adobe  Stock">
            <a:extLst>
              <a:ext uri="{FF2B5EF4-FFF2-40B4-BE49-F238E27FC236}">
                <a16:creationId xmlns:a16="http://schemas.microsoft.com/office/drawing/2014/main" id="{E00FCC7E-D205-B9EA-0421-289BE40F1D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6445" b="1"/>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2083" name="Group 2082">
            <a:extLst>
              <a:ext uri="{FF2B5EF4-FFF2-40B4-BE49-F238E27FC236}">
                <a16:creationId xmlns:a16="http://schemas.microsoft.com/office/drawing/2014/main" id="{01D4AEDF-0CF9-4271-ABB7-3D3489BB42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2084" name="Rectangle 2083">
              <a:extLst>
                <a:ext uri="{FF2B5EF4-FFF2-40B4-BE49-F238E27FC236}">
                  <a16:creationId xmlns:a16="http://schemas.microsoft.com/office/drawing/2014/main" id="{55CA534D-375A-405E-B686-06B63E6630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85" name="Rectangle 2084">
              <a:extLst>
                <a:ext uri="{FF2B5EF4-FFF2-40B4-BE49-F238E27FC236}">
                  <a16:creationId xmlns:a16="http://schemas.microsoft.com/office/drawing/2014/main" id="{AA2342F7-EF54-4210-9029-E977C9D576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8AF95A9B-24CD-8E0C-8D85-7F63C667FB3D}"/>
              </a:ext>
            </a:extLst>
          </p:cNvPr>
          <p:cNvSpPr>
            <a:spLocks noGrp="1"/>
          </p:cNvSpPr>
          <p:nvPr>
            <p:ph type="title"/>
          </p:nvPr>
        </p:nvSpPr>
        <p:spPr>
          <a:xfrm>
            <a:off x="584200" y="1006956"/>
            <a:ext cx="3412067" cy="1372177"/>
          </a:xfrm>
        </p:spPr>
        <p:txBody>
          <a:bodyPr anchor="ctr">
            <a:normAutofit/>
          </a:bodyPr>
          <a:lstStyle/>
          <a:p>
            <a:r>
              <a:rPr lang="en-US"/>
              <a:t>Introduction and Motivation</a:t>
            </a:r>
          </a:p>
        </p:txBody>
      </p:sp>
      <p:sp>
        <p:nvSpPr>
          <p:cNvPr id="3" name="Content Placeholder 2">
            <a:extLst>
              <a:ext uri="{FF2B5EF4-FFF2-40B4-BE49-F238E27FC236}">
                <a16:creationId xmlns:a16="http://schemas.microsoft.com/office/drawing/2014/main" id="{1D4B5C96-CB20-47AE-3DE4-2828759E95FB}"/>
              </a:ext>
            </a:extLst>
          </p:cNvPr>
          <p:cNvSpPr>
            <a:spLocks noGrp="1"/>
          </p:cNvSpPr>
          <p:nvPr>
            <p:ph idx="1"/>
          </p:nvPr>
        </p:nvSpPr>
        <p:spPr>
          <a:xfrm>
            <a:off x="581193" y="2438399"/>
            <a:ext cx="3415074" cy="3564467"/>
          </a:xfrm>
        </p:spPr>
        <p:txBody>
          <a:bodyPr>
            <a:normAutofit/>
          </a:bodyPr>
          <a:lstStyle/>
          <a:p>
            <a:pPr>
              <a:buClr>
                <a:srgbClr val="D79280"/>
              </a:buClr>
            </a:pPr>
            <a:r>
              <a:rPr lang="en-US">
                <a:solidFill>
                  <a:schemeClr val="bg1"/>
                </a:solidFill>
              </a:rPr>
              <a:t>Study power consumption in Tetouan City</a:t>
            </a:r>
          </a:p>
          <a:p>
            <a:pPr>
              <a:buClr>
                <a:srgbClr val="D79280"/>
              </a:buClr>
            </a:pPr>
            <a:r>
              <a:rPr lang="en-US">
                <a:solidFill>
                  <a:schemeClr val="bg1"/>
                </a:solidFill>
              </a:rPr>
              <a:t>Use weather data to predict electricity usage</a:t>
            </a:r>
          </a:p>
          <a:p>
            <a:pPr>
              <a:buClr>
                <a:srgbClr val="D79280"/>
              </a:buClr>
            </a:pPr>
            <a:r>
              <a:rPr lang="en-US">
                <a:solidFill>
                  <a:schemeClr val="bg1"/>
                </a:solidFill>
              </a:rPr>
              <a:t>Helps improve energy planning and efficiency</a:t>
            </a:r>
          </a:p>
          <a:p>
            <a:pPr>
              <a:buClr>
                <a:srgbClr val="D79280"/>
              </a:buClr>
            </a:pPr>
            <a:r>
              <a:rPr lang="en-US">
                <a:solidFill>
                  <a:schemeClr val="bg1"/>
                </a:solidFill>
              </a:rPr>
              <a:t>Important for smart cities and reducing waste</a:t>
            </a:r>
          </a:p>
        </p:txBody>
      </p:sp>
    </p:spTree>
    <p:extLst>
      <p:ext uri="{BB962C8B-B14F-4D97-AF65-F5344CB8AC3E}">
        <p14:creationId xmlns:p14="http://schemas.microsoft.com/office/powerpoint/2010/main" val="118995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D4932D-DCF2-66DE-C919-BCA03C7051F7}"/>
              </a:ext>
            </a:extLst>
          </p:cNvPr>
          <p:cNvSpPr>
            <a:spLocks noGrp="1"/>
          </p:cNvSpPr>
          <p:nvPr>
            <p:ph type="title"/>
          </p:nvPr>
        </p:nvSpPr>
        <p:spPr>
          <a:xfrm>
            <a:off x="581192" y="702156"/>
            <a:ext cx="11029616" cy="1013800"/>
          </a:xfrm>
        </p:spPr>
        <p:txBody>
          <a:bodyPr>
            <a:normAutofit/>
          </a:bodyPr>
          <a:lstStyle/>
          <a:p>
            <a:r>
              <a:rPr lang="en-US">
                <a:solidFill>
                  <a:srgbClr val="FFFEFF"/>
                </a:solidFill>
              </a:rPr>
              <a:t>Research Question</a:t>
            </a:r>
          </a:p>
        </p:txBody>
      </p:sp>
      <p:graphicFrame>
        <p:nvGraphicFramePr>
          <p:cNvPr id="35" name="Content Placeholder 9">
            <a:extLst>
              <a:ext uri="{FF2B5EF4-FFF2-40B4-BE49-F238E27FC236}">
                <a16:creationId xmlns:a16="http://schemas.microsoft.com/office/drawing/2014/main" id="{D43F9B3C-F0FA-8D12-1794-4D0DA47A122D}"/>
              </a:ext>
            </a:extLst>
          </p:cNvPr>
          <p:cNvGraphicFramePr>
            <a:graphicFrameLocks noGrp="1"/>
          </p:cNvGraphicFramePr>
          <p:nvPr>
            <p:ph idx="1"/>
            <p:extLst>
              <p:ext uri="{D42A27DB-BD31-4B8C-83A1-F6EECF244321}">
                <p14:modId xmlns:p14="http://schemas.microsoft.com/office/powerpoint/2010/main" val="3434823667"/>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7327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BED2B-E0F6-E3C3-698A-DE4156D45FD9}"/>
              </a:ext>
            </a:extLst>
          </p:cNvPr>
          <p:cNvSpPr>
            <a:spLocks noGrp="1"/>
          </p:cNvSpPr>
          <p:nvPr>
            <p:ph type="title"/>
          </p:nvPr>
        </p:nvSpPr>
        <p:spPr>
          <a:xfrm>
            <a:off x="581192" y="702156"/>
            <a:ext cx="11029616" cy="1013800"/>
          </a:xfrm>
        </p:spPr>
        <p:txBody>
          <a:bodyPr>
            <a:normAutofit/>
          </a:bodyPr>
          <a:lstStyle/>
          <a:p>
            <a:r>
              <a:rPr lang="en-US">
                <a:solidFill>
                  <a:srgbClr val="FFFEFF"/>
                </a:solidFill>
              </a:rPr>
              <a:t>Project Overview</a:t>
            </a:r>
          </a:p>
        </p:txBody>
      </p:sp>
      <p:graphicFrame>
        <p:nvGraphicFramePr>
          <p:cNvPr id="5" name="Content Placeholder 2">
            <a:extLst>
              <a:ext uri="{FF2B5EF4-FFF2-40B4-BE49-F238E27FC236}">
                <a16:creationId xmlns:a16="http://schemas.microsoft.com/office/drawing/2014/main" id="{D09C915D-715C-05FF-3CFC-43EB14F778BA}"/>
              </a:ext>
            </a:extLst>
          </p:cNvPr>
          <p:cNvGraphicFramePr>
            <a:graphicFrameLocks noGrp="1"/>
          </p:cNvGraphicFramePr>
          <p:nvPr>
            <p:ph idx="1"/>
            <p:extLst>
              <p:ext uri="{D42A27DB-BD31-4B8C-83A1-F6EECF244321}">
                <p14:modId xmlns:p14="http://schemas.microsoft.com/office/powerpoint/2010/main" val="2756479218"/>
              </p:ext>
            </p:extLst>
          </p:nvPr>
        </p:nvGraphicFramePr>
        <p:xfrm>
          <a:off x="581025" y="1786467"/>
          <a:ext cx="11029950" cy="40729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2779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BC24A1A-1CF8-39B7-24F9-E3D1D2B87EF1}"/>
              </a:ext>
            </a:extLst>
          </p:cNvPr>
          <p:cNvSpPr>
            <a:spLocks noGrp="1"/>
          </p:cNvSpPr>
          <p:nvPr>
            <p:ph type="title"/>
          </p:nvPr>
        </p:nvSpPr>
        <p:spPr>
          <a:xfrm>
            <a:off x="601255" y="702156"/>
            <a:ext cx="3409783" cy="1013800"/>
          </a:xfrm>
        </p:spPr>
        <p:txBody>
          <a:bodyPr>
            <a:normAutofit/>
          </a:bodyPr>
          <a:lstStyle/>
          <a:p>
            <a:r>
              <a:rPr lang="en-US"/>
              <a:t>Data Cleaning</a:t>
            </a:r>
          </a:p>
        </p:txBody>
      </p:sp>
      <p:graphicFrame>
        <p:nvGraphicFramePr>
          <p:cNvPr id="5" name="Content Placeholder 2">
            <a:extLst>
              <a:ext uri="{FF2B5EF4-FFF2-40B4-BE49-F238E27FC236}">
                <a16:creationId xmlns:a16="http://schemas.microsoft.com/office/drawing/2014/main" id="{5632FD1F-F9BF-25D0-3C54-F3BF492AA49C}"/>
              </a:ext>
            </a:extLst>
          </p:cNvPr>
          <p:cNvGraphicFramePr>
            <a:graphicFrameLocks noGrp="1"/>
          </p:cNvGraphicFramePr>
          <p:nvPr>
            <p:ph idx="1"/>
            <p:extLst>
              <p:ext uri="{D42A27DB-BD31-4B8C-83A1-F6EECF244321}">
                <p14:modId xmlns:p14="http://schemas.microsoft.com/office/powerpoint/2010/main" val="860455553"/>
              </p:ext>
            </p:extLst>
          </p:nvPr>
        </p:nvGraphicFramePr>
        <p:xfrm>
          <a:off x="601255" y="1964168"/>
          <a:ext cx="3409782" cy="40365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1" name="Picture 80" descr="A screenshot of a data analysis&#10;&#10;AI-generated content may be incorrect.">
            <a:extLst>
              <a:ext uri="{FF2B5EF4-FFF2-40B4-BE49-F238E27FC236}">
                <a16:creationId xmlns:a16="http://schemas.microsoft.com/office/drawing/2014/main" id="{FD1A1171-7302-EEC4-C32D-E7723B7FC1FA}"/>
              </a:ext>
            </a:extLst>
          </p:cNvPr>
          <p:cNvPicPr>
            <a:picLocks noChangeAspect="1"/>
          </p:cNvPicPr>
          <p:nvPr/>
        </p:nvPicPr>
        <p:blipFill>
          <a:blip r:embed="rId8"/>
          <a:stretch>
            <a:fillRect/>
          </a:stretch>
        </p:blipFill>
        <p:spPr>
          <a:xfrm>
            <a:off x="4284681" y="618226"/>
            <a:ext cx="7461392" cy="5621548"/>
          </a:xfrm>
          <a:prstGeom prst="rect">
            <a:avLst/>
          </a:prstGeom>
        </p:spPr>
      </p:pic>
    </p:spTree>
    <p:extLst>
      <p:ext uri="{BB962C8B-B14F-4D97-AF65-F5344CB8AC3E}">
        <p14:creationId xmlns:p14="http://schemas.microsoft.com/office/powerpoint/2010/main" val="2207820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A1EB241-0852-428A-8A50-67737CA93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7A23EDC2-E1E5-4C5D-9C74-714516AF5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2781548-0E4F-4401-A909-82EDF50D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33030110-5A0B-4476-9070-A890E1987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8A62BB49-05AD-4D45-B17B-258C19ADB6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is image displays a set of boxplots comparing temperature, wind speed, zone 1 power, and humidity across different data points.&#10;&#10;AI-generated content may be incorrect.">
            <a:extLst>
              <a:ext uri="{FF2B5EF4-FFF2-40B4-BE49-F238E27FC236}">
                <a16:creationId xmlns:a16="http://schemas.microsoft.com/office/drawing/2014/main" id="{8ECB00C1-CA57-7925-5E71-2024B781AC57}"/>
              </a:ext>
            </a:extLst>
          </p:cNvPr>
          <p:cNvPicPr>
            <a:picLocks noChangeAspect="1"/>
          </p:cNvPicPr>
          <p:nvPr/>
        </p:nvPicPr>
        <p:blipFill>
          <a:blip r:embed="rId3"/>
          <a:stretch>
            <a:fillRect/>
          </a:stretch>
        </p:blipFill>
        <p:spPr>
          <a:xfrm>
            <a:off x="785870" y="1510850"/>
            <a:ext cx="3032061" cy="3932038"/>
          </a:xfrm>
          <a:prstGeom prst="rect">
            <a:avLst/>
          </a:prstGeom>
        </p:spPr>
      </p:pic>
      <p:sp>
        <p:nvSpPr>
          <p:cNvPr id="21" name="Rectangle 20">
            <a:extLst>
              <a:ext uri="{FF2B5EF4-FFF2-40B4-BE49-F238E27FC236}">
                <a16:creationId xmlns:a16="http://schemas.microsoft.com/office/drawing/2014/main" id="{E44D4667-74B9-431D-AEC9-73B81BE1C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240" y="638175"/>
            <a:ext cx="3696153" cy="57523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CCC28E6-6556-7B50-678A-48BE11AA11AD}"/>
              </a:ext>
            </a:extLst>
          </p:cNvPr>
          <p:cNvSpPr>
            <a:spLocks noGrp="1"/>
          </p:cNvSpPr>
          <p:nvPr>
            <p:ph type="title"/>
          </p:nvPr>
        </p:nvSpPr>
        <p:spPr>
          <a:xfrm>
            <a:off x="8296275" y="1419225"/>
            <a:ext cx="3081576" cy="2085869"/>
          </a:xfrm>
        </p:spPr>
        <p:txBody>
          <a:bodyPr vert="horz" lIns="91440" tIns="45720" rIns="91440" bIns="45720" rtlCol="0" anchor="b">
            <a:normAutofit/>
          </a:bodyPr>
          <a:lstStyle/>
          <a:p>
            <a:pPr>
              <a:lnSpc>
                <a:spcPct val="90000"/>
              </a:lnSpc>
            </a:pPr>
            <a:r>
              <a:rPr lang="en-US" sz="3100">
                <a:solidFill>
                  <a:srgbClr val="FFFFFF"/>
                </a:solidFill>
              </a:rPr>
              <a:t>EDA – Variable Distributions</a:t>
            </a:r>
          </a:p>
        </p:txBody>
      </p:sp>
      <p:sp>
        <p:nvSpPr>
          <p:cNvPr id="3" name="Text Placeholder 2">
            <a:extLst>
              <a:ext uri="{FF2B5EF4-FFF2-40B4-BE49-F238E27FC236}">
                <a16:creationId xmlns:a16="http://schemas.microsoft.com/office/drawing/2014/main" id="{D9BFA52F-4BD3-3FF2-C498-C6BBEB63FF15}"/>
              </a:ext>
            </a:extLst>
          </p:cNvPr>
          <p:cNvSpPr>
            <a:spLocks noGrp="1"/>
          </p:cNvSpPr>
          <p:nvPr>
            <p:ph type="body" idx="1"/>
          </p:nvPr>
        </p:nvSpPr>
        <p:spPr>
          <a:xfrm>
            <a:off x="8296275" y="3505095"/>
            <a:ext cx="3081576" cy="1733655"/>
          </a:xfrm>
        </p:spPr>
        <p:txBody>
          <a:bodyPr vert="horz" lIns="91440" tIns="45720" rIns="91440" bIns="45720" rtlCol="0" anchor="t">
            <a:normAutofit/>
          </a:bodyPr>
          <a:lstStyle/>
          <a:p>
            <a:pPr>
              <a:lnSpc>
                <a:spcPct val="90000"/>
              </a:lnSpc>
            </a:pPr>
            <a:r>
              <a:rPr lang="en-US" sz="900" dirty="0">
                <a:solidFill>
                  <a:srgbClr val="FFFF00"/>
                </a:solidFill>
              </a:rPr>
              <a:t>Key Findings </a:t>
            </a:r>
          </a:p>
          <a:p>
            <a:pPr>
              <a:lnSpc>
                <a:spcPct val="90000"/>
              </a:lnSpc>
            </a:pPr>
            <a:r>
              <a:rPr lang="en-US" sz="900" dirty="0">
                <a:solidFill>
                  <a:srgbClr val="FFFF00"/>
                </a:solidFill>
              </a:rPr>
              <a:t>Temperature : Roughly bell shaped, ~19 C median. A few high temp outliers( &gt; 36C)</a:t>
            </a:r>
          </a:p>
          <a:p>
            <a:pPr>
              <a:lnSpc>
                <a:spcPct val="90000"/>
              </a:lnSpc>
            </a:pPr>
            <a:r>
              <a:rPr lang="en-US" sz="900" dirty="0">
                <a:solidFill>
                  <a:srgbClr val="FFFF00"/>
                </a:solidFill>
              </a:rPr>
              <a:t>Humidity : Left skewed, mostly 60-85%. Some extreme low outliers(~20%)</a:t>
            </a:r>
          </a:p>
          <a:p>
            <a:pPr>
              <a:lnSpc>
                <a:spcPct val="90000"/>
              </a:lnSpc>
            </a:pPr>
            <a:r>
              <a:rPr lang="en-US" sz="900" dirty="0">
                <a:solidFill>
                  <a:srgbClr val="FFFF00"/>
                </a:solidFill>
              </a:rPr>
              <a:t>Wind Speed : Bimodal – clusters at 0 &amp; ~5. Very little in between(unusual pattern)</a:t>
            </a:r>
          </a:p>
          <a:p>
            <a:pPr>
              <a:lnSpc>
                <a:spcPct val="90000"/>
              </a:lnSpc>
            </a:pPr>
            <a:r>
              <a:rPr lang="en-US" sz="900" dirty="0">
                <a:solidFill>
                  <a:srgbClr val="FFFF00"/>
                </a:solidFill>
              </a:rPr>
              <a:t>Zone 1 Power : Approx. normal, centered ~32,000. No major outliers</a:t>
            </a:r>
          </a:p>
        </p:txBody>
      </p:sp>
      <p:pic>
        <p:nvPicPr>
          <p:cNvPr id="11" name="Picture 10" descr="The image displays a series of bar graphs comparing different environmental factors (temperature, humidity, wind speed) and their impact on zone power output, with specific numerical values for each category.&#10;&#10;AI-generated content may be incorrect.">
            <a:extLst>
              <a:ext uri="{FF2B5EF4-FFF2-40B4-BE49-F238E27FC236}">
                <a16:creationId xmlns:a16="http://schemas.microsoft.com/office/drawing/2014/main" id="{1A8EA065-CD4C-D605-10D1-A7BF5D8B8C56}"/>
              </a:ext>
            </a:extLst>
          </p:cNvPr>
          <p:cNvPicPr>
            <a:picLocks noChangeAspect="1"/>
          </p:cNvPicPr>
          <p:nvPr/>
        </p:nvPicPr>
        <p:blipFill>
          <a:blip r:embed="rId4"/>
          <a:stretch>
            <a:fillRect/>
          </a:stretch>
        </p:blipFill>
        <p:spPr>
          <a:xfrm>
            <a:off x="4578192" y="1321691"/>
            <a:ext cx="3027759" cy="3963888"/>
          </a:xfrm>
          <a:prstGeom prst="rect">
            <a:avLst/>
          </a:prstGeom>
        </p:spPr>
      </p:pic>
      <p:sp>
        <p:nvSpPr>
          <p:cNvPr id="23" name="Rectangle 22">
            <a:extLst>
              <a:ext uri="{FF2B5EF4-FFF2-40B4-BE49-F238E27FC236}">
                <a16:creationId xmlns:a16="http://schemas.microsoft.com/office/drawing/2014/main" id="{44F447FB-106D-4BB6-B82F-880DB487A0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1" y="641101"/>
            <a:ext cx="3695019" cy="574946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D8A0B00-C23D-433F-9C32-71C5D8F7B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714" y="638829"/>
            <a:ext cx="3695019" cy="574946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7426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E29E0F-03AD-1457-8690-DDE20CE43845}"/>
              </a:ext>
            </a:extLst>
          </p:cNvPr>
          <p:cNvSpPr>
            <a:spLocks noGrp="1"/>
          </p:cNvSpPr>
          <p:nvPr>
            <p:ph type="title"/>
          </p:nvPr>
        </p:nvSpPr>
        <p:spPr/>
        <p:txBody>
          <a:bodyPr>
            <a:normAutofit fontScale="90000"/>
          </a:bodyPr>
          <a:lstStyle/>
          <a:p>
            <a:r>
              <a:rPr lang="en-US" dirty="0">
                <a:solidFill>
                  <a:schemeClr val="tx1"/>
                </a:solidFill>
              </a:rPr>
              <a:t>Predictor Relationships with Zone 1 Power</a:t>
            </a:r>
            <a:endParaRPr lang="en-US" dirty="0"/>
          </a:p>
        </p:txBody>
      </p:sp>
      <p:sp>
        <p:nvSpPr>
          <p:cNvPr id="5" name="Text Placeholder 4">
            <a:extLst>
              <a:ext uri="{FF2B5EF4-FFF2-40B4-BE49-F238E27FC236}">
                <a16:creationId xmlns:a16="http://schemas.microsoft.com/office/drawing/2014/main" id="{80B25953-A702-B6C9-8C84-B18DC46DBB06}"/>
              </a:ext>
            </a:extLst>
          </p:cNvPr>
          <p:cNvSpPr>
            <a:spLocks noGrp="1"/>
          </p:cNvSpPr>
          <p:nvPr>
            <p:ph type="body" idx="1"/>
          </p:nvPr>
        </p:nvSpPr>
        <p:spPr>
          <a:xfrm>
            <a:off x="374674" y="4830500"/>
            <a:ext cx="3141879" cy="576262"/>
          </a:xfrm>
        </p:spPr>
        <p:txBody>
          <a:bodyPr/>
          <a:lstStyle/>
          <a:p>
            <a:r>
              <a:rPr lang="en-US" b="1" dirty="0"/>
              <a:t>Temperature</a:t>
            </a:r>
          </a:p>
          <a:p>
            <a:endParaRPr lang="en-US" dirty="0"/>
          </a:p>
        </p:txBody>
      </p:sp>
      <p:sp>
        <p:nvSpPr>
          <p:cNvPr id="9" name="Text Placeholder 8">
            <a:extLst>
              <a:ext uri="{FF2B5EF4-FFF2-40B4-BE49-F238E27FC236}">
                <a16:creationId xmlns:a16="http://schemas.microsoft.com/office/drawing/2014/main" id="{03452067-C9F2-C9EA-6257-C7458FD9EAF4}"/>
              </a:ext>
            </a:extLst>
          </p:cNvPr>
          <p:cNvSpPr>
            <a:spLocks noGrp="1"/>
          </p:cNvSpPr>
          <p:nvPr>
            <p:ph type="body" sz="half" idx="15"/>
          </p:nvPr>
        </p:nvSpPr>
        <p:spPr>
          <a:xfrm>
            <a:off x="374674" y="4954816"/>
            <a:ext cx="3141879" cy="2847293"/>
          </a:xfrm>
        </p:spPr>
        <p:txBody>
          <a:bodyPr>
            <a:normAutofit/>
          </a:bodyPr>
          <a:lstStyle/>
          <a:p>
            <a:pPr marL="285744" indent="-285744">
              <a:buFont typeface="Arial" panose="020B0604020202020204" pitchFamily="34" charset="0"/>
              <a:buChar char="•"/>
            </a:pPr>
            <a:r>
              <a:rPr lang="en-US" dirty="0"/>
              <a:t>Strong Positive relationship.</a:t>
            </a:r>
          </a:p>
          <a:p>
            <a:pPr marL="285744" indent="-285744">
              <a:buFont typeface="Arial" panose="020B0604020202020204" pitchFamily="34" charset="0"/>
              <a:buChar char="•"/>
            </a:pPr>
            <a:r>
              <a:rPr lang="en-US" dirty="0"/>
              <a:t>Correlation is about +0.44</a:t>
            </a:r>
          </a:p>
          <a:p>
            <a:pPr marL="285744" indent="-285744">
              <a:buFont typeface="Arial" panose="020B0604020202020204" pitchFamily="34" charset="0"/>
              <a:buChar char="•"/>
            </a:pPr>
            <a:r>
              <a:rPr lang="en-US" dirty="0"/>
              <a:t>As temperature rises, power consumption generally rises.</a:t>
            </a:r>
          </a:p>
          <a:p>
            <a:endParaRPr lang="en-US" dirty="0"/>
          </a:p>
        </p:txBody>
      </p:sp>
      <p:sp>
        <p:nvSpPr>
          <p:cNvPr id="6" name="Text Placeholder 5">
            <a:extLst>
              <a:ext uri="{FF2B5EF4-FFF2-40B4-BE49-F238E27FC236}">
                <a16:creationId xmlns:a16="http://schemas.microsoft.com/office/drawing/2014/main" id="{3063F369-99F0-B3DF-5E87-008FD3F4D352}"/>
              </a:ext>
            </a:extLst>
          </p:cNvPr>
          <p:cNvSpPr>
            <a:spLocks noGrp="1"/>
          </p:cNvSpPr>
          <p:nvPr>
            <p:ph type="body" sz="quarter" idx="3"/>
          </p:nvPr>
        </p:nvSpPr>
        <p:spPr>
          <a:xfrm>
            <a:off x="4300064" y="4808388"/>
            <a:ext cx="3147009" cy="576262"/>
          </a:xfrm>
        </p:spPr>
        <p:txBody>
          <a:bodyPr/>
          <a:lstStyle/>
          <a:p>
            <a:r>
              <a:rPr lang="en-US" b="1" dirty="0"/>
              <a:t>Humidity</a:t>
            </a:r>
          </a:p>
          <a:p>
            <a:endParaRPr lang="en-US" dirty="0"/>
          </a:p>
        </p:txBody>
      </p:sp>
      <p:sp>
        <p:nvSpPr>
          <p:cNvPr id="10" name="Text Placeholder 9">
            <a:extLst>
              <a:ext uri="{FF2B5EF4-FFF2-40B4-BE49-F238E27FC236}">
                <a16:creationId xmlns:a16="http://schemas.microsoft.com/office/drawing/2014/main" id="{F8FBDB7E-1E4B-3FE7-C138-CAF5983CCBC8}"/>
              </a:ext>
            </a:extLst>
          </p:cNvPr>
          <p:cNvSpPr>
            <a:spLocks noGrp="1"/>
          </p:cNvSpPr>
          <p:nvPr>
            <p:ph type="body" sz="half" idx="16"/>
          </p:nvPr>
        </p:nvSpPr>
        <p:spPr>
          <a:xfrm>
            <a:off x="4300063" y="4954816"/>
            <a:ext cx="3147009" cy="2847293"/>
          </a:xfrm>
        </p:spPr>
        <p:txBody>
          <a:bodyPr>
            <a:normAutofit/>
          </a:bodyPr>
          <a:lstStyle/>
          <a:p>
            <a:pPr marL="285744" indent="-285744">
              <a:buFont typeface="Arial" panose="020B0604020202020204" pitchFamily="34" charset="0"/>
              <a:buChar char="•"/>
            </a:pPr>
            <a:r>
              <a:rPr lang="en-US" dirty="0"/>
              <a:t>Moderate negative relationship</a:t>
            </a:r>
          </a:p>
          <a:p>
            <a:pPr marL="285744" indent="-285744">
              <a:buFont typeface="Arial" panose="020B0604020202020204" pitchFamily="34" charset="0"/>
              <a:buChar char="•"/>
            </a:pPr>
            <a:r>
              <a:rPr lang="en-US" dirty="0"/>
              <a:t>Correlation is about -0.29</a:t>
            </a:r>
          </a:p>
          <a:p>
            <a:pPr marL="285744" indent="-285744">
              <a:buFont typeface="Arial" panose="020B0604020202020204" pitchFamily="34" charset="0"/>
              <a:buChar char="•"/>
            </a:pPr>
            <a:r>
              <a:rPr lang="en-US" dirty="0"/>
              <a:t>Higher humidity often appears with lower Zone 1 power. </a:t>
            </a:r>
          </a:p>
          <a:p>
            <a:endParaRPr lang="en-US" dirty="0"/>
          </a:p>
        </p:txBody>
      </p:sp>
      <p:sp>
        <p:nvSpPr>
          <p:cNvPr id="7" name="Text Placeholder 6">
            <a:extLst>
              <a:ext uri="{FF2B5EF4-FFF2-40B4-BE49-F238E27FC236}">
                <a16:creationId xmlns:a16="http://schemas.microsoft.com/office/drawing/2014/main" id="{0961918B-5F46-7F19-56E4-06B686BB6265}"/>
              </a:ext>
            </a:extLst>
          </p:cNvPr>
          <p:cNvSpPr>
            <a:spLocks noGrp="1"/>
          </p:cNvSpPr>
          <p:nvPr>
            <p:ph type="body" sz="quarter" idx="13"/>
          </p:nvPr>
        </p:nvSpPr>
        <p:spPr>
          <a:xfrm>
            <a:off x="7805584" y="4830500"/>
            <a:ext cx="3145731" cy="576262"/>
          </a:xfrm>
        </p:spPr>
        <p:txBody>
          <a:bodyPr/>
          <a:lstStyle/>
          <a:p>
            <a:r>
              <a:rPr lang="en-US" b="1" dirty="0"/>
              <a:t>Wind speed</a:t>
            </a:r>
          </a:p>
          <a:p>
            <a:endParaRPr lang="en-US" dirty="0"/>
          </a:p>
        </p:txBody>
      </p:sp>
      <p:sp>
        <p:nvSpPr>
          <p:cNvPr id="11" name="Text Placeholder 10">
            <a:extLst>
              <a:ext uri="{FF2B5EF4-FFF2-40B4-BE49-F238E27FC236}">
                <a16:creationId xmlns:a16="http://schemas.microsoft.com/office/drawing/2014/main" id="{1F972750-8A8D-619A-81E3-46245C63787A}"/>
              </a:ext>
            </a:extLst>
          </p:cNvPr>
          <p:cNvSpPr>
            <a:spLocks noGrp="1"/>
          </p:cNvSpPr>
          <p:nvPr>
            <p:ph type="body" sz="half" idx="17"/>
          </p:nvPr>
        </p:nvSpPr>
        <p:spPr>
          <a:xfrm>
            <a:off x="7642567" y="4956821"/>
            <a:ext cx="3145536" cy="2847293"/>
          </a:xfrm>
        </p:spPr>
        <p:txBody>
          <a:bodyPr>
            <a:normAutofit/>
          </a:bodyPr>
          <a:lstStyle/>
          <a:p>
            <a:pPr marL="285744" indent="-285744">
              <a:buFont typeface="Arial" panose="020B0604020202020204" pitchFamily="34" charset="0"/>
              <a:buChar char="•"/>
            </a:pPr>
            <a:r>
              <a:rPr lang="en-US" dirty="0"/>
              <a:t>Weak relationship overall</a:t>
            </a:r>
          </a:p>
          <a:p>
            <a:pPr marL="285744" indent="-285744">
              <a:buFont typeface="Arial" panose="020B0604020202020204" pitchFamily="34" charset="0"/>
              <a:buChar char="•"/>
            </a:pPr>
            <a:r>
              <a:rPr lang="en-US" dirty="0"/>
              <a:t>Points form vertical bands around 0 and 5</a:t>
            </a:r>
          </a:p>
          <a:p>
            <a:pPr marL="285744" indent="-285744">
              <a:buFont typeface="Arial" panose="020B0604020202020204" pitchFamily="34" charset="0"/>
              <a:buChar char="•"/>
            </a:pPr>
            <a:r>
              <a:rPr lang="en-US" dirty="0"/>
              <a:t>This suggests wind speed is recorded in discrete clusters. </a:t>
            </a:r>
          </a:p>
          <a:p>
            <a:pPr marL="285744" indent="-285744">
              <a:buFont typeface="Arial" panose="020B0604020202020204" pitchFamily="34" charset="0"/>
              <a:buChar char="•"/>
            </a:pPr>
            <a:r>
              <a:rPr lang="en-US" dirty="0"/>
              <a:t>Does not show clear linear pattern</a:t>
            </a:r>
          </a:p>
          <a:p>
            <a:endParaRPr lang="en-US" dirty="0"/>
          </a:p>
        </p:txBody>
      </p:sp>
      <p:pic>
        <p:nvPicPr>
          <p:cNvPr id="17" name="Picture Placeholder 16" descr="The diagram illustrates a scatter plot showing the relationship between temperature and power consumption in Zone 1, with data points ranging from 50,000 to 10 units of power.&#10;&#10;AI-generated content may be incorrect.">
            <a:extLst>
              <a:ext uri="{FF2B5EF4-FFF2-40B4-BE49-F238E27FC236}">
                <a16:creationId xmlns:a16="http://schemas.microsoft.com/office/drawing/2014/main" id="{C81547F0-568A-F501-A1BC-0C891EEEA1B9}"/>
              </a:ext>
            </a:extLst>
          </p:cNvPr>
          <p:cNvPicPr>
            <a:picLocks noGrp="1" noChangeAspect="1"/>
          </p:cNvPicPr>
          <p:nvPr>
            <p:ph type="pic" idx="4294967295"/>
          </p:nvPr>
        </p:nvPicPr>
        <p:blipFill>
          <a:blip r:embed="rId3"/>
          <a:srcRect t="12420" b="12420"/>
          <a:stretch>
            <a:fillRect/>
          </a:stretch>
        </p:blipFill>
        <p:spPr>
          <a:xfrm>
            <a:off x="128770" y="1903184"/>
            <a:ext cx="3911272" cy="2314458"/>
          </a:xfrm>
          <a:prstGeom prst="rect">
            <a:avLst/>
          </a:prstGeom>
        </p:spPr>
      </p:pic>
      <p:pic>
        <p:nvPicPr>
          <p:cNvPr id="19" name="Picture 18" descr="The diagram depicts a scatter plot comparing the power consumption (in arbitrary units) across different humidity levels, with data points for Zone 1.&#10;&#10;AI-generated content may be incorrect.">
            <a:extLst>
              <a:ext uri="{FF2B5EF4-FFF2-40B4-BE49-F238E27FC236}">
                <a16:creationId xmlns:a16="http://schemas.microsoft.com/office/drawing/2014/main" id="{DEFFB926-9AB5-EE39-9004-33C2B6AEDEA6}"/>
              </a:ext>
            </a:extLst>
          </p:cNvPr>
          <p:cNvPicPr>
            <a:picLocks noChangeAspect="1"/>
          </p:cNvPicPr>
          <p:nvPr/>
        </p:nvPicPr>
        <p:blipFill>
          <a:blip r:embed="rId4"/>
          <a:stretch>
            <a:fillRect/>
          </a:stretch>
        </p:blipFill>
        <p:spPr>
          <a:xfrm>
            <a:off x="4111802" y="1680632"/>
            <a:ext cx="3595552" cy="2754661"/>
          </a:xfrm>
          <a:prstGeom prst="rect">
            <a:avLst/>
          </a:prstGeom>
        </p:spPr>
      </p:pic>
      <p:pic>
        <p:nvPicPr>
          <p:cNvPr id="21" name="Picture 20" descr="The diagram displays a scatter plot illustrating the relationship between wind speed and power generation in Zone 1, with data points ranging from wind speeds of 0 to 50000 and power outputs from -3 to 6.&#10;&#10;AI-generated content may be incorrect.">
            <a:extLst>
              <a:ext uri="{FF2B5EF4-FFF2-40B4-BE49-F238E27FC236}">
                <a16:creationId xmlns:a16="http://schemas.microsoft.com/office/drawing/2014/main" id="{37C96BDA-F05D-27D8-037A-F5FB9D8B35F0}"/>
              </a:ext>
            </a:extLst>
          </p:cNvPr>
          <p:cNvPicPr>
            <a:picLocks noChangeAspect="1"/>
          </p:cNvPicPr>
          <p:nvPr/>
        </p:nvPicPr>
        <p:blipFill>
          <a:blip r:embed="rId5"/>
          <a:stretch>
            <a:fillRect/>
          </a:stretch>
        </p:blipFill>
        <p:spPr>
          <a:xfrm>
            <a:off x="7805584" y="1680631"/>
            <a:ext cx="3956635" cy="2754661"/>
          </a:xfrm>
          <a:prstGeom prst="rect">
            <a:avLst/>
          </a:prstGeom>
        </p:spPr>
      </p:pic>
    </p:spTree>
    <p:extLst>
      <p:ext uri="{BB962C8B-B14F-4D97-AF65-F5344CB8AC3E}">
        <p14:creationId xmlns:p14="http://schemas.microsoft.com/office/powerpoint/2010/main" val="2526664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29FB-3730-9A91-0359-B3757E37ADAE}"/>
              </a:ext>
            </a:extLst>
          </p:cNvPr>
          <p:cNvSpPr>
            <a:spLocks noGrp="1"/>
          </p:cNvSpPr>
          <p:nvPr>
            <p:ph type="title"/>
          </p:nvPr>
        </p:nvSpPr>
        <p:spPr/>
        <p:txBody>
          <a:bodyPr vert="horz" lIns="91440" tIns="45720" rIns="91440" bIns="45720" rtlCol="0" anchor="ctr">
            <a:normAutofit/>
          </a:bodyPr>
          <a:lstStyle/>
          <a:p>
            <a:pPr defTabSz="457200"/>
            <a:r>
              <a:rPr lang="en-US" b="0" i="0" kern="1200">
                <a:solidFill>
                  <a:schemeClr val="bg2"/>
                </a:solidFill>
                <a:latin typeface="+mj-lt"/>
                <a:ea typeface="+mj-ea"/>
                <a:cs typeface="+mj-cs"/>
              </a:rPr>
              <a:t>Correlation &amp; Key Findings</a:t>
            </a:r>
          </a:p>
        </p:txBody>
      </p:sp>
      <p:pic>
        <p:nvPicPr>
          <p:cNvPr id="7" name="Picture 6" descr="The diagram illustrates various factors affecting power consumption across three zones, including temperature, humidity, wind speed, and diffuse flows, with negative values indicating a decrease in power consumption.&#10;&#10;AI-generated content may be incorrect.">
            <a:extLst>
              <a:ext uri="{FF2B5EF4-FFF2-40B4-BE49-F238E27FC236}">
                <a16:creationId xmlns:a16="http://schemas.microsoft.com/office/drawing/2014/main" id="{40E46C03-1EBF-FE99-047C-770CF7F03A24}"/>
              </a:ext>
            </a:extLst>
          </p:cNvPr>
          <p:cNvPicPr>
            <a:picLocks noChangeAspect="1"/>
          </p:cNvPicPr>
          <p:nvPr/>
        </p:nvPicPr>
        <p:blipFill>
          <a:blip r:embed="rId3"/>
          <a:stretch>
            <a:fillRect/>
          </a:stretch>
        </p:blipFill>
        <p:spPr>
          <a:xfrm>
            <a:off x="8337413" y="2376793"/>
            <a:ext cx="3246133" cy="3006620"/>
          </a:xfrm>
          <a:prstGeom prst="roundRect">
            <a:avLst>
              <a:gd name="adj" fmla="val 1858"/>
            </a:avLst>
          </a:prstGeom>
          <a:effectLst/>
        </p:spPr>
      </p:pic>
      <p:pic>
        <p:nvPicPr>
          <p:cNvPr id="5" name="Picture 4" descr="The image shows a line graph depicting the power consumption levels in Zone 1, with values ranging from 20,000 to 50,000, across various dates from January 2017 to January 2018.&#10;&#10;AI-generated content may be incorrect.">
            <a:extLst>
              <a:ext uri="{FF2B5EF4-FFF2-40B4-BE49-F238E27FC236}">
                <a16:creationId xmlns:a16="http://schemas.microsoft.com/office/drawing/2014/main" id="{E15A014E-64D0-96E9-4969-A0184C8E6F08}"/>
              </a:ext>
            </a:extLst>
          </p:cNvPr>
          <p:cNvPicPr>
            <a:picLocks noChangeAspect="1"/>
          </p:cNvPicPr>
          <p:nvPr/>
        </p:nvPicPr>
        <p:blipFill>
          <a:blip r:embed="rId4"/>
          <a:stretch>
            <a:fillRect/>
          </a:stretch>
        </p:blipFill>
        <p:spPr>
          <a:xfrm>
            <a:off x="5136050" y="2493044"/>
            <a:ext cx="3289367" cy="3109302"/>
          </a:xfrm>
          <a:prstGeom prst="roundRect">
            <a:avLst>
              <a:gd name="adj" fmla="val 1858"/>
            </a:avLst>
          </a:prstGeom>
          <a:effectLst/>
        </p:spPr>
      </p:pic>
      <p:sp>
        <p:nvSpPr>
          <p:cNvPr id="9" name="Rectangle: Rounded Corners 8">
            <a:extLst>
              <a:ext uri="{FF2B5EF4-FFF2-40B4-BE49-F238E27FC236}">
                <a16:creationId xmlns:a16="http://schemas.microsoft.com/office/drawing/2014/main" id="{524DACF4-4E98-5D9E-2AE5-24F59BE6E566}"/>
              </a:ext>
            </a:extLst>
          </p:cNvPr>
          <p:cNvSpPr/>
          <p:nvPr/>
        </p:nvSpPr>
        <p:spPr>
          <a:xfrm>
            <a:off x="276726" y="6319003"/>
            <a:ext cx="11613210" cy="387046"/>
          </a:xfrm>
          <a:prstGeom prst="roundRect">
            <a:avLst/>
          </a:prstGeom>
          <a:solidFill>
            <a:schemeClr val="accent6">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latin typeface="Century Gothic"/>
                <a:cs typeface="Helvetica"/>
              </a:rPr>
              <a:t>Key Takeaway : </a:t>
            </a:r>
            <a:r>
              <a:rPr lang="en-US" sz="1200">
                <a:solidFill>
                  <a:schemeClr val="tx1"/>
                </a:solidFill>
                <a:latin typeface="Century Gothic"/>
                <a:cs typeface="Helvetica"/>
              </a:rPr>
              <a:t>Temperature is the strongest predictor, followed by Humidity. Wind Speed shows minimal predictive relationship with Zone 1 power.</a:t>
            </a:r>
            <a:endParaRPr lang="en-US" sz="1200">
              <a:solidFill>
                <a:schemeClr val="tx1"/>
              </a:solidFill>
              <a:latin typeface="Century Gothic"/>
            </a:endParaRPr>
          </a:p>
        </p:txBody>
      </p:sp>
      <p:sp>
        <p:nvSpPr>
          <p:cNvPr id="4" name="TextBox 3">
            <a:extLst>
              <a:ext uri="{FF2B5EF4-FFF2-40B4-BE49-F238E27FC236}">
                <a16:creationId xmlns:a16="http://schemas.microsoft.com/office/drawing/2014/main" id="{827E6A13-176C-F35E-2CC5-82EA442D80D6}"/>
              </a:ext>
            </a:extLst>
          </p:cNvPr>
          <p:cNvSpPr txBox="1"/>
          <p:nvPr/>
        </p:nvSpPr>
        <p:spPr>
          <a:xfrm>
            <a:off x="1163744" y="2274193"/>
            <a:ext cx="2656732" cy="14619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Century Gothic"/>
                <a:cs typeface="Helvetica"/>
              </a:rPr>
              <a:t>Seasonal Pattern</a:t>
            </a:r>
            <a:endParaRPr lang="en-US" sz="1200" b="1">
              <a:latin typeface="Century Gothic"/>
            </a:endParaRPr>
          </a:p>
          <a:p>
            <a:endParaRPr lang="en-US" sz="1100" b="1">
              <a:latin typeface="Century Gothic"/>
              <a:cs typeface="Helvetica"/>
            </a:endParaRPr>
          </a:p>
          <a:p>
            <a:pPr marL="171450" indent="-171450">
              <a:buFont typeface="Wingdings"/>
              <a:buChar char="q"/>
            </a:pPr>
            <a:r>
              <a:rPr lang="en-US" sz="1100">
                <a:latin typeface="Century Gothic"/>
                <a:cs typeface="Helvetica"/>
              </a:rPr>
              <a:t>Power peaks in Jul–Aug 2017 (summer AC use), dips in spring/fall.</a:t>
            </a:r>
            <a:endParaRPr lang="en-US" sz="1100">
              <a:latin typeface="Century Gothic"/>
            </a:endParaRPr>
          </a:p>
          <a:p>
            <a:endParaRPr lang="en-US" sz="1100">
              <a:latin typeface="Century Gothic"/>
              <a:cs typeface="Helvetica"/>
            </a:endParaRPr>
          </a:p>
          <a:p>
            <a:pPr marL="171450" indent="-171450">
              <a:buFont typeface="Wingdings"/>
              <a:buChar char="q"/>
            </a:pPr>
            <a:r>
              <a:rPr lang="en-US" sz="1100">
                <a:latin typeface="Century Gothic"/>
                <a:cs typeface="Helvetica"/>
              </a:rPr>
              <a:t>Confirms temperature is a key driver of consumption.</a:t>
            </a:r>
            <a:endParaRPr lang="en-US" sz="1100">
              <a:latin typeface="Century Gothic"/>
            </a:endParaRPr>
          </a:p>
        </p:txBody>
      </p:sp>
      <p:sp>
        <p:nvSpPr>
          <p:cNvPr id="8" name="TextBox 7">
            <a:extLst>
              <a:ext uri="{FF2B5EF4-FFF2-40B4-BE49-F238E27FC236}">
                <a16:creationId xmlns:a16="http://schemas.microsoft.com/office/drawing/2014/main" id="{1DC02091-4C3A-D737-36C5-84DE5FCF6661}"/>
              </a:ext>
            </a:extLst>
          </p:cNvPr>
          <p:cNvSpPr txBox="1"/>
          <p:nvPr/>
        </p:nvSpPr>
        <p:spPr>
          <a:xfrm>
            <a:off x="1184030" y="3903784"/>
            <a:ext cx="3083169" cy="39446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000"/>
              </a:spcBef>
            </a:pPr>
            <a:r>
              <a:rPr lang="en-US" sz="1200" b="1"/>
              <a:t>Correlation Heatmap Takeaways</a:t>
            </a:r>
            <a:endParaRPr lang="en-US" sz="1200"/>
          </a:p>
          <a:p>
            <a:pPr marL="171450" indent="-171450">
              <a:spcBef>
                <a:spcPts val="1000"/>
              </a:spcBef>
              <a:buFont typeface="Wingdings"/>
              <a:buChar char="q"/>
            </a:pPr>
            <a:r>
              <a:rPr lang="en-US" sz="1100">
                <a:solidFill>
                  <a:srgbClr val="171E2D"/>
                </a:solidFill>
              </a:rPr>
              <a:t>Temperature → Zone 1:  strongest positive correlation</a:t>
            </a:r>
            <a:endParaRPr lang="en-US" sz="1100"/>
          </a:p>
          <a:p>
            <a:pPr marL="171450" indent="-171450">
              <a:spcBef>
                <a:spcPts val="1000"/>
              </a:spcBef>
              <a:buFont typeface="Wingdings"/>
              <a:buChar char="q"/>
            </a:pPr>
            <a:r>
              <a:rPr lang="en-US" sz="1100">
                <a:solidFill>
                  <a:srgbClr val="171E2D"/>
                </a:solidFill>
              </a:rPr>
              <a:t>Humidity → Zone 1:  moderate negative correlation</a:t>
            </a:r>
            <a:endParaRPr lang="en-US" sz="1100"/>
          </a:p>
          <a:p>
            <a:pPr marL="171450" indent="-171450">
              <a:spcBef>
                <a:spcPts val="1000"/>
              </a:spcBef>
              <a:buFont typeface="Wingdings"/>
              <a:buChar char="q"/>
            </a:pPr>
            <a:r>
              <a:rPr lang="en-US" sz="1100">
                <a:solidFill>
                  <a:srgbClr val="171E2D"/>
                </a:solidFill>
              </a:rPr>
              <a:t>Wind Speed → Zone 1:  near zero / very weak</a:t>
            </a:r>
            <a:endParaRPr lang="en-US" sz="1100"/>
          </a:p>
          <a:p>
            <a:pPr marL="171450" indent="-171450">
              <a:spcBef>
                <a:spcPts val="1000"/>
              </a:spcBef>
              <a:buFont typeface="Wingdings"/>
              <a:buChar char="q"/>
            </a:pPr>
            <a:r>
              <a:rPr lang="en-US" sz="1100">
                <a:solidFill>
                  <a:srgbClr val="171E2D"/>
                </a:solidFill>
              </a:rPr>
              <a:t>Temperature &amp; Humidity:  negatively correlated with each other</a:t>
            </a:r>
            <a:endParaRPr lang="en-US" sz="1100"/>
          </a:p>
          <a:p>
            <a:pPr>
              <a:spcBef>
                <a:spcPts val="1000"/>
              </a:spcBef>
            </a:pPr>
            <a:endParaRPr lang="en-US" sz="1100"/>
          </a:p>
          <a:p>
            <a:pPr marL="285750" indent="-285750">
              <a:spcBef>
                <a:spcPts val="1000"/>
              </a:spcBef>
              <a:buFont typeface="Wingdings"/>
              <a:buChar char="q"/>
            </a:pPr>
            <a:endParaRPr lang="en-US" sz="1600"/>
          </a:p>
          <a:p>
            <a:pPr marL="285750" indent="-285750">
              <a:spcBef>
                <a:spcPts val="1000"/>
              </a:spcBef>
              <a:buFont typeface="Wingdings"/>
              <a:buChar char="q"/>
            </a:pPr>
            <a:endParaRPr lang="en-US"/>
          </a:p>
          <a:p>
            <a:endParaRPr lang="en-US"/>
          </a:p>
          <a:p>
            <a:pPr algn="l"/>
            <a:endParaRPr lang="en-US"/>
          </a:p>
        </p:txBody>
      </p:sp>
    </p:spTree>
    <p:extLst>
      <p:ext uri="{BB962C8B-B14F-4D97-AF65-F5344CB8AC3E}">
        <p14:creationId xmlns:p14="http://schemas.microsoft.com/office/powerpoint/2010/main" val="2658482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A078A52F-85EA-4C0B-962B-D9D9DD4DD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48">
            <a:extLst>
              <a:ext uri="{FF2B5EF4-FFF2-40B4-BE49-F238E27FC236}">
                <a16:creationId xmlns:a16="http://schemas.microsoft.com/office/drawing/2014/main" id="{919797D5-5700-4683-B30A-5B4D56CB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49">
            <a:extLst>
              <a:ext uri="{FF2B5EF4-FFF2-40B4-BE49-F238E27FC236}">
                <a16:creationId xmlns:a16="http://schemas.microsoft.com/office/drawing/2014/main" id="{4856A7B9-9801-42EC-A4C9-7E22A56EF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50">
            <a:extLst>
              <a:ext uri="{FF2B5EF4-FFF2-40B4-BE49-F238E27FC236}">
                <a16:creationId xmlns:a16="http://schemas.microsoft.com/office/drawing/2014/main" id="{A8D10092-A860-4EFB-963F-A14DA3648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21493E6-1E88-1614-5ABF-8B2E87C42167}"/>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a:t>Pair plot : all Main relationship</a:t>
            </a:r>
            <a:endParaRPr lang="en-US" dirty="0"/>
          </a:p>
        </p:txBody>
      </p:sp>
      <p:sp>
        <p:nvSpPr>
          <p:cNvPr id="4" name="Content Placeholder 3">
            <a:extLst>
              <a:ext uri="{FF2B5EF4-FFF2-40B4-BE49-F238E27FC236}">
                <a16:creationId xmlns:a16="http://schemas.microsoft.com/office/drawing/2014/main" id="{749B300E-92E9-B15B-11DE-BB790CFEB5B8}"/>
              </a:ext>
            </a:extLst>
          </p:cNvPr>
          <p:cNvSpPr>
            <a:spLocks noGrp="1"/>
          </p:cNvSpPr>
          <p:nvPr>
            <p:ph sz="half" idx="2"/>
          </p:nvPr>
        </p:nvSpPr>
        <p:spPr>
          <a:xfrm>
            <a:off x="440286" y="2196824"/>
            <a:ext cx="7225075" cy="3678303"/>
          </a:xfrm>
        </p:spPr>
        <p:txBody>
          <a:bodyPr vert="horz" lIns="91440" tIns="45720" rIns="91440" bIns="45720" rtlCol="0" anchor="ctr">
            <a:normAutofit/>
          </a:bodyPr>
          <a:lstStyle/>
          <a:p>
            <a:r>
              <a:rPr lang="en-US" sz="2000" dirty="0"/>
              <a:t>Each small panel compares two variables</a:t>
            </a:r>
          </a:p>
          <a:p>
            <a:r>
              <a:rPr lang="en-US" sz="2000" dirty="0"/>
              <a:t>Temperature vs Zone 1 power shows an upward trend</a:t>
            </a:r>
          </a:p>
          <a:p>
            <a:r>
              <a:rPr lang="en-US" sz="2000" dirty="0"/>
              <a:t>Humidity vs Zone 1 power shows downward trend</a:t>
            </a:r>
          </a:p>
          <a:p>
            <a:r>
              <a:rPr lang="en-US" sz="2000" dirty="0"/>
              <a:t>Wind speed shows two distinct vertical bands</a:t>
            </a:r>
          </a:p>
          <a:p>
            <a:r>
              <a:rPr lang="en-US" sz="2000" dirty="0"/>
              <a:t>Temperature and Humidity are negatively related.</a:t>
            </a:r>
          </a:p>
        </p:txBody>
      </p:sp>
      <p:pic>
        <p:nvPicPr>
          <p:cNvPr id="5" name="Image 0" descr="preencoded.png">
            <a:extLst>
              <a:ext uri="{FF2B5EF4-FFF2-40B4-BE49-F238E27FC236}">
                <a16:creationId xmlns:a16="http://schemas.microsoft.com/office/drawing/2014/main" id="{28B4CA1F-3832-816D-07B6-47429414CFAE}"/>
              </a:ext>
            </a:extLst>
          </p:cNvPr>
          <p:cNvPicPr>
            <a:picLocks noGrp="1" noChangeAspect="1"/>
          </p:cNvPicPr>
          <p:nvPr>
            <p:ph sz="half" idx="1"/>
          </p:nvPr>
        </p:nvPicPr>
        <p:blipFill>
          <a:blip r:embed="rId3"/>
          <a:srcRect r="-1" b="13473"/>
          <a:stretch>
            <a:fillRect/>
          </a:stretch>
        </p:blipFill>
        <p:spPr>
          <a:xfrm>
            <a:off x="6629399" y="1891454"/>
            <a:ext cx="5116067" cy="4655721"/>
          </a:xfrm>
          <a:prstGeom prst="rect">
            <a:avLst/>
          </a:prstGeom>
        </p:spPr>
      </p:pic>
    </p:spTree>
    <p:extLst>
      <p:ext uri="{BB962C8B-B14F-4D97-AF65-F5344CB8AC3E}">
        <p14:creationId xmlns:p14="http://schemas.microsoft.com/office/powerpoint/2010/main" val="3528842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AC54D-1462-A1A2-BC5A-67638BB238FB}"/>
              </a:ext>
            </a:extLst>
          </p:cNvPr>
          <p:cNvSpPr>
            <a:spLocks noGrp="1"/>
          </p:cNvSpPr>
          <p:nvPr>
            <p:ph type="title"/>
          </p:nvPr>
        </p:nvSpPr>
        <p:spPr/>
        <p:txBody>
          <a:bodyPr vert="horz" lIns="91440" tIns="45720" rIns="91440" bIns="45720" rtlCol="0" anchor="b">
            <a:normAutofit/>
          </a:bodyPr>
          <a:lstStyle/>
          <a:p>
            <a:r>
              <a:rPr lang="en-US" dirty="0">
                <a:solidFill>
                  <a:schemeClr val="tx1"/>
                </a:solidFill>
              </a:rPr>
              <a:t>Model Building</a:t>
            </a:r>
          </a:p>
        </p:txBody>
      </p:sp>
      <p:sp>
        <p:nvSpPr>
          <p:cNvPr id="9" name="Text Placeholder 8">
            <a:extLst>
              <a:ext uri="{FF2B5EF4-FFF2-40B4-BE49-F238E27FC236}">
                <a16:creationId xmlns:a16="http://schemas.microsoft.com/office/drawing/2014/main" id="{BCAA20A8-598A-C261-4FB0-1D2D2213C688}"/>
              </a:ext>
            </a:extLst>
          </p:cNvPr>
          <p:cNvSpPr>
            <a:spLocks noGrp="1"/>
          </p:cNvSpPr>
          <p:nvPr>
            <p:ph type="body" idx="1"/>
          </p:nvPr>
        </p:nvSpPr>
        <p:spPr>
          <a:xfrm>
            <a:off x="738003" y="2091685"/>
            <a:ext cx="3565861" cy="714676"/>
          </a:xfrm>
        </p:spPr>
        <p:txBody>
          <a:bodyPr/>
          <a:lstStyle/>
          <a:p>
            <a:r>
              <a:rPr lang="en-US" dirty="0"/>
              <a:t>Multiple Linear Regression	</a:t>
            </a:r>
          </a:p>
        </p:txBody>
      </p:sp>
      <p:sp>
        <p:nvSpPr>
          <p:cNvPr id="12" name="Text Placeholder 11">
            <a:extLst>
              <a:ext uri="{FF2B5EF4-FFF2-40B4-BE49-F238E27FC236}">
                <a16:creationId xmlns:a16="http://schemas.microsoft.com/office/drawing/2014/main" id="{AA9C4917-856E-1C7B-96E2-17BC01DC2FA0}"/>
              </a:ext>
            </a:extLst>
          </p:cNvPr>
          <p:cNvSpPr>
            <a:spLocks noGrp="1"/>
          </p:cNvSpPr>
          <p:nvPr>
            <p:ph type="body" sz="half" idx="15"/>
          </p:nvPr>
        </p:nvSpPr>
        <p:spPr>
          <a:xfrm>
            <a:off x="1151295" y="2806361"/>
            <a:ext cx="3141879" cy="2847293"/>
          </a:xfrm>
        </p:spPr>
        <p:txBody>
          <a:bodyPr>
            <a:normAutofit/>
          </a:bodyPr>
          <a:lstStyle/>
          <a:p>
            <a:pPr marL="285750" indent="-285750">
              <a:buFont typeface="Arial" panose="020B0604020202020204" pitchFamily="34" charset="0"/>
              <a:buChar char="•"/>
            </a:pPr>
            <a:r>
              <a:rPr lang="en-US" sz="1800" dirty="0"/>
              <a:t>Interpretable baseline model using linear relationships and coefficients.</a:t>
            </a:r>
          </a:p>
          <a:p>
            <a:pPr marL="285750" indent="-285750">
              <a:buFont typeface="Arial" panose="020B0604020202020204" pitchFamily="34" charset="0"/>
              <a:buChar char="•"/>
            </a:pPr>
            <a:r>
              <a:rPr lang="en-US" sz="1800" dirty="0"/>
              <a:t>Predictors : Temperature, Humidity, Wind, Speed, general diffuse flows, diffuse flows	</a:t>
            </a:r>
          </a:p>
          <a:p>
            <a:endParaRPr lang="en-US" sz="1800" dirty="0"/>
          </a:p>
        </p:txBody>
      </p:sp>
      <p:sp>
        <p:nvSpPr>
          <p:cNvPr id="10" name="Text Placeholder 9">
            <a:extLst>
              <a:ext uri="{FF2B5EF4-FFF2-40B4-BE49-F238E27FC236}">
                <a16:creationId xmlns:a16="http://schemas.microsoft.com/office/drawing/2014/main" id="{64362450-3CA7-CD3B-903E-B51ED6F468E1}"/>
              </a:ext>
            </a:extLst>
          </p:cNvPr>
          <p:cNvSpPr>
            <a:spLocks noGrp="1"/>
          </p:cNvSpPr>
          <p:nvPr>
            <p:ph type="body" sz="quarter" idx="3"/>
          </p:nvPr>
        </p:nvSpPr>
        <p:spPr>
          <a:xfrm>
            <a:off x="4512721" y="1872761"/>
            <a:ext cx="3147009" cy="576262"/>
          </a:xfrm>
        </p:spPr>
        <p:txBody>
          <a:bodyPr/>
          <a:lstStyle/>
          <a:p>
            <a:r>
              <a:rPr lang="en-US" dirty="0"/>
              <a:t>LASSO Regression</a:t>
            </a:r>
          </a:p>
        </p:txBody>
      </p:sp>
      <p:sp>
        <p:nvSpPr>
          <p:cNvPr id="13" name="Text Placeholder 12">
            <a:extLst>
              <a:ext uri="{FF2B5EF4-FFF2-40B4-BE49-F238E27FC236}">
                <a16:creationId xmlns:a16="http://schemas.microsoft.com/office/drawing/2014/main" id="{F13807A8-A52A-2D6B-5BE5-73316A043B2A}"/>
              </a:ext>
            </a:extLst>
          </p:cNvPr>
          <p:cNvSpPr>
            <a:spLocks noGrp="1"/>
          </p:cNvSpPr>
          <p:nvPr>
            <p:ph type="body" sz="half" idx="16"/>
          </p:nvPr>
        </p:nvSpPr>
        <p:spPr>
          <a:xfrm>
            <a:off x="4408292" y="2806361"/>
            <a:ext cx="3147009" cy="2847293"/>
          </a:xfrm>
        </p:spPr>
        <p:txBody>
          <a:bodyPr>
            <a:normAutofit/>
          </a:bodyPr>
          <a:lstStyle/>
          <a:p>
            <a:pPr marL="285750" indent="-285750">
              <a:buFont typeface="Arial" panose="020B0604020202020204" pitchFamily="34" charset="0"/>
              <a:buChar char="•"/>
            </a:pPr>
            <a:r>
              <a:rPr lang="en-US" sz="1800" dirty="0"/>
              <a:t>Regularized regression that can shrink weak coefficients and help with variable selection</a:t>
            </a:r>
          </a:p>
          <a:p>
            <a:pPr marL="285750" indent="-285750">
              <a:buFont typeface="Arial" panose="020B0604020202020204" pitchFamily="34" charset="0"/>
              <a:buChar char="•"/>
            </a:pPr>
            <a:r>
              <a:rPr lang="en-US" sz="1800" dirty="0"/>
              <a:t>Tuning : lambda selected using cross - validation</a:t>
            </a:r>
          </a:p>
          <a:p>
            <a:endParaRPr lang="en-US" sz="1800" dirty="0"/>
          </a:p>
        </p:txBody>
      </p:sp>
      <p:sp>
        <p:nvSpPr>
          <p:cNvPr id="4" name="Content Placeholder 3">
            <a:extLst>
              <a:ext uri="{FF2B5EF4-FFF2-40B4-BE49-F238E27FC236}">
                <a16:creationId xmlns:a16="http://schemas.microsoft.com/office/drawing/2014/main" id="{1E481A0B-C148-D4C5-9EE6-BA07C4AAD236}"/>
              </a:ext>
            </a:extLst>
          </p:cNvPr>
          <p:cNvSpPr>
            <a:spLocks noGrp="1"/>
          </p:cNvSpPr>
          <p:nvPr>
            <p:ph type="body" sz="quarter" idx="13"/>
          </p:nvPr>
        </p:nvSpPr>
        <p:spPr>
          <a:xfrm>
            <a:off x="7659730" y="1917080"/>
            <a:ext cx="3145731" cy="576262"/>
          </a:xfrm>
        </p:spPr>
        <p:txBody>
          <a:bodyPr vert="horz" lIns="91440" tIns="45720" rIns="91440" bIns="45720" rtlCol="0" anchor="t">
            <a:normAutofit fontScale="92500"/>
          </a:bodyPr>
          <a:lstStyle/>
          <a:p>
            <a:r>
              <a:rPr lang="en-US" dirty="0"/>
              <a:t>Decision Tree Regression</a:t>
            </a:r>
          </a:p>
        </p:txBody>
      </p:sp>
      <p:sp>
        <p:nvSpPr>
          <p:cNvPr id="14" name="Text Placeholder 13">
            <a:extLst>
              <a:ext uri="{FF2B5EF4-FFF2-40B4-BE49-F238E27FC236}">
                <a16:creationId xmlns:a16="http://schemas.microsoft.com/office/drawing/2014/main" id="{261D892B-3544-1757-837A-F4A98FDFAFFA}"/>
              </a:ext>
            </a:extLst>
          </p:cNvPr>
          <p:cNvSpPr>
            <a:spLocks noGrp="1"/>
          </p:cNvSpPr>
          <p:nvPr>
            <p:ph type="body" sz="half" idx="17"/>
          </p:nvPr>
        </p:nvSpPr>
        <p:spPr>
          <a:xfrm>
            <a:off x="7895169" y="2806361"/>
            <a:ext cx="3145536" cy="2847293"/>
          </a:xfrm>
        </p:spPr>
        <p:txBody>
          <a:bodyPr>
            <a:normAutofit/>
          </a:bodyPr>
          <a:lstStyle/>
          <a:p>
            <a:pPr marL="285750" indent="-285750">
              <a:buFont typeface="Arial" panose="020B0604020202020204" pitchFamily="34" charset="0"/>
              <a:buChar char="•"/>
            </a:pPr>
            <a:r>
              <a:rPr lang="en-US" sz="1800" dirty="0"/>
              <a:t>Nonlinear if-then model that splits data into groups and predicts average power in each leaf</a:t>
            </a:r>
          </a:p>
          <a:p>
            <a:pPr marL="285750" indent="-285750">
              <a:buFont typeface="Arial" panose="020B0604020202020204" pitchFamily="34" charset="0"/>
              <a:buChar char="•"/>
            </a:pPr>
            <a:r>
              <a:rPr lang="en-US" sz="1800" dirty="0"/>
              <a:t>Tuning : complexity parameter cp and pruning.</a:t>
            </a:r>
          </a:p>
        </p:txBody>
      </p:sp>
      <p:sp>
        <p:nvSpPr>
          <p:cNvPr id="15" name="Rectangle: Rounded Corners 14">
            <a:extLst>
              <a:ext uri="{FF2B5EF4-FFF2-40B4-BE49-F238E27FC236}">
                <a16:creationId xmlns:a16="http://schemas.microsoft.com/office/drawing/2014/main" id="{D9495C31-C114-0A76-7110-22696ADB89A1}"/>
              </a:ext>
            </a:extLst>
          </p:cNvPr>
          <p:cNvSpPr/>
          <p:nvPr/>
        </p:nvSpPr>
        <p:spPr>
          <a:xfrm>
            <a:off x="326570" y="5451531"/>
            <a:ext cx="11413673" cy="865601"/>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Evaluation step : </a:t>
            </a:r>
            <a:r>
              <a:rPr lang="en-US" sz="2000" dirty="0">
                <a:solidFill>
                  <a:schemeClr val="tx1"/>
                </a:solidFill>
              </a:rPr>
              <a:t>80% training data, 20% test data. All models used the same split and were compared using RMSE. </a:t>
            </a:r>
          </a:p>
        </p:txBody>
      </p:sp>
    </p:spTree>
    <p:extLst>
      <p:ext uri="{BB962C8B-B14F-4D97-AF65-F5344CB8AC3E}">
        <p14:creationId xmlns:p14="http://schemas.microsoft.com/office/powerpoint/2010/main" val="3993384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781F-60D1-26BC-3A58-443BDA4775EB}"/>
              </a:ext>
            </a:extLst>
          </p:cNvPr>
          <p:cNvSpPr>
            <a:spLocks noGrp="1"/>
          </p:cNvSpPr>
          <p:nvPr>
            <p:ph type="title"/>
          </p:nvPr>
        </p:nvSpPr>
        <p:spPr>
          <a:xfrm>
            <a:off x="579120" y="973668"/>
            <a:ext cx="9936479" cy="706964"/>
          </a:xfrm>
        </p:spPr>
        <p:txBody>
          <a:bodyPr/>
          <a:lstStyle/>
          <a:p>
            <a:r>
              <a:rPr lang="en-US" dirty="0"/>
              <a:t>Multiple Linear Regression</a:t>
            </a:r>
          </a:p>
        </p:txBody>
      </p:sp>
      <p:sp>
        <p:nvSpPr>
          <p:cNvPr id="3" name="Text Placeholder 2">
            <a:extLst>
              <a:ext uri="{FF2B5EF4-FFF2-40B4-BE49-F238E27FC236}">
                <a16:creationId xmlns:a16="http://schemas.microsoft.com/office/drawing/2014/main" id="{EFE6597A-6488-2597-7F70-0532180DD19B}"/>
              </a:ext>
            </a:extLst>
          </p:cNvPr>
          <p:cNvSpPr>
            <a:spLocks noGrp="1"/>
          </p:cNvSpPr>
          <p:nvPr>
            <p:ph type="body" idx="1"/>
          </p:nvPr>
        </p:nvSpPr>
        <p:spPr>
          <a:xfrm>
            <a:off x="239573" y="1927888"/>
            <a:ext cx="4825157" cy="576262"/>
          </a:xfrm>
        </p:spPr>
        <p:txBody>
          <a:bodyPr/>
          <a:lstStyle/>
          <a:p>
            <a:r>
              <a:rPr lang="en-US" dirty="0"/>
              <a:t>Model Performance</a:t>
            </a:r>
          </a:p>
        </p:txBody>
      </p:sp>
      <p:sp>
        <p:nvSpPr>
          <p:cNvPr id="4" name="Content Placeholder 3">
            <a:extLst>
              <a:ext uri="{FF2B5EF4-FFF2-40B4-BE49-F238E27FC236}">
                <a16:creationId xmlns:a16="http://schemas.microsoft.com/office/drawing/2014/main" id="{83DA9293-C8D8-894B-A741-AF6B8D443C34}"/>
              </a:ext>
            </a:extLst>
          </p:cNvPr>
          <p:cNvSpPr>
            <a:spLocks noGrp="1"/>
          </p:cNvSpPr>
          <p:nvPr>
            <p:ph sz="half" idx="2"/>
          </p:nvPr>
        </p:nvSpPr>
        <p:spPr>
          <a:xfrm>
            <a:off x="239571" y="2474574"/>
            <a:ext cx="4332430" cy="3132926"/>
          </a:xfrm>
        </p:spPr>
        <p:txBody>
          <a:bodyPr>
            <a:noAutofit/>
          </a:bodyPr>
          <a:lstStyle/>
          <a:p>
            <a:r>
              <a:rPr lang="en-US" dirty="0"/>
              <a:t>R² = 0.206</a:t>
            </a:r>
          </a:p>
          <a:p>
            <a:r>
              <a:rPr lang="en-US" dirty="0"/>
              <a:t>Test RMSE = 6305.16</a:t>
            </a:r>
          </a:p>
          <a:p>
            <a:r>
              <a:rPr lang="en-US" dirty="0"/>
              <a:t>All predictors except Diffuse flows were statistically significant (p &lt; 0.001)</a:t>
            </a:r>
          </a:p>
          <a:p>
            <a:r>
              <a:rPr lang="en-US" dirty="0"/>
              <a:t>Model explains about 20.6% of variation in Zone 1 power.</a:t>
            </a:r>
          </a:p>
          <a:p>
            <a:r>
              <a:rPr lang="en-US" dirty="0"/>
              <a:t>Thus, temperature had largest positive effect, so it is strongest predictor in linear model</a:t>
            </a:r>
          </a:p>
        </p:txBody>
      </p:sp>
      <p:sp>
        <p:nvSpPr>
          <p:cNvPr id="5" name="Text Placeholder 4">
            <a:extLst>
              <a:ext uri="{FF2B5EF4-FFF2-40B4-BE49-F238E27FC236}">
                <a16:creationId xmlns:a16="http://schemas.microsoft.com/office/drawing/2014/main" id="{AE1F7C5A-CA5D-48CD-4CE2-B61D7AA7B0C9}"/>
              </a:ext>
            </a:extLst>
          </p:cNvPr>
          <p:cNvSpPr>
            <a:spLocks noGrp="1"/>
          </p:cNvSpPr>
          <p:nvPr>
            <p:ph type="body" sz="quarter" idx="3"/>
          </p:nvPr>
        </p:nvSpPr>
        <p:spPr>
          <a:xfrm>
            <a:off x="239571" y="5577924"/>
            <a:ext cx="4825159" cy="576262"/>
          </a:xfrm>
        </p:spPr>
        <p:txBody>
          <a:bodyPr/>
          <a:lstStyle/>
          <a:p>
            <a:r>
              <a:rPr lang="en-US" sz="1800" dirty="0"/>
              <a:t>Model Equation (Linear Regression)</a:t>
            </a:r>
          </a:p>
        </p:txBody>
      </p:sp>
      <p:sp>
        <p:nvSpPr>
          <p:cNvPr id="6" name="Content Placeholder 5">
            <a:extLst>
              <a:ext uri="{FF2B5EF4-FFF2-40B4-BE49-F238E27FC236}">
                <a16:creationId xmlns:a16="http://schemas.microsoft.com/office/drawing/2014/main" id="{EF2110F0-EF15-7319-2E35-7117BA4380EB}"/>
              </a:ext>
            </a:extLst>
          </p:cNvPr>
          <p:cNvSpPr>
            <a:spLocks noGrp="1"/>
          </p:cNvSpPr>
          <p:nvPr>
            <p:ph sz="quarter" idx="4"/>
          </p:nvPr>
        </p:nvSpPr>
        <p:spPr>
          <a:xfrm>
            <a:off x="239571" y="6224144"/>
            <a:ext cx="11283349" cy="576262"/>
          </a:xfrm>
        </p:spPr>
        <p:txBody>
          <a:bodyPr>
            <a:noAutofit/>
          </a:bodyPr>
          <a:lstStyle/>
          <a:p>
            <a:pPr marL="0" indent="0">
              <a:buNone/>
            </a:pPr>
            <a:r>
              <a:rPr lang="en-US" dirty="0"/>
              <a:t>Zone 1 Power=</a:t>
            </a:r>
            <a:r>
              <a:rPr lang="el-GR" dirty="0"/>
              <a:t>β0​+β1​(</a:t>
            </a:r>
            <a:r>
              <a:rPr lang="en-US" dirty="0"/>
              <a:t>Temperature)+</a:t>
            </a:r>
            <a:r>
              <a:rPr lang="el-GR" dirty="0"/>
              <a:t>β2​(</a:t>
            </a:r>
            <a:r>
              <a:rPr lang="en-US" dirty="0"/>
              <a:t>Humidity)+</a:t>
            </a:r>
            <a:r>
              <a:rPr lang="el-GR" dirty="0"/>
              <a:t>β3​(</a:t>
            </a:r>
            <a:r>
              <a:rPr lang="en-US" dirty="0"/>
              <a:t>Wind Speed)+</a:t>
            </a:r>
            <a:r>
              <a:rPr lang="el-GR" dirty="0"/>
              <a:t>β4​(</a:t>
            </a:r>
            <a:r>
              <a:rPr lang="en-US" dirty="0"/>
              <a:t>General Diffuse Flows)+</a:t>
            </a:r>
            <a:r>
              <a:rPr lang="el-GR" dirty="0"/>
              <a:t>β5​(</a:t>
            </a:r>
            <a:r>
              <a:rPr lang="en-US" dirty="0"/>
              <a:t>Diffuse Flows)+</a:t>
            </a:r>
            <a:r>
              <a:rPr lang="el-GR" dirty="0"/>
              <a:t>ε</a:t>
            </a:r>
            <a:endParaRPr lang="en-US" dirty="0"/>
          </a:p>
        </p:txBody>
      </p:sp>
      <p:graphicFrame>
        <p:nvGraphicFramePr>
          <p:cNvPr id="9" name="Table 8">
            <a:extLst>
              <a:ext uri="{FF2B5EF4-FFF2-40B4-BE49-F238E27FC236}">
                <a16:creationId xmlns:a16="http://schemas.microsoft.com/office/drawing/2014/main" id="{9D2D0D4A-AA12-1238-863B-88203EE0FA7A}"/>
              </a:ext>
            </a:extLst>
          </p:cNvPr>
          <p:cNvGraphicFramePr>
            <a:graphicFrameLocks noGrp="1"/>
          </p:cNvGraphicFramePr>
          <p:nvPr>
            <p:extLst>
              <p:ext uri="{D42A27DB-BD31-4B8C-83A1-F6EECF244321}">
                <p14:modId xmlns:p14="http://schemas.microsoft.com/office/powerpoint/2010/main" val="2363386425"/>
              </p:ext>
            </p:extLst>
          </p:nvPr>
        </p:nvGraphicFramePr>
        <p:xfrm>
          <a:off x="4717713" y="2551737"/>
          <a:ext cx="7152222" cy="2225040"/>
        </p:xfrm>
        <a:graphic>
          <a:graphicData uri="http://schemas.openxmlformats.org/drawingml/2006/table">
            <a:tbl>
              <a:tblPr firstRow="1" bandRow="1">
                <a:tableStyleId>{5C22544A-7EE6-4342-B048-85BDC9FD1C3A}</a:tableStyleId>
              </a:tblPr>
              <a:tblGrid>
                <a:gridCol w="2384074">
                  <a:extLst>
                    <a:ext uri="{9D8B030D-6E8A-4147-A177-3AD203B41FA5}">
                      <a16:colId xmlns:a16="http://schemas.microsoft.com/office/drawing/2014/main" val="2118212119"/>
                    </a:ext>
                  </a:extLst>
                </a:gridCol>
                <a:gridCol w="2384074">
                  <a:extLst>
                    <a:ext uri="{9D8B030D-6E8A-4147-A177-3AD203B41FA5}">
                      <a16:colId xmlns:a16="http://schemas.microsoft.com/office/drawing/2014/main" val="702440344"/>
                    </a:ext>
                  </a:extLst>
                </a:gridCol>
                <a:gridCol w="2384074">
                  <a:extLst>
                    <a:ext uri="{9D8B030D-6E8A-4147-A177-3AD203B41FA5}">
                      <a16:colId xmlns:a16="http://schemas.microsoft.com/office/drawing/2014/main" val="1375740281"/>
                    </a:ext>
                  </a:extLst>
                </a:gridCol>
              </a:tblGrid>
              <a:tr h="370840">
                <a:tc>
                  <a:txBody>
                    <a:bodyPr/>
                    <a:lstStyle/>
                    <a:p>
                      <a:r>
                        <a:rPr lang="en-US" dirty="0"/>
                        <a:t>Predictor</a:t>
                      </a:r>
                    </a:p>
                  </a:txBody>
                  <a:tcPr/>
                </a:tc>
                <a:tc>
                  <a:txBody>
                    <a:bodyPr/>
                    <a:lstStyle/>
                    <a:p>
                      <a:r>
                        <a:rPr lang="en-US" dirty="0"/>
                        <a:t>Coefficient</a:t>
                      </a:r>
                    </a:p>
                  </a:txBody>
                  <a:tcPr/>
                </a:tc>
                <a:tc>
                  <a:txBody>
                    <a:bodyPr/>
                    <a:lstStyle/>
                    <a:p>
                      <a:r>
                        <a:rPr lang="en-US" dirty="0"/>
                        <a:t>Interpretation</a:t>
                      </a:r>
                    </a:p>
                  </a:txBody>
                  <a:tcPr/>
                </a:tc>
                <a:extLst>
                  <a:ext uri="{0D108BD9-81ED-4DB2-BD59-A6C34878D82A}">
                    <a16:rowId xmlns:a16="http://schemas.microsoft.com/office/drawing/2014/main" val="661309720"/>
                  </a:ext>
                </a:extLst>
              </a:tr>
              <a:tr h="370840">
                <a:tc>
                  <a:txBody>
                    <a:bodyPr/>
                    <a:lstStyle/>
                    <a:p>
                      <a:r>
                        <a:rPr lang="en-US" dirty="0"/>
                        <a:t>Temperature</a:t>
                      </a:r>
                    </a:p>
                  </a:txBody>
                  <a:tcPr/>
                </a:tc>
                <a:tc>
                  <a:txBody>
                    <a:bodyPr/>
                    <a:lstStyle/>
                    <a:p>
                      <a:r>
                        <a:rPr lang="en-US" dirty="0"/>
                        <a:t>535.70</a:t>
                      </a:r>
                    </a:p>
                  </a:txBody>
                  <a:tcPr/>
                </a:tc>
                <a:tc>
                  <a:txBody>
                    <a:bodyPr/>
                    <a:lstStyle/>
                    <a:p>
                      <a:r>
                        <a:rPr lang="en-US" dirty="0"/>
                        <a:t>Strongest +</a:t>
                      </a:r>
                      <a:r>
                        <a:rPr lang="en-US" dirty="0" err="1"/>
                        <a:t>ve</a:t>
                      </a:r>
                      <a:r>
                        <a:rPr lang="en-US" dirty="0"/>
                        <a:t> effect</a:t>
                      </a:r>
                    </a:p>
                  </a:txBody>
                  <a:tcPr/>
                </a:tc>
                <a:extLst>
                  <a:ext uri="{0D108BD9-81ED-4DB2-BD59-A6C34878D82A}">
                    <a16:rowId xmlns:a16="http://schemas.microsoft.com/office/drawing/2014/main" val="2760866563"/>
                  </a:ext>
                </a:extLst>
              </a:tr>
              <a:tr h="370840">
                <a:tc>
                  <a:txBody>
                    <a:bodyPr/>
                    <a:lstStyle/>
                    <a:p>
                      <a:r>
                        <a:rPr lang="en-US" dirty="0"/>
                        <a:t>Humidity </a:t>
                      </a:r>
                    </a:p>
                  </a:txBody>
                  <a:tcPr/>
                </a:tc>
                <a:tc>
                  <a:txBody>
                    <a:bodyPr/>
                    <a:lstStyle/>
                    <a:p>
                      <a:r>
                        <a:rPr lang="en-US" dirty="0"/>
                        <a:t>-55.70</a:t>
                      </a:r>
                    </a:p>
                  </a:txBody>
                  <a:tcPr/>
                </a:tc>
                <a:tc>
                  <a:txBody>
                    <a:bodyPr/>
                    <a:lstStyle/>
                    <a:p>
                      <a:r>
                        <a:rPr lang="en-US" dirty="0"/>
                        <a:t>Moderate –</a:t>
                      </a:r>
                      <a:r>
                        <a:rPr lang="en-US" dirty="0" err="1"/>
                        <a:t>ve</a:t>
                      </a:r>
                      <a:r>
                        <a:rPr lang="en-US" dirty="0"/>
                        <a:t> effect</a:t>
                      </a:r>
                    </a:p>
                  </a:txBody>
                  <a:tcPr/>
                </a:tc>
                <a:extLst>
                  <a:ext uri="{0D108BD9-81ED-4DB2-BD59-A6C34878D82A}">
                    <a16:rowId xmlns:a16="http://schemas.microsoft.com/office/drawing/2014/main" val="4058387970"/>
                  </a:ext>
                </a:extLst>
              </a:tr>
              <a:tr h="370840">
                <a:tc>
                  <a:txBody>
                    <a:bodyPr/>
                    <a:lstStyle/>
                    <a:p>
                      <a:r>
                        <a:rPr lang="en-US" dirty="0"/>
                        <a:t>Wind speed</a:t>
                      </a:r>
                    </a:p>
                  </a:txBody>
                  <a:tcPr/>
                </a:tc>
                <a:tc>
                  <a:txBody>
                    <a:bodyPr/>
                    <a:lstStyle/>
                    <a:p>
                      <a:r>
                        <a:rPr lang="en-US" dirty="0"/>
                        <a:t>-153.57</a:t>
                      </a:r>
                    </a:p>
                  </a:txBody>
                  <a:tcPr/>
                </a:tc>
                <a:tc>
                  <a:txBody>
                    <a:bodyPr/>
                    <a:lstStyle/>
                    <a:p>
                      <a:r>
                        <a:rPr lang="en-US" dirty="0"/>
                        <a:t>Small –</a:t>
                      </a:r>
                      <a:r>
                        <a:rPr lang="en-US" dirty="0" err="1"/>
                        <a:t>ve</a:t>
                      </a:r>
                      <a:r>
                        <a:rPr lang="en-US" dirty="0"/>
                        <a:t> effect</a:t>
                      </a:r>
                    </a:p>
                  </a:txBody>
                  <a:tcPr/>
                </a:tc>
                <a:extLst>
                  <a:ext uri="{0D108BD9-81ED-4DB2-BD59-A6C34878D82A}">
                    <a16:rowId xmlns:a16="http://schemas.microsoft.com/office/drawing/2014/main" val="1731296699"/>
                  </a:ext>
                </a:extLst>
              </a:tr>
              <a:tr h="370840">
                <a:tc>
                  <a:txBody>
                    <a:bodyPr/>
                    <a:lstStyle/>
                    <a:p>
                      <a:r>
                        <a:rPr lang="en-US" dirty="0"/>
                        <a:t>General Diffuse Flows</a:t>
                      </a:r>
                    </a:p>
                  </a:txBody>
                  <a:tcPr/>
                </a:tc>
                <a:tc>
                  <a:txBody>
                    <a:bodyPr/>
                    <a:lstStyle/>
                    <a:p>
                      <a:r>
                        <a:rPr lang="en-US" dirty="0"/>
                        <a:t>-1.67</a:t>
                      </a:r>
                    </a:p>
                  </a:txBody>
                  <a:tcPr/>
                </a:tc>
                <a:tc>
                  <a:txBody>
                    <a:bodyPr/>
                    <a:lstStyle/>
                    <a:p>
                      <a:r>
                        <a:rPr lang="en-US" dirty="0"/>
                        <a:t>Very small –</a:t>
                      </a:r>
                      <a:r>
                        <a:rPr lang="en-US" dirty="0" err="1"/>
                        <a:t>ve</a:t>
                      </a:r>
                      <a:r>
                        <a:rPr lang="en-US" dirty="0"/>
                        <a:t> effect</a:t>
                      </a:r>
                    </a:p>
                  </a:txBody>
                  <a:tcPr/>
                </a:tc>
                <a:extLst>
                  <a:ext uri="{0D108BD9-81ED-4DB2-BD59-A6C34878D82A}">
                    <a16:rowId xmlns:a16="http://schemas.microsoft.com/office/drawing/2014/main" val="270603186"/>
                  </a:ext>
                </a:extLst>
              </a:tr>
              <a:tr h="370840">
                <a:tc>
                  <a:txBody>
                    <a:bodyPr/>
                    <a:lstStyle/>
                    <a:p>
                      <a:r>
                        <a:rPr lang="en-US" dirty="0"/>
                        <a:t>Diffuse flows</a:t>
                      </a:r>
                    </a:p>
                  </a:txBody>
                  <a:tcPr/>
                </a:tc>
                <a:tc>
                  <a:txBody>
                    <a:bodyPr/>
                    <a:lstStyle/>
                    <a:p>
                      <a:r>
                        <a:rPr lang="en-US" dirty="0"/>
                        <a:t>-0.17</a:t>
                      </a:r>
                    </a:p>
                  </a:txBody>
                  <a:tcPr/>
                </a:tc>
                <a:tc>
                  <a:txBody>
                    <a:bodyPr/>
                    <a:lstStyle/>
                    <a:p>
                      <a:r>
                        <a:rPr lang="en-US" dirty="0"/>
                        <a:t>Not significant</a:t>
                      </a:r>
                    </a:p>
                  </a:txBody>
                  <a:tcPr/>
                </a:tc>
                <a:extLst>
                  <a:ext uri="{0D108BD9-81ED-4DB2-BD59-A6C34878D82A}">
                    <a16:rowId xmlns:a16="http://schemas.microsoft.com/office/drawing/2014/main" val="550356543"/>
                  </a:ext>
                </a:extLst>
              </a:tr>
            </a:tbl>
          </a:graphicData>
        </a:graphic>
      </p:graphicFrame>
    </p:spTree>
    <p:extLst>
      <p:ext uri="{BB962C8B-B14F-4D97-AF65-F5344CB8AC3E}">
        <p14:creationId xmlns:p14="http://schemas.microsoft.com/office/powerpoint/2010/main" val="3869676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BBDF1C1-6892-25C5-7085-E91957F42BAB}"/>
              </a:ext>
            </a:extLst>
          </p:cNvPr>
          <p:cNvSpPr>
            <a:spLocks noGrp="1"/>
          </p:cNvSpPr>
          <p:nvPr>
            <p:ph type="title"/>
          </p:nvPr>
        </p:nvSpPr>
        <p:spPr>
          <a:xfrm>
            <a:off x="601255" y="702156"/>
            <a:ext cx="3409783" cy="1013800"/>
          </a:xfrm>
        </p:spPr>
        <p:txBody>
          <a:bodyPr>
            <a:normAutofit/>
          </a:bodyPr>
          <a:lstStyle/>
          <a:p>
            <a:r>
              <a:rPr lang="en-US" dirty="0"/>
              <a:t>LASSO Regression Result</a:t>
            </a:r>
          </a:p>
        </p:txBody>
      </p:sp>
      <p:sp>
        <p:nvSpPr>
          <p:cNvPr id="3" name="Content Placeholder 2">
            <a:extLst>
              <a:ext uri="{FF2B5EF4-FFF2-40B4-BE49-F238E27FC236}">
                <a16:creationId xmlns:a16="http://schemas.microsoft.com/office/drawing/2014/main" id="{7DF77882-E20A-D806-E407-32F7C3BE8948}"/>
              </a:ext>
            </a:extLst>
          </p:cNvPr>
          <p:cNvSpPr>
            <a:spLocks noGrp="1"/>
          </p:cNvSpPr>
          <p:nvPr>
            <p:ph idx="1"/>
          </p:nvPr>
        </p:nvSpPr>
        <p:spPr>
          <a:xfrm>
            <a:off x="471081" y="2020117"/>
            <a:ext cx="3409782" cy="3746871"/>
          </a:xfrm>
        </p:spPr>
        <p:txBody>
          <a:bodyPr>
            <a:normAutofit/>
          </a:bodyPr>
          <a:lstStyle/>
          <a:p>
            <a:r>
              <a:rPr lang="en-US" dirty="0">
                <a:solidFill>
                  <a:schemeClr val="bg1"/>
                </a:solidFill>
              </a:rPr>
              <a:t>Key Findings</a:t>
            </a:r>
          </a:p>
          <a:p>
            <a:pPr lvl="1"/>
            <a:r>
              <a:rPr lang="en-US" dirty="0">
                <a:solidFill>
                  <a:schemeClr val="bg1"/>
                </a:solidFill>
              </a:rPr>
              <a:t>Best Lambda selected : 7.4028</a:t>
            </a:r>
          </a:p>
          <a:p>
            <a:pPr lvl="1"/>
            <a:r>
              <a:rPr lang="en-US" dirty="0">
                <a:solidFill>
                  <a:schemeClr val="bg1"/>
                </a:solidFill>
              </a:rPr>
              <a:t>Kept all five predictors, meaning none were shrunk completely to zero</a:t>
            </a:r>
          </a:p>
          <a:p>
            <a:pPr lvl="1"/>
            <a:r>
              <a:rPr lang="en-US" dirty="0">
                <a:solidFill>
                  <a:schemeClr val="bg1"/>
                </a:solidFill>
              </a:rPr>
              <a:t>Temperature remained the strongest predictor</a:t>
            </a:r>
          </a:p>
          <a:p>
            <a:pPr lvl="1"/>
            <a:r>
              <a:rPr lang="en-US" dirty="0">
                <a:solidFill>
                  <a:schemeClr val="bg1"/>
                </a:solidFill>
              </a:rPr>
              <a:t>Test RMSE = 6305.17 </a:t>
            </a:r>
          </a:p>
          <a:p>
            <a:pPr lvl="1"/>
            <a:r>
              <a:rPr lang="en-US" dirty="0">
                <a:solidFill>
                  <a:schemeClr val="bg1"/>
                </a:solidFill>
              </a:rPr>
              <a:t>It performed nearly the same as Multiple Linear Regression while helping reduce overfitting</a:t>
            </a:r>
          </a:p>
          <a:p>
            <a:pPr marL="324000" lvl="1" indent="0">
              <a:buNone/>
            </a:pPr>
            <a:endParaRPr lang="en-US" dirty="0">
              <a:solidFill>
                <a:schemeClr val="bg1"/>
              </a:solidFill>
            </a:endParaRPr>
          </a:p>
          <a:p>
            <a:pPr lvl="1"/>
            <a:endParaRPr lang="en-US" dirty="0">
              <a:solidFill>
                <a:schemeClr val="bg1"/>
              </a:solidFill>
            </a:endParaRPr>
          </a:p>
        </p:txBody>
      </p:sp>
      <p:pic>
        <p:nvPicPr>
          <p:cNvPr id="6" name="Picture 5" descr="The image depicts a scatter plot or line graph comparing the mean-squared error (MSE) of a model against the number of variables (LASSQ) for different years, showing a trend of decreasing error as the number of variables increases.&#10;&#10;AI-generated content may be incorrect.">
            <a:extLst>
              <a:ext uri="{FF2B5EF4-FFF2-40B4-BE49-F238E27FC236}">
                <a16:creationId xmlns:a16="http://schemas.microsoft.com/office/drawing/2014/main" id="{F8B1B96C-671F-E240-DDB5-C1498A3A984E}"/>
              </a:ext>
            </a:extLst>
          </p:cNvPr>
          <p:cNvPicPr>
            <a:picLocks noChangeAspect="1"/>
          </p:cNvPicPr>
          <p:nvPr/>
        </p:nvPicPr>
        <p:blipFill>
          <a:blip r:embed="rId3"/>
          <a:stretch>
            <a:fillRect/>
          </a:stretch>
        </p:blipFill>
        <p:spPr>
          <a:xfrm>
            <a:off x="4412343" y="702156"/>
            <a:ext cx="7178402" cy="5064833"/>
          </a:xfrm>
          <a:prstGeom prst="rect">
            <a:avLst/>
          </a:prstGeom>
        </p:spPr>
      </p:pic>
    </p:spTree>
    <p:extLst>
      <p:ext uri="{BB962C8B-B14F-4D97-AF65-F5344CB8AC3E}">
        <p14:creationId xmlns:p14="http://schemas.microsoft.com/office/powerpoint/2010/main" val="1051084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E95A-EFC2-D9E2-2C98-1217B6ACF55B}"/>
              </a:ext>
            </a:extLst>
          </p:cNvPr>
          <p:cNvSpPr>
            <a:spLocks noGrp="1"/>
          </p:cNvSpPr>
          <p:nvPr>
            <p:ph type="title"/>
          </p:nvPr>
        </p:nvSpPr>
        <p:spPr/>
        <p:txBody>
          <a:bodyPr/>
          <a:lstStyle/>
          <a:p>
            <a:r>
              <a:rPr lang="en-US"/>
              <a:t>Decision Tree Results</a:t>
            </a:r>
          </a:p>
        </p:txBody>
      </p:sp>
      <p:sp>
        <p:nvSpPr>
          <p:cNvPr id="3" name="Text Placeholder 2">
            <a:extLst>
              <a:ext uri="{FF2B5EF4-FFF2-40B4-BE49-F238E27FC236}">
                <a16:creationId xmlns:a16="http://schemas.microsoft.com/office/drawing/2014/main" id="{CB3F5796-C567-9003-B96D-4EA21B16D8E1}"/>
              </a:ext>
            </a:extLst>
          </p:cNvPr>
          <p:cNvSpPr>
            <a:spLocks noGrp="1"/>
          </p:cNvSpPr>
          <p:nvPr>
            <p:ph type="body" idx="1"/>
          </p:nvPr>
        </p:nvSpPr>
        <p:spPr>
          <a:xfrm>
            <a:off x="432753" y="5490894"/>
            <a:ext cx="3509634" cy="576262"/>
          </a:xfrm>
        </p:spPr>
        <p:txBody>
          <a:bodyPr/>
          <a:lstStyle/>
          <a:p>
            <a:r>
              <a:rPr lang="en-US" dirty="0"/>
              <a:t>Model Performance</a:t>
            </a:r>
          </a:p>
        </p:txBody>
      </p:sp>
      <p:sp>
        <p:nvSpPr>
          <p:cNvPr id="4" name="Content Placeholder 3">
            <a:extLst>
              <a:ext uri="{FF2B5EF4-FFF2-40B4-BE49-F238E27FC236}">
                <a16:creationId xmlns:a16="http://schemas.microsoft.com/office/drawing/2014/main" id="{92841CCB-B681-FDEB-52AE-E1BF70B39302}"/>
              </a:ext>
            </a:extLst>
          </p:cNvPr>
          <p:cNvSpPr>
            <a:spLocks noGrp="1"/>
          </p:cNvSpPr>
          <p:nvPr>
            <p:ph sz="half" idx="2"/>
          </p:nvPr>
        </p:nvSpPr>
        <p:spPr>
          <a:xfrm>
            <a:off x="581193" y="6153366"/>
            <a:ext cx="4825159" cy="576263"/>
          </a:xfrm>
        </p:spPr>
        <p:txBody>
          <a:bodyPr/>
          <a:lstStyle/>
          <a:p>
            <a:r>
              <a:rPr lang="en-US" dirty="0"/>
              <a:t>Total RMSE : 6325.27</a:t>
            </a:r>
          </a:p>
        </p:txBody>
      </p:sp>
      <p:sp>
        <p:nvSpPr>
          <p:cNvPr id="5" name="Text Placeholder 4">
            <a:extLst>
              <a:ext uri="{FF2B5EF4-FFF2-40B4-BE49-F238E27FC236}">
                <a16:creationId xmlns:a16="http://schemas.microsoft.com/office/drawing/2014/main" id="{B47EB30A-CD1C-52BB-C755-26E2FD05CFA7}"/>
              </a:ext>
            </a:extLst>
          </p:cNvPr>
          <p:cNvSpPr>
            <a:spLocks noGrp="1"/>
          </p:cNvSpPr>
          <p:nvPr>
            <p:ph type="body" sz="quarter" idx="3"/>
          </p:nvPr>
        </p:nvSpPr>
        <p:spPr>
          <a:xfrm>
            <a:off x="432754" y="2172546"/>
            <a:ext cx="4825159" cy="576262"/>
          </a:xfrm>
        </p:spPr>
        <p:txBody>
          <a:bodyPr/>
          <a:lstStyle/>
          <a:p>
            <a:r>
              <a:rPr lang="en-US"/>
              <a:t>Key Findings</a:t>
            </a:r>
          </a:p>
        </p:txBody>
      </p:sp>
      <p:sp>
        <p:nvSpPr>
          <p:cNvPr id="6" name="Content Placeholder 5">
            <a:extLst>
              <a:ext uri="{FF2B5EF4-FFF2-40B4-BE49-F238E27FC236}">
                <a16:creationId xmlns:a16="http://schemas.microsoft.com/office/drawing/2014/main" id="{518AA72D-0EF0-5D4D-D66C-62B70B423689}"/>
              </a:ext>
            </a:extLst>
          </p:cNvPr>
          <p:cNvSpPr>
            <a:spLocks noGrp="1"/>
          </p:cNvSpPr>
          <p:nvPr>
            <p:ph sz="quarter" idx="4"/>
          </p:nvPr>
        </p:nvSpPr>
        <p:spPr>
          <a:xfrm>
            <a:off x="432753" y="2843897"/>
            <a:ext cx="4825159" cy="2840039"/>
          </a:xfrm>
        </p:spPr>
        <p:txBody>
          <a:bodyPr/>
          <a:lstStyle/>
          <a:p>
            <a:r>
              <a:rPr lang="en-US"/>
              <a:t>Tree mainly used Temperature and Humidity for splits</a:t>
            </a:r>
          </a:p>
          <a:p>
            <a:r>
              <a:rPr lang="en-US"/>
              <a:t>Other variables(Wind speed, diffuse flows) were not important</a:t>
            </a:r>
          </a:p>
          <a:p>
            <a:r>
              <a:rPr lang="en-US"/>
              <a:t>Captures nonlinear relationships in the data</a:t>
            </a:r>
          </a:p>
          <a:p>
            <a:r>
              <a:rPr lang="en-US"/>
              <a:t>Produces simple if-then decision rules for prediction</a:t>
            </a:r>
          </a:p>
        </p:txBody>
      </p:sp>
      <p:pic>
        <p:nvPicPr>
          <p:cNvPr id="8" name="Picture 7" descr="The diagram is a decision tree illustrating various thresholds for temperature and humidity, with different power consumption values associated with different combinations of these environmental factors.&#10;&#10;AI-generated content may be incorrect.">
            <a:extLst>
              <a:ext uri="{FF2B5EF4-FFF2-40B4-BE49-F238E27FC236}">
                <a16:creationId xmlns:a16="http://schemas.microsoft.com/office/drawing/2014/main" id="{14DE051F-E110-3DB3-F4AF-CC00BDC0A470}"/>
              </a:ext>
            </a:extLst>
          </p:cNvPr>
          <p:cNvPicPr>
            <a:picLocks noChangeAspect="1"/>
          </p:cNvPicPr>
          <p:nvPr/>
        </p:nvPicPr>
        <p:blipFill>
          <a:blip r:embed="rId3"/>
          <a:stretch>
            <a:fillRect/>
          </a:stretch>
        </p:blipFill>
        <p:spPr>
          <a:xfrm>
            <a:off x="5082993" y="1978090"/>
            <a:ext cx="6527814" cy="4751539"/>
          </a:xfrm>
          <a:prstGeom prst="rect">
            <a:avLst/>
          </a:prstGeom>
        </p:spPr>
      </p:pic>
    </p:spTree>
    <p:extLst>
      <p:ext uri="{BB962C8B-B14F-4D97-AF65-F5344CB8AC3E}">
        <p14:creationId xmlns:p14="http://schemas.microsoft.com/office/powerpoint/2010/main" val="882749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7B163-23A8-781A-9F5D-860B7C16F0CA}"/>
              </a:ext>
            </a:extLst>
          </p:cNvPr>
          <p:cNvSpPr>
            <a:spLocks noGrp="1"/>
          </p:cNvSpPr>
          <p:nvPr>
            <p:ph type="title"/>
          </p:nvPr>
        </p:nvSpPr>
        <p:spPr>
          <a:xfrm>
            <a:off x="489937" y="745527"/>
            <a:ext cx="8825659" cy="706964"/>
          </a:xfrm>
        </p:spPr>
        <p:txBody>
          <a:bodyPr/>
          <a:lstStyle/>
          <a:p>
            <a:r>
              <a:rPr lang="en-US" dirty="0">
                <a:solidFill>
                  <a:schemeClr val="tx1"/>
                </a:solidFill>
              </a:rPr>
              <a:t>Conclusion &amp; Recommendation</a:t>
            </a:r>
          </a:p>
        </p:txBody>
      </p:sp>
      <p:sp>
        <p:nvSpPr>
          <p:cNvPr id="3" name="Text Placeholder 2">
            <a:extLst>
              <a:ext uri="{FF2B5EF4-FFF2-40B4-BE49-F238E27FC236}">
                <a16:creationId xmlns:a16="http://schemas.microsoft.com/office/drawing/2014/main" id="{BA452072-308F-94C1-3740-71102E5A600F}"/>
              </a:ext>
            </a:extLst>
          </p:cNvPr>
          <p:cNvSpPr>
            <a:spLocks noGrp="1"/>
          </p:cNvSpPr>
          <p:nvPr>
            <p:ph type="body" idx="1"/>
          </p:nvPr>
        </p:nvSpPr>
        <p:spPr>
          <a:xfrm>
            <a:off x="780366" y="3122195"/>
            <a:ext cx="3141879" cy="576262"/>
          </a:xfrm>
        </p:spPr>
        <p:txBody>
          <a:bodyPr/>
          <a:lstStyle/>
          <a:p>
            <a:r>
              <a:rPr lang="en-US" dirty="0"/>
              <a:t>Best Model</a:t>
            </a:r>
          </a:p>
        </p:txBody>
      </p:sp>
      <p:sp>
        <p:nvSpPr>
          <p:cNvPr id="4" name="Text Placeholder 3">
            <a:extLst>
              <a:ext uri="{FF2B5EF4-FFF2-40B4-BE49-F238E27FC236}">
                <a16:creationId xmlns:a16="http://schemas.microsoft.com/office/drawing/2014/main" id="{363295F1-55AD-058E-7643-73396D04FC38}"/>
              </a:ext>
            </a:extLst>
          </p:cNvPr>
          <p:cNvSpPr>
            <a:spLocks noGrp="1"/>
          </p:cNvSpPr>
          <p:nvPr>
            <p:ph type="body" sz="half" idx="15"/>
          </p:nvPr>
        </p:nvSpPr>
        <p:spPr>
          <a:xfrm>
            <a:off x="780365" y="3764483"/>
            <a:ext cx="3141879" cy="922867"/>
          </a:xfrm>
          <a:ln>
            <a:solidFill>
              <a:schemeClr val="accent2">
                <a:lumMod val="50000"/>
              </a:schemeClr>
            </a:solidFill>
          </a:ln>
        </p:spPr>
        <p:txBody>
          <a:bodyPr>
            <a:normAutofit/>
          </a:bodyPr>
          <a:lstStyle/>
          <a:p>
            <a:r>
              <a:rPr lang="en-US" sz="1600" dirty="0"/>
              <a:t>Multiple Linear Regression had the lowest RMSE and its interpretable	</a:t>
            </a:r>
          </a:p>
        </p:txBody>
      </p:sp>
      <p:sp>
        <p:nvSpPr>
          <p:cNvPr id="5" name="Text Placeholder 4">
            <a:extLst>
              <a:ext uri="{FF2B5EF4-FFF2-40B4-BE49-F238E27FC236}">
                <a16:creationId xmlns:a16="http://schemas.microsoft.com/office/drawing/2014/main" id="{AB32D815-1B63-6B3F-1D91-29A397058EEF}"/>
              </a:ext>
            </a:extLst>
          </p:cNvPr>
          <p:cNvSpPr>
            <a:spLocks noGrp="1"/>
          </p:cNvSpPr>
          <p:nvPr>
            <p:ph type="body" sz="quarter" idx="3"/>
          </p:nvPr>
        </p:nvSpPr>
        <p:spPr>
          <a:xfrm>
            <a:off x="4627020" y="3124426"/>
            <a:ext cx="3147009" cy="576262"/>
          </a:xfrm>
        </p:spPr>
        <p:txBody>
          <a:bodyPr/>
          <a:lstStyle/>
          <a:p>
            <a:r>
              <a:rPr lang="en-US" dirty="0"/>
              <a:t>Best Predictor</a:t>
            </a:r>
          </a:p>
        </p:txBody>
      </p:sp>
      <p:sp>
        <p:nvSpPr>
          <p:cNvPr id="6" name="Text Placeholder 5">
            <a:extLst>
              <a:ext uri="{FF2B5EF4-FFF2-40B4-BE49-F238E27FC236}">
                <a16:creationId xmlns:a16="http://schemas.microsoft.com/office/drawing/2014/main" id="{2D6199CB-CF50-E627-9A00-A7A9027216AD}"/>
              </a:ext>
            </a:extLst>
          </p:cNvPr>
          <p:cNvSpPr>
            <a:spLocks noGrp="1"/>
          </p:cNvSpPr>
          <p:nvPr>
            <p:ph type="body" sz="half" idx="16"/>
          </p:nvPr>
        </p:nvSpPr>
        <p:spPr>
          <a:xfrm>
            <a:off x="4627020" y="3764485"/>
            <a:ext cx="3147009" cy="922865"/>
          </a:xfrm>
          <a:ln>
            <a:solidFill>
              <a:schemeClr val="accent2">
                <a:lumMod val="50000"/>
              </a:schemeClr>
            </a:solidFill>
          </a:ln>
        </p:spPr>
        <p:txBody>
          <a:bodyPr>
            <a:normAutofit/>
          </a:bodyPr>
          <a:lstStyle/>
          <a:p>
            <a:r>
              <a:rPr lang="en-US" sz="1600" dirty="0"/>
              <a:t>Temperature had the clearest EDA pattern and strongest model effect</a:t>
            </a:r>
          </a:p>
        </p:txBody>
      </p:sp>
      <p:sp>
        <p:nvSpPr>
          <p:cNvPr id="7" name="Text Placeholder 6">
            <a:extLst>
              <a:ext uri="{FF2B5EF4-FFF2-40B4-BE49-F238E27FC236}">
                <a16:creationId xmlns:a16="http://schemas.microsoft.com/office/drawing/2014/main" id="{673A0D80-D3D4-9240-4F45-34EEDA2E1AC3}"/>
              </a:ext>
            </a:extLst>
          </p:cNvPr>
          <p:cNvSpPr>
            <a:spLocks noGrp="1"/>
          </p:cNvSpPr>
          <p:nvPr>
            <p:ph type="body" sz="quarter" idx="13"/>
          </p:nvPr>
        </p:nvSpPr>
        <p:spPr>
          <a:xfrm>
            <a:off x="8265903" y="3122195"/>
            <a:ext cx="3145731" cy="576262"/>
          </a:xfrm>
        </p:spPr>
        <p:txBody>
          <a:bodyPr/>
          <a:lstStyle/>
          <a:p>
            <a:r>
              <a:rPr lang="en-US" dirty="0"/>
              <a:t>Model Limitation</a:t>
            </a:r>
          </a:p>
        </p:txBody>
      </p:sp>
      <p:sp>
        <p:nvSpPr>
          <p:cNvPr id="8" name="Text Placeholder 7">
            <a:extLst>
              <a:ext uri="{FF2B5EF4-FFF2-40B4-BE49-F238E27FC236}">
                <a16:creationId xmlns:a16="http://schemas.microsoft.com/office/drawing/2014/main" id="{190AE6FD-39AF-5919-0C28-A99036D8BE95}"/>
              </a:ext>
            </a:extLst>
          </p:cNvPr>
          <p:cNvSpPr>
            <a:spLocks noGrp="1"/>
          </p:cNvSpPr>
          <p:nvPr>
            <p:ph type="body" sz="half" idx="17"/>
          </p:nvPr>
        </p:nvSpPr>
        <p:spPr>
          <a:xfrm>
            <a:off x="8266098" y="3764483"/>
            <a:ext cx="3145536" cy="922865"/>
          </a:xfrm>
          <a:ln>
            <a:solidFill>
              <a:schemeClr val="accent2">
                <a:lumMod val="50000"/>
              </a:schemeClr>
            </a:solidFill>
          </a:ln>
        </p:spPr>
        <p:txBody>
          <a:bodyPr>
            <a:normAutofit/>
          </a:bodyPr>
          <a:lstStyle/>
          <a:p>
            <a:r>
              <a:rPr lang="en-US" sz="1600" dirty="0">
                <a:solidFill>
                  <a:schemeClr val="tx1"/>
                </a:solidFill>
              </a:rPr>
              <a:t>R² around 0.206 means weather explains part of power use, but not all of it</a:t>
            </a:r>
          </a:p>
        </p:txBody>
      </p:sp>
      <p:sp>
        <p:nvSpPr>
          <p:cNvPr id="11" name="Text Placeholder 7">
            <a:extLst>
              <a:ext uri="{FF2B5EF4-FFF2-40B4-BE49-F238E27FC236}">
                <a16:creationId xmlns:a16="http://schemas.microsoft.com/office/drawing/2014/main" id="{2F327FE6-3192-A5D2-C1F7-C518A9D9F54B}"/>
              </a:ext>
            </a:extLst>
          </p:cNvPr>
          <p:cNvSpPr txBox="1">
            <a:spLocks/>
          </p:cNvSpPr>
          <p:nvPr/>
        </p:nvSpPr>
        <p:spPr>
          <a:xfrm>
            <a:off x="489938" y="5621910"/>
            <a:ext cx="10129581" cy="922865"/>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2"/>
                </a:solidFill>
                <a:latin typeface="+mn-lt"/>
                <a:ea typeface="+mn-ea"/>
                <a:cs typeface="+mn-cs"/>
              </a:defRPr>
            </a:lvl1pPr>
            <a:lvl2pPr marL="45718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377"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000" kern="1200">
                <a:solidFill>
                  <a:schemeClr val="tx2"/>
                </a:solidFill>
                <a:latin typeface="+mn-lt"/>
                <a:ea typeface="+mn-ea"/>
                <a:cs typeface="+mn-cs"/>
              </a:defRPr>
            </a:lvl3pPr>
            <a:lvl4pPr marL="1371566"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4pPr>
            <a:lvl5pPr marL="1828754"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5pPr>
            <a:lvl6pPr marL="2285943"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6pPr>
            <a:lvl7pPr marL="2743131"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7pPr>
            <a:lvl8pPr marL="320032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8pPr>
            <a:lvl9pPr marL="365750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9pPr>
          </a:lstStyle>
          <a:p>
            <a:r>
              <a:rPr lang="en-US" sz="1600" dirty="0">
                <a:solidFill>
                  <a:schemeClr val="tx1"/>
                </a:solidFill>
              </a:rPr>
              <a:t>Add Hour, Month and Day of week into the models; test interactions like Temperature X Humidity; try Random Forest or boosting; compare Zone 1, Zone 2 and Zone 3 separately.</a:t>
            </a:r>
          </a:p>
        </p:txBody>
      </p:sp>
      <p:sp>
        <p:nvSpPr>
          <p:cNvPr id="12" name="Text Placeholder 7">
            <a:extLst>
              <a:ext uri="{FF2B5EF4-FFF2-40B4-BE49-F238E27FC236}">
                <a16:creationId xmlns:a16="http://schemas.microsoft.com/office/drawing/2014/main" id="{B869686C-34E2-8C66-D75C-92351EC70BA9}"/>
              </a:ext>
            </a:extLst>
          </p:cNvPr>
          <p:cNvSpPr txBox="1">
            <a:spLocks/>
          </p:cNvSpPr>
          <p:nvPr/>
        </p:nvSpPr>
        <p:spPr>
          <a:xfrm>
            <a:off x="489937" y="2375165"/>
            <a:ext cx="10129582" cy="718353"/>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2"/>
                </a:solidFill>
                <a:latin typeface="+mn-lt"/>
                <a:ea typeface="+mn-ea"/>
                <a:cs typeface="+mn-cs"/>
              </a:defRPr>
            </a:lvl1pPr>
            <a:lvl2pPr marL="45718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2"/>
                </a:solidFill>
                <a:latin typeface="+mn-lt"/>
                <a:ea typeface="+mn-ea"/>
                <a:cs typeface="+mn-cs"/>
              </a:defRPr>
            </a:lvl2pPr>
            <a:lvl3pPr marL="914377"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000" kern="1200">
                <a:solidFill>
                  <a:schemeClr val="tx2"/>
                </a:solidFill>
                <a:latin typeface="+mn-lt"/>
                <a:ea typeface="+mn-ea"/>
                <a:cs typeface="+mn-cs"/>
              </a:defRPr>
            </a:lvl3pPr>
            <a:lvl4pPr marL="1371566"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4pPr>
            <a:lvl5pPr marL="1828754"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5pPr>
            <a:lvl6pPr marL="2285943"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6pPr>
            <a:lvl7pPr marL="2743131"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7pPr>
            <a:lvl8pPr marL="320032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8pPr>
            <a:lvl9pPr marL="365750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900" kern="1200">
                <a:solidFill>
                  <a:schemeClr val="tx2"/>
                </a:solidFill>
                <a:latin typeface="+mn-lt"/>
                <a:ea typeface="+mn-ea"/>
                <a:cs typeface="+mn-cs"/>
              </a:defRPr>
            </a:lvl9pPr>
          </a:lstStyle>
          <a:p>
            <a:r>
              <a:rPr lang="en-US" sz="1600" dirty="0">
                <a:solidFill>
                  <a:schemeClr val="tx1"/>
                </a:solidFill>
              </a:rPr>
              <a:t>Temperature is the strongest predictor of Zone 1 power consumption. Humidity is a moderate predictor and wind speed is the weakest main weather predictor</a:t>
            </a:r>
          </a:p>
        </p:txBody>
      </p:sp>
      <p:sp>
        <p:nvSpPr>
          <p:cNvPr id="15" name="Text Placeholder 4">
            <a:extLst>
              <a:ext uri="{FF2B5EF4-FFF2-40B4-BE49-F238E27FC236}">
                <a16:creationId xmlns:a16="http://schemas.microsoft.com/office/drawing/2014/main" id="{4A9BD718-5182-79B4-C09E-C3E3A073C8EE}"/>
              </a:ext>
            </a:extLst>
          </p:cNvPr>
          <p:cNvSpPr txBox="1">
            <a:spLocks/>
          </p:cNvSpPr>
          <p:nvPr/>
        </p:nvSpPr>
        <p:spPr>
          <a:xfrm>
            <a:off x="489937" y="1597006"/>
            <a:ext cx="4881375" cy="576262"/>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b">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400" b="0" kern="1200">
                <a:solidFill>
                  <a:schemeClr val="accent1">
                    <a:lumMod val="60000"/>
                    <a:lumOff val="40000"/>
                  </a:schemeClr>
                </a:solidFill>
                <a:latin typeface="+mn-lt"/>
                <a:ea typeface="+mn-ea"/>
                <a:cs typeface="+mn-cs"/>
              </a:defRPr>
            </a:lvl1pPr>
            <a:lvl2pPr marL="45718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377"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566"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754"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5943"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131"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32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50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r>
              <a:rPr lang="en-US" dirty="0"/>
              <a:t>Answer to Research Question</a:t>
            </a:r>
          </a:p>
        </p:txBody>
      </p:sp>
      <p:sp>
        <p:nvSpPr>
          <p:cNvPr id="16" name="Text Placeholder 4">
            <a:extLst>
              <a:ext uri="{FF2B5EF4-FFF2-40B4-BE49-F238E27FC236}">
                <a16:creationId xmlns:a16="http://schemas.microsoft.com/office/drawing/2014/main" id="{76719133-ABCF-5DD2-8CFC-DD132D4731E3}"/>
              </a:ext>
            </a:extLst>
          </p:cNvPr>
          <p:cNvSpPr txBox="1">
            <a:spLocks/>
          </p:cNvSpPr>
          <p:nvPr/>
        </p:nvSpPr>
        <p:spPr>
          <a:xfrm>
            <a:off x="489937" y="4946896"/>
            <a:ext cx="3722738" cy="576262"/>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b">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400" b="0" kern="1200">
                <a:solidFill>
                  <a:schemeClr val="accent1">
                    <a:lumMod val="60000"/>
                    <a:lumOff val="40000"/>
                  </a:schemeClr>
                </a:solidFill>
                <a:latin typeface="+mn-lt"/>
                <a:ea typeface="+mn-ea"/>
                <a:cs typeface="+mn-cs"/>
              </a:defRPr>
            </a:lvl1pPr>
            <a:lvl2pPr marL="45718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377"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566"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754"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5943"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131"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32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509"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r>
              <a:rPr lang="en-US" dirty="0"/>
              <a:t>Possible Improvements</a:t>
            </a:r>
          </a:p>
        </p:txBody>
      </p:sp>
    </p:spTree>
    <p:extLst>
      <p:ext uri="{BB962C8B-B14F-4D97-AF65-F5344CB8AC3E}">
        <p14:creationId xmlns:p14="http://schemas.microsoft.com/office/powerpoint/2010/main" val="1358158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86B4717-D586-7050-4521-49BC9927EF0A}"/>
              </a:ext>
            </a:extLst>
          </p:cNvPr>
          <p:cNvSpPr>
            <a:spLocks noGrp="1"/>
          </p:cNvSpPr>
          <p:nvPr>
            <p:ph type="title"/>
          </p:nvPr>
        </p:nvSpPr>
        <p:spPr>
          <a:xfrm>
            <a:off x="581192" y="702156"/>
            <a:ext cx="11029616" cy="1013800"/>
          </a:xfrm>
        </p:spPr>
        <p:txBody>
          <a:bodyPr>
            <a:normAutofit/>
          </a:bodyPr>
          <a:lstStyle/>
          <a:p>
            <a:r>
              <a:rPr lang="en-US">
                <a:solidFill>
                  <a:srgbClr val="FFFEFF"/>
                </a:solidFill>
              </a:rPr>
              <a:t>Future Works</a:t>
            </a:r>
          </a:p>
        </p:txBody>
      </p:sp>
      <p:graphicFrame>
        <p:nvGraphicFramePr>
          <p:cNvPr id="16" name="Content Placeholder 7">
            <a:extLst>
              <a:ext uri="{FF2B5EF4-FFF2-40B4-BE49-F238E27FC236}">
                <a16:creationId xmlns:a16="http://schemas.microsoft.com/office/drawing/2014/main" id="{DBDE32C2-F819-41B5-44FD-78CBE294945E}"/>
              </a:ext>
            </a:extLst>
          </p:cNvPr>
          <p:cNvGraphicFramePr>
            <a:graphicFrameLocks noGrp="1"/>
          </p:cNvGraphicFramePr>
          <p:nvPr>
            <p:ph idx="1"/>
            <p:extLst>
              <p:ext uri="{D42A27DB-BD31-4B8C-83A1-F6EECF244321}">
                <p14:modId xmlns:p14="http://schemas.microsoft.com/office/powerpoint/2010/main" val="298599712"/>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9648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00A8BD-2476-FC06-FB0A-2D130C9CFC2F}"/>
              </a:ext>
            </a:extLst>
          </p:cNvPr>
          <p:cNvSpPr>
            <a:spLocks noGrp="1"/>
          </p:cNvSpPr>
          <p:nvPr>
            <p:ph type="ctrTitle"/>
          </p:nvPr>
        </p:nvSpPr>
        <p:spPr>
          <a:xfrm>
            <a:off x="4801143" y="1005839"/>
            <a:ext cx="6939304" cy="4805025"/>
          </a:xfrm>
        </p:spPr>
        <p:txBody>
          <a:bodyPr anchor="ctr">
            <a:normAutofit/>
          </a:bodyPr>
          <a:lstStyle/>
          <a:p>
            <a:r>
              <a:rPr lang="en-US" sz="6000">
                <a:solidFill>
                  <a:schemeClr val="tx2"/>
                </a:solidFill>
              </a:rPr>
              <a:t>Thank you for listening to us !</a:t>
            </a:r>
          </a:p>
        </p:txBody>
      </p:sp>
      <p:sp>
        <p:nvSpPr>
          <p:cNvPr id="10" name="Rectangle 9">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3F81F4B6-DE14-548E-EB5E-1DEBF3621EB1}"/>
              </a:ext>
            </a:extLst>
          </p:cNvPr>
          <p:cNvSpPr>
            <a:spLocks noGrp="1"/>
          </p:cNvSpPr>
          <p:nvPr>
            <p:ph type="subTitle" idx="1"/>
          </p:nvPr>
        </p:nvSpPr>
        <p:spPr>
          <a:xfrm>
            <a:off x="768267" y="1009397"/>
            <a:ext cx="3078342" cy="4801468"/>
          </a:xfrm>
        </p:spPr>
        <p:txBody>
          <a:bodyPr anchor="ctr">
            <a:normAutofit/>
          </a:bodyPr>
          <a:lstStyle/>
          <a:p>
            <a:pPr algn="ctr"/>
            <a:r>
              <a:rPr lang="en-US" sz="2400">
                <a:solidFill>
                  <a:srgbClr val="FFFFFF"/>
                </a:solidFill>
              </a:rPr>
              <a:t>Any Questions?</a:t>
            </a:r>
          </a:p>
        </p:txBody>
      </p:sp>
    </p:spTree>
    <p:extLst>
      <p:ext uri="{BB962C8B-B14F-4D97-AF65-F5344CB8AC3E}">
        <p14:creationId xmlns:p14="http://schemas.microsoft.com/office/powerpoint/2010/main" val="2166289387"/>
      </p:ext>
    </p:extLst>
  </p:cSld>
  <p:clrMapOvr>
    <a:masterClrMapping/>
  </p:clrMapOvr>
</p:sld>
</file>

<file path=ppt/theme/theme1.xml><?xml version="1.0" encoding="utf-8"?>
<a:theme xmlns:a="http://schemas.openxmlformats.org/drawingml/2006/main" name="Dividend">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TM03457464[[fn=Dividend]]</Template>
  <TotalTime>157</TotalTime>
  <Words>3595</Words>
  <Application>Microsoft Office PowerPoint</Application>
  <PresentationFormat>Widescreen</PresentationFormat>
  <Paragraphs>307</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Century Gothic</vt:lpstr>
      <vt:lpstr>Gill Sans MT</vt:lpstr>
      <vt:lpstr>Wingdings</vt:lpstr>
      <vt:lpstr>Wingdings 2</vt:lpstr>
      <vt:lpstr>Dividend</vt:lpstr>
      <vt:lpstr>Tetouan City  Power Consumption</vt:lpstr>
      <vt:lpstr>Introduction and Motivation</vt:lpstr>
      <vt:lpstr>Research Question</vt:lpstr>
      <vt:lpstr>Project Overview</vt:lpstr>
      <vt:lpstr>Data Cleaning</vt:lpstr>
      <vt:lpstr>EDA – Variable Distributions</vt:lpstr>
      <vt:lpstr>Predictor Relationships with Zone 1 Power</vt:lpstr>
      <vt:lpstr>Correlation &amp; Key Findings</vt:lpstr>
      <vt:lpstr>Pair plot : all Main relationship</vt:lpstr>
      <vt:lpstr>Model Building</vt:lpstr>
      <vt:lpstr>Multiple Linear Regression</vt:lpstr>
      <vt:lpstr>LASSO Regression Result</vt:lpstr>
      <vt:lpstr>Decision Tree Results</vt:lpstr>
      <vt:lpstr>Conclusion &amp; Recommendation</vt:lpstr>
      <vt:lpstr>Future Works</vt:lpstr>
      <vt:lpstr>Thank you for listening to us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Patel, Mahi</dc:creator>
  <cp:lastModifiedBy>Patel, Mahi</cp:lastModifiedBy>
  <cp:revision>2</cp:revision>
  <dcterms:created xsi:type="dcterms:W3CDTF">2026-04-27T14:25:47Z</dcterms:created>
  <dcterms:modified xsi:type="dcterms:W3CDTF">2026-05-01T17:09:33Z</dcterms:modified>
</cp:coreProperties>
</file>